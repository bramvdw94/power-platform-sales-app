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 laat vandaag zien hoe ik in een paar weken een werkende sales-app heb gebouwd die lijkt op wat wij dagelijks implementeren in D365 Sales. Niet omdat het een product wordt, maar om uit te zoeken wat een functioneel consultant tegenwoordig zelf kan. Het gaat vooral over de werkwijze; de app is het bewijs.</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Kort de opbouw: eerst hoe ik werk, dan het proces, dan de app zelf, en daarna de demo. Doel: onthoud één zin. Als functioneel consultant kun je een echte, geteste bedrijfsapp op Power Platform bouwen door zelf de beslissingen te nemen, terwijl Claude de code schrijft.</a:t>
            </a:r>
          </a:p>
          <a:p/>
          <a:p>
            <a:r>
              <a:t>Tijd: 0,5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D365 Sales is breed, maar voor een klein salesteam vaak zwaar en duur. Ik wilde weten hoe ver je komt met alleen Dataverse en een eigen front-end. Het is een oefenproject, maar ik behandel het alsof het ooit serieus wordt: nette architectuur, tests, vaste taal. "Oefenen" mag de lat niet verlagen.</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grootste deel doe ik vanaf mijn telefoon. In een Claude Project start ik per taak een thread: een onderzoek, een uitvraag of een bouwticket. Die threads onthouden beslissingen. Voor werk dat op mijn eigen omgeving moet draaien, zoals solutions importeren of deployen, gebruikt Claude een PC waarop Claude Code staat, met git, pac, pa en de Dataverse CLI al ingelogd. Ik zit dus niet de hele dag achter een scherm; ik krijg een melding als ik iets moet beslissen.</a:t>
            </a:r>
          </a:p>
          <a:p/>
          <a:p>
            <a:r>
              <a:t>Tijd: 2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skill is een instructie-pakket: "zo doe je dit". De Power Platform- en Dataverse-skills komen van Microsoft en kennen de CLI's en patronen, bijvoorbeeld hoe je een tabel aan een code app koppelt. De Matt Pocock-skills gaan over werkwijze: eerst vragen stellen, dan een plan, dan bouwen met tests. Die zijn niet specifiek voor software; je kunt ze ook voor andere beslissingen gebruiken.</a:t>
            </a:r>
          </a:p>
          <a:p/>
          <a:p>
            <a:r>
              <a:t>Tijd: 2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over Matt Pocock zelf. Hij is bekend als TypeScript-docent en schrijft nu over werken met AI-agents. Zijn repo heet 'Skills for real engineers': echte engineering, geen vibe coding. Hij zet zich af tegen frameworks die het hele proces overnemen. Zijn skills zijn klein, je past ze zelf aan, en ze werken met elk model.</a:t>
            </a:r>
          </a:p>
          <a:p/>
          <a:p>
            <a:r>
              <a:t>Hij gaat uit van vier dingen die bij AI-agents steeds misgaan, en elk antwoord komt uit een klassiek boek.</a:t>
            </a:r>
          </a:p>
          <a:p>
            <a:r>
              <a:t>1. De agent doet niet wat je wilt. Niemand weet precies wat hij wil, dus laat de agent jou uitvragen: grilling.</a:t>
            </a:r>
          </a:p>
          <a:p>
            <a:r>
              <a:t>2. De agent praat te veel. Geef hem een vaste woordenlijst, zoals in Domain-Driven Design. Bij ons: GLOSSARY.md.</a:t>
            </a:r>
          </a:p>
          <a:p>
            <a:r>
              <a:t>3. De code werkt niet. Feedback is je snelheidslimiet: tests eerst, kleine stappen.</a:t>
            </a:r>
          </a:p>
          <a:p>
            <a:r>
              <a:t>4. Een grote modderbal. Agents maken code sneller, en dus ook sneller rommelig. Werk elke dag aan het ontwerp. Bij ons houdt de SalesGateway de app en de data uit elkaar.</a:t>
            </a:r>
          </a:p>
          <a:p/>
          <a:p>
            <a:r>
              <a:t>Voor ons als consultants is punt 1 het herkenbaarst: een klant weet ook nooit precies wat hij wil. Dat is gewoon uitvraag, en daar zijn we goed in.</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 begon niet met bouwen maar met een kaart. Wayfinder zet het doel neer en splitst het op in beslispunten: wat is een Lead-status, wat gebeurt er bij Qualify, wie mag wat? Elk punt is een GitHub-ticket. Dat dwingt me om eerst te bedenken wat ik wil, in plaats van Claude maar iets te laten verzinnen. Voor v1 waren dat 14 beslispunten, rechts zie je ze allemaal. Let op: Claude doet voorstellen, ik besluit.</a:t>
            </a:r>
          </a:p>
          <a:p/>
          <a:p>
            <a:r>
              <a:t>Live laten zien: github.com/Bramvdw94/power-platform-sales-app/issues/2</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Deze sessie is eigenlijk net als een goed intakegesprek. Claude vraagt: welke statussen, welke overgangen, wat leg je vast bij disqualify, mag je heropenen? Bij elke vraag geeft het een aanbeveling, in dit geval gebaseerd op de standaard-statussen van Salesforce. Ik hoefde vaak alleen "ja" te zeggen of een detail aan te passen. Zo zijn beslissingen snel genomen en blijven ze vastgelegd in het ticket. Dat is precies wat wij als consultants ook doen, alleen nu met een gesprekspartner die alles uitwerkt.</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Bij schermen is praten niet genoeg. Claude bouwt dan een prototype in de echte app, in het geheugen, met drie varianten naast elkaar. Voor de Forecast-pagina vond ik alle drie mooi en koos ik een combinatie. Ook voor de offerte-PDF bouwde Claude een prototype, en daar bedacht ik zelf een sjabloon-builder met drag-and-drop bij. Belangrijk: elk prototype wordt ook gecontroleerd in lichte en donkere modus, want formuliervelden waren in donkere modus in het begin onleesbaar.</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Optioneel, bij weinig tijd overslaan. Dit is dezelfde pagina in licht en donker. Dit soort feedback ("controleer dit voortaan altijd") sla ik op in het projectgeheugen, zodat elke volgende thread het meeneemt.</a:t>
            </a:r>
          </a:p>
          <a:p/>
          <a:p>
            <a:r>
              <a:t>Tijd: 0,5 min (optioneel)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alle beslispunten dicht zijn, schrijft Claude een spec: een issue met het probleem, de oplossing en user stories. Daaruit komen bouwtickets. Voor v1 waren dat 12 tickets, voor v2 16, en voor v3 staan er 32 klaar. Elk ticket krijgt zijn eigen thread, wordt gebouwd, getest en gedeployed. Daarna begint de cirkel opnieuw met een nieuwe kaart voor de volgende versie. De volgorde van tickets staat vast door "blocked by"-regels, dus ik hoef geen planning bij te houden.</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Laat ik één spoor volgen, zodat je ziet hoe het in GitHub aan elkaar hangt.</a:t>
            </a:r>
          </a:p>
          <a:p>
            <a:r>
              <a:t>1. Wayfinder maakt kaart #2: het doel en alle open vragen, elk als sub-issue.</a:t>
            </a:r>
          </a:p>
          <a:p>
            <a:r>
              <a:t>2. Die vragen hebben een soort: grilling (ik beslis), prototype (ik kies een scherm), research (Claude zoekt uit) of een korte taak in de omgeving. Bij #3 vroeg Claude hoe een Lead van nieuw naar gekwalificeerd gaat. Mijn besluit staat als comment in het issue, en de woordenlijst is bijgewerkt.</a:t>
            </a:r>
          </a:p>
          <a:p>
            <a:r>
              <a:t>3. Als alle 14 dicht zijn, schrijft /to-spec issue #23. Daarin staat letterlijk 'from the Lead lifecycle decision #3'. Elke regel is dus terug te voeren op een besluit.</a:t>
            </a:r>
          </a:p>
          <a:p>
            <a:r>
              <a:t>4. /to-tickets knipt de spec in bouwtickets, als sub-issues van de spec. #31 is Qualify.</a:t>
            </a:r>
          </a:p>
          <a:p>
            <a:r>
              <a:t>5. Claude bouwt #31 met tests eerst; pull request #49 sluit het ticket.</a:t>
            </a:r>
          </a:p>
          <a:p>
            <a:r>
              <a:t>Als een klant vraagt 'waarom werkt Qualify zo?', klik ik van de code terug naar mijn besluit.</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 ziet het papieren spoor eruit. Elke versie begint met een kaart vol beslispunten en eindigt in bouwtickets. v1 had 14 beslispunten en 12 bouwtickets, v2 19 en 16, en voor v3 zijn 24 beslispunten gesloten en staan 32 bouwtickets klaar. Alles is terug te vinden in GitHub.</a:t>
            </a:r>
          </a:p>
          <a:p/>
          <a:p>
            <a:r>
              <a:t>Tijd: 0,5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kern: neem beslissingen vóór je bouwt, leg ze vast, en bouw in kleine, geteste stappen. De glossary is mijn favoriet: "Opportunity", niet "Deal" of "Sale". Elke thread leest hem, dus Claude gebruikt overal dezelfde woorden. Grote keuzes, zoals hoe de proces-engine draait, staan als ADR in de repo, met het waarom erbij.</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Omdat de spec vooraf beschrijft wat de app moet doen, kan Claude eerst een test schrijven en daarna de code. De app praat met data via één interface; in de tests zit daar een geheugenversie achter. Daardoor draait de hele app ook zonder omgeving, en dat gebruik ik straks voor de demovideo. In de repo staan ruim 40 testbestanden voor de app en een apart testproject voor de plug-ins. Voor beveiliging draaien check-scripts als Megan, Adele en Diego om te zien dat iedereen precies ziet wat hij mag zien.</a:t>
            </a:r>
          </a:p>
          <a:p/>
          <a:p>
            <a:r>
              <a:t>Tijd: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Een code app is een gewone webapp in je eigen code, met Power Platform voor login, connectors en hosting. Voor ons is het interessant omdat je de volledige UI-vrijheid hebt, maar nog steeds op Dataverse en Entra-beveiliging draait. Let op: elke gebruiker heeft Power Apps Premium of een per-app licentie nodig. Dat is dus niet gratis, maar wel zonder D365 Sales-licentie.</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 is de basis van elke sales-tool: leads, qualify, opportunities, een pipeline-bord en activiteiten, met één rol en een managerhiërarchie. v2 voegt de dingen toe waar D365 Sales sterk in is: een proces-engine met stappen en checks die managers zelf bouwen, business rules, producten met offertes en PDF-sjablonen, en een forecast met quota. Dat zie je straks in de demo.</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v3 staat als spec klaar (issue #168), met 32 bouwtickets. Twee dingen wil ik uitlichten. Jev is een goedkoop model dat alleen beslissingen neemt: "hoe heet is deze webshop-lead?", met een vast antwoord. Het draait na het opslaan en kan acties starten, en een mens kijkt mee als het onzeker is. Mistral schrijft: samenvatting van een account, concept-opvolgmail, voorstel voor de volgende stap. Beide alleen op verzoek. Waarom deze twee? De dev-tenant heeft geen Azure-krediet en ik koppel geen creditcard, dus het moet gratis of zeer goedkoop zijn. Jev kost ongeveer 0,006 cent per call: 1.000 beslissingen per maand is zo'n 6 cent. Voor Mistral is er een gratis API-key, zonder creditcard. Let op: gratis verzoeken mag Mistral gebruiken om te trainen, dus alleen testdata. Een Test/Prod-pipeline staat bewust niet in v3.</a:t>
            </a:r>
          </a:p>
          <a:p/>
          <a:p>
            <a:r>
              <a:t>Tijd: 1,5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verrassende: de techniek is niet de bottleneck. Wat ik als consultant altijd al deed, zoals goede vragen stellen, scope bewaken en keuzes afwegen, is nu juist het werk. Ik controleer ook veel: bij elke deploy test ik met de demo-gebruikers.</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Dit is geen product. Het draait in één ontwikkelomgeving, zonder acceptatie en productie, en dat is een bewuste keuze voor deze fase. De app is niet bedoeld om klanten van D365 weg te halen. Wel heb ik in het proces veel geleerd over wat wel en niet werkt: zonder duidelijke spec bouwt Claude iets plausibels maar onjuists, met een spec en tests werkt het verrassend goed.</a:t>
            </a:r>
          </a:p>
          <a:p/>
          <a:p>
            <a:r>
              <a:t>Tijd: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 laat nu de app zien. Alle data is fictief. Als de verbinding hapert, heb ik een versie die zonder omgeving draait en een opgenomen video.</a:t>
            </a:r>
          </a:p>
          <a:p/>
          <a:p>
            <a:r>
              <a:t>Live demo in de app op dev-salesapp, ingelogd als systeembeheerder. Plan B: lokaal met npm run dev:memory.</a:t>
            </a:r>
          </a:p>
          <a:p/>
          <a:p>
            <a:r>
              <a:t>Tijd: 0,5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Speel de video af als plan B, of als intro van 2 minuten voordat je live gaat.</a:t>
            </a:r>
          </a:p>
          <a:p/>
          <a:p>
            <a:r>
              <a:t>Demoscript live (10 min):</a:t>
            </a:r>
          </a:p>
          <a:p>
            <a:r>
              <a:t>0-1  Home: "My work", taken, deals, KPI-tegels. "Dit ziet een verkoper bij het openen."</a:t>
            </a:r>
          </a:p>
          <a:p>
            <a:r>
              <a:t>1-2  Pipeline: bord en Funnel, gewogen waarde, sleep een kaart. "Net als in D365, maar lichter."</a:t>
            </a:r>
          </a:p>
          <a:p>
            <a:r>
              <a:t>2-4  Opportunity met proces: procesbalk, Key fields, "To move on", Guidance. "De manager bepaalt per stap wat nodig is."</a:t>
            </a:r>
          </a:p>
          <a:p>
            <a:r>
              <a:t>4-5  Business rule: waarschuwing "Next step is empty", vul in, weg. "Geen code: de manager bouwde deze regel zelf."</a:t>
            </a:r>
          </a:p>
          <a:p>
            <a:r>
              <a:t>5-6  Automation: tabs Processes en Business rules. "Hier bouwt de manager ze."</a:t>
            </a:r>
          </a:p>
          <a:p>
            <a:r>
              <a:t>6-7  Offerte: producten, Quote templates, PDF-voorbeeld. "Eigen sjablonen, met drag-and-drop-blokken."</a:t>
            </a:r>
          </a:p>
          <a:p>
            <a:r>
              <a:t>7-8  Forecast: maand/kwartaal, Team, Quotas. "Commit, Best case en quota per verkoper."</a:t>
            </a:r>
          </a:p>
          <a:p>
            <a:r>
              <a:t>8-9  Beveiliging: wissel naar Adele (alleen eigen deals bewerken) en Diego (buiten het team). "Iedereen leest, owner en manager bewerken."</a:t>
            </a:r>
          </a:p>
          <a:p>
            <a:r>
              <a:t>9-10 Teaser v3: prototype van de Decision rule editor of de e-mail/Teams UI. "Dit is wat er nu aankomt."</a:t>
            </a:r>
          </a:p>
          <a:p/>
          <a:p>
            <a:r>
              <a:t>Verwijs ook naar GitHub: open 1 minuut issue #2 (kaart), #168 (spec v3) en een bouwticket.</a:t>
            </a:r>
          </a:p>
          <a:p>
            <a:r>
              <a:t>Als iets misgaat: "Dat is precies waarom er tests zijn." Herlaad, of speel de video af.</a:t>
            </a:r>
          </a:p>
          <a:p/>
          <a:p>
            <a:r>
              <a:t>Tijd: 10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 je dit proberen? Begin klein. Je hoeft geen code te kunnen, maar wel te weten wat je wilt. Ik help graag met een eerste grilling-sessie.</a:t>
            </a:r>
          </a:p>
          <a:p/>
          <a:p>
            <a:r>
              <a:t>Tijd: 2 min, daarna Q&amp;A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Verwachte vragen staan op de dia, met een kort antwoord. Bij "Hoeveel tijd kostte het?": geef je eigen inschatting, het is niet gemeten.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9.png"/><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Bramvdw94/power-platform-sales-app"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sp>
        <p:nvSpPr>
          <p:cNvPr id="2" name="Rectangle 1"/>
          <p:cNvSpPr/>
          <p:nvPr/>
        </p:nvSpPr>
        <p:spPr>
          <a:xfrm>
            <a:off x="0" y="0"/>
            <a:ext cx="7388906" cy="6858000"/>
          </a:xfrm>
          <a:prstGeom prst="rect">
            <a:avLst/>
          </a:prstGeom>
          <a:gradFill rotWithShape="1">
            <a:gsLst>
              <a:gs pos="0">
                <a:srgbClr val="F05027"/>
              </a:gs>
              <a:gs pos="33333">
                <a:srgbClr val="FF455B"/>
              </a:gs>
              <a:gs pos="66667">
                <a:srgbClr val="D53B91"/>
              </a:gs>
              <a:gs pos="100000">
                <a:srgbClr val="C514B4"/>
              </a:gs>
            </a:gsLst>
            <a:lin ang="0" scaled="0"/>
          </a:gradFill>
          <a:ln>
            <a:noFill/>
          </a:ln>
        </p:spPr>
        <p:txBody>
          <a:bodyPr rtlCol="0" anchor="ctr"/>
          <a:lstStyle/>
          <a:p>
            <a:pPr algn="ctr"/>
          </a:p>
        </p:txBody>
      </p:sp>
      <p:sp>
        <p:nvSpPr>
          <p:cNvPr id="3" name="Fellowmind logo"/>
          <p:cNvSpPr/>
          <p:nvPr/>
        </p:nvSpPr>
        <p:spPr>
          <a:xfrm>
            <a:off x="369445" y="460885"/>
            <a:ext cx="1554480" cy="253606"/>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FFFFFF"/>
          </a:solidFill>
          <a:ln>
            <a:noFill/>
          </a:ln>
        </p:spPr>
        <p:txBody>
          <a:bodyPr rtlCol="0" anchor="ctr"/>
          <a:lstStyle/>
          <a:p>
            <a:pPr algn="ctr"/>
          </a:p>
        </p:txBody>
      </p:sp>
      <p:sp>
        <p:nvSpPr>
          <p:cNvPr id="4" name="TextBox 3"/>
          <p:cNvSpPr txBox="1"/>
          <p:nvPr/>
        </p:nvSpPr>
        <p:spPr>
          <a:xfrm>
            <a:off x="369445" y="1965960"/>
            <a:ext cx="6280570" cy="274320"/>
          </a:xfrm>
          <a:prstGeom prst="rect">
            <a:avLst/>
          </a:prstGeom>
          <a:noFill/>
        </p:spPr>
        <p:txBody>
          <a:bodyPr wrap="square" lIns="0" rIns="0" tIns="0" bIns="0" anchor="t">
            <a:spAutoFit/>
          </a:bodyPr>
          <a:lstStyle/>
          <a:p>
            <a:pPr algn="l">
              <a:lnSpc>
                <a:spcPct val="112000"/>
              </a:lnSpc>
            </a:pPr>
            <a:r>
              <a:rPr sz="1200" b="0" lang="nl-NL" spc="60">
                <a:solidFill>
                  <a:srgbClr val="FFFFFF"/>
                </a:solidFill>
                <a:latin typeface="Montserrat SemiBold"/>
              </a:rPr>
              <a:t>KENNISSESSIE POWER PLATFORM</a:t>
            </a:r>
          </a:p>
        </p:txBody>
      </p:sp>
      <p:sp>
        <p:nvSpPr>
          <p:cNvPr id="5" name="TextBox 4"/>
          <p:cNvSpPr txBox="1"/>
          <p:nvPr/>
        </p:nvSpPr>
        <p:spPr>
          <a:xfrm>
            <a:off x="369445" y="2286000"/>
            <a:ext cx="6280570" cy="2103120"/>
          </a:xfrm>
          <a:prstGeom prst="rect">
            <a:avLst/>
          </a:prstGeom>
          <a:noFill/>
        </p:spPr>
        <p:txBody>
          <a:bodyPr wrap="square" lIns="0" rIns="0" tIns="0" bIns="0" anchor="t">
            <a:spAutoFit/>
          </a:bodyPr>
          <a:lstStyle/>
          <a:p>
            <a:pPr algn="l">
              <a:lnSpc>
                <a:spcPct val="100000"/>
              </a:lnSpc>
            </a:pPr>
            <a:r>
              <a:rPr sz="3800" b="0" lang="nl-NL">
                <a:solidFill>
                  <a:srgbClr val="FFFFFF"/>
                </a:solidFill>
                <a:latin typeface="Montserrat"/>
              </a:rPr>
              <a:t>Een CRM bouwen als functioneel consultant, met Claude</a:t>
            </a:r>
          </a:p>
        </p:txBody>
      </p:sp>
      <p:sp>
        <p:nvSpPr>
          <p:cNvPr id="6" name="TextBox 5"/>
          <p:cNvSpPr txBox="1"/>
          <p:nvPr/>
        </p:nvSpPr>
        <p:spPr>
          <a:xfrm>
            <a:off x="369445" y="4480560"/>
            <a:ext cx="4987511" cy="914400"/>
          </a:xfrm>
          <a:prstGeom prst="rect">
            <a:avLst/>
          </a:prstGeom>
          <a:noFill/>
        </p:spPr>
        <p:txBody>
          <a:bodyPr wrap="square" lIns="0" rIns="0" tIns="0" bIns="0" anchor="t">
            <a:spAutoFit/>
          </a:bodyPr>
          <a:lstStyle/>
          <a:p>
            <a:pPr algn="l">
              <a:lnSpc>
                <a:spcPct val="112000"/>
              </a:lnSpc>
            </a:pPr>
            <a:r>
              <a:rPr sz="1800" b="0" lang="nl-NL">
                <a:solidFill>
                  <a:srgbClr val="FFFFFF"/>
                </a:solidFill>
                <a:latin typeface="Montserrat"/>
              </a:rPr>
              <a:t>Een sales-app op Power Platform. Wat werkte, wat niet, en hoe je het zelf probeert.</a:t>
            </a:r>
          </a:p>
        </p:txBody>
      </p:sp>
      <p:sp>
        <p:nvSpPr>
          <p:cNvPr id="7" name="TextBox 6"/>
          <p:cNvSpPr txBox="1"/>
          <p:nvPr/>
        </p:nvSpPr>
        <p:spPr>
          <a:xfrm>
            <a:off x="369445" y="6214234"/>
            <a:ext cx="3694453" cy="274320"/>
          </a:xfrm>
          <a:prstGeom prst="rect">
            <a:avLst/>
          </a:prstGeom>
          <a:noFill/>
        </p:spPr>
        <p:txBody>
          <a:bodyPr wrap="square" lIns="0" rIns="0" tIns="0" bIns="0" anchor="t">
            <a:spAutoFit/>
          </a:bodyPr>
          <a:lstStyle/>
          <a:p>
            <a:pPr algn="l">
              <a:lnSpc>
                <a:spcPct val="112000"/>
              </a:lnSpc>
            </a:pPr>
            <a:r>
              <a:rPr sz="1300" b="0" lang="nl-NL">
                <a:solidFill>
                  <a:srgbClr val="FFFFFF"/>
                </a:solidFill>
                <a:latin typeface="Roboto"/>
              </a:rPr>
              <a:t>Bram van der Weijden</a:t>
            </a:r>
          </a:p>
        </p:txBody>
      </p:sp>
      <p:sp>
        <p:nvSpPr>
          <p:cNvPr id="8" name="Fellowmind slant"/>
          <p:cNvSpPr/>
          <p:nvPr/>
        </p:nvSpPr>
        <p:spPr>
          <a:xfrm>
            <a:off x="5886828" y="4934074"/>
            <a:ext cx="1132632" cy="1554480"/>
          </a:xfrm>
          <a:custGeom>
            <a:avLst/>
            <a:gdLst/>
            <a:ahLst/>
            <a:cxnLst/>
            <a:rect l="0" t="0" r="r" b="b"/>
            <a:pathLst>
              <a:path w="19600" h="26900">
                <a:moveTo>
                  <a:pt x="14300" y="0"/>
                </a:moveTo>
                <a:lnTo>
                  <a:pt x="19600" y="0"/>
                </a:lnTo>
                <a:lnTo>
                  <a:pt x="5300" y="26900"/>
                </a:lnTo>
                <a:lnTo>
                  <a:pt x="0" y="26900"/>
                </a:lnTo>
                <a:close/>
              </a:path>
            </a:pathLst>
          </a:custGeom>
          <a:solidFill>
            <a:srgbClr val="FFFFFF"/>
          </a:solidFill>
          <a:ln>
            <a:noFill/>
          </a:ln>
        </p:spPr>
        <p:txBody>
          <a:bodyPr rtlCol="0" anchor="ctr"/>
          <a:lstStyle/>
          <a:p>
            <a:pPr algn="ctr"/>
          </a:p>
        </p:txBody>
      </p:sp>
      <p:pic>
        <p:nvPicPr>
          <p:cNvPr id="9" name="Picture 8" descr="04-opportunity-process.png"/>
          <p:cNvPicPr>
            <a:picLocks noChangeAspect="1"/>
          </p:cNvPicPr>
          <p:nvPr/>
        </p:nvPicPr>
        <p:blipFill>
          <a:blip r:embed="rId2"/>
          <a:stretch>
            <a:fillRect/>
          </a:stretch>
        </p:blipFill>
        <p:spPr>
          <a:xfrm>
            <a:off x="7891826" y="1600200"/>
            <a:ext cx="5852160" cy="3657600"/>
          </a:xfrm>
          <a:prstGeom prst="roundRect">
            <a:avLst>
              <a:gd name="adj" fmla="val 5050"/>
            </a:avLst>
          </a:prstGeom>
          <a:ln w="9525">
            <a:solidFill>
              <a:srgbClr val="D6D6D6"/>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VANDAAG</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Wat je vandaag ziet</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TextBox 5"/>
          <p:cNvSpPr txBox="1"/>
          <p:nvPr/>
        </p:nvSpPr>
        <p:spPr>
          <a:xfrm>
            <a:off x="369445" y="1783080"/>
            <a:ext cx="3694453" cy="1828800"/>
          </a:xfrm>
          <a:prstGeom prst="rect">
            <a:avLst/>
          </a:prstGeom>
          <a:noFill/>
        </p:spPr>
        <p:txBody>
          <a:bodyPr wrap="square" lIns="0" rIns="0" tIns="0" bIns="0" anchor="t">
            <a:spAutoFit/>
          </a:bodyPr>
          <a:lstStyle/>
          <a:p>
            <a:pPr algn="l">
              <a:lnSpc>
                <a:spcPct val="110000"/>
              </a:lnSpc>
            </a:pPr>
            <a:r>
              <a:rPr sz="2200" b="0" lang="nl-NL">
                <a:solidFill>
                  <a:srgbClr val="1F1F1F"/>
                </a:solidFill>
                <a:latin typeface="Montserrat"/>
              </a:rPr>
              <a:t>Het gaat vooral over de werkwijze. De app is het bewijs.</a:t>
            </a:r>
          </a:p>
        </p:txBody>
      </p:sp>
      <p:cxnSp>
        <p:nvCxnSpPr>
          <p:cNvPr id="7" name="Connector 6"/>
          <p:cNvCxnSpPr/>
          <p:nvPr/>
        </p:nvCxnSpPr>
        <p:spPr>
          <a:xfrm>
            <a:off x="5541679" y="1783080"/>
            <a:ext cx="6280570" cy="0"/>
          </a:xfrm>
          <a:prstGeom prst="line">
            <a:avLst/>
          </a:prstGeom>
          <a:ln w="9525">
            <a:solidFill>
              <a:srgbClr val="1F1F1F"/>
            </a:solidFill>
          </a:ln>
        </p:spPr>
      </p:cxnSp>
      <p:sp>
        <p:nvSpPr>
          <p:cNvPr id="8" name="TextBox 7"/>
          <p:cNvSpPr txBox="1"/>
          <p:nvPr/>
        </p:nvSpPr>
        <p:spPr>
          <a:xfrm>
            <a:off x="5541679" y="1911095"/>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Opening en de app in één blik</a:t>
            </a:r>
          </a:p>
        </p:txBody>
      </p:sp>
      <p:sp>
        <p:nvSpPr>
          <p:cNvPr id="9" name="TextBox 8"/>
          <p:cNvSpPr txBox="1"/>
          <p:nvPr/>
        </p:nvSpPr>
        <p:spPr>
          <a:xfrm>
            <a:off x="10713913" y="1911095"/>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2 min</a:t>
            </a:r>
          </a:p>
        </p:txBody>
      </p:sp>
      <p:cxnSp>
        <p:nvCxnSpPr>
          <p:cNvPr id="10" name="Connector 9"/>
          <p:cNvCxnSpPr/>
          <p:nvPr/>
        </p:nvCxnSpPr>
        <p:spPr>
          <a:xfrm>
            <a:off x="5541679" y="2295144"/>
            <a:ext cx="6280570" cy="0"/>
          </a:xfrm>
          <a:prstGeom prst="line">
            <a:avLst/>
          </a:prstGeom>
          <a:ln w="9525">
            <a:solidFill>
              <a:srgbClr val="D6D6D6"/>
            </a:solidFill>
          </a:ln>
        </p:spPr>
      </p:cxnSp>
      <p:sp>
        <p:nvSpPr>
          <p:cNvPr id="11" name="TextBox 10"/>
          <p:cNvSpPr txBox="1"/>
          <p:nvPr/>
        </p:nvSpPr>
        <p:spPr>
          <a:xfrm>
            <a:off x="5541679" y="2423160"/>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Werkwijze en skills</a:t>
            </a:r>
          </a:p>
        </p:txBody>
      </p:sp>
      <p:sp>
        <p:nvSpPr>
          <p:cNvPr id="12" name="TextBox 11"/>
          <p:cNvSpPr txBox="1"/>
          <p:nvPr/>
        </p:nvSpPr>
        <p:spPr>
          <a:xfrm>
            <a:off x="10713913" y="2423160"/>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5 min</a:t>
            </a:r>
          </a:p>
        </p:txBody>
      </p:sp>
      <p:cxnSp>
        <p:nvCxnSpPr>
          <p:cNvPr id="13" name="Connector 12"/>
          <p:cNvCxnSpPr/>
          <p:nvPr/>
        </p:nvCxnSpPr>
        <p:spPr>
          <a:xfrm>
            <a:off x="5541679" y="2807208"/>
            <a:ext cx="6280570" cy="0"/>
          </a:xfrm>
          <a:prstGeom prst="line">
            <a:avLst/>
          </a:prstGeom>
          <a:ln w="9525">
            <a:solidFill>
              <a:srgbClr val="D6D6D6"/>
            </a:solidFill>
          </a:ln>
        </p:spPr>
      </p:cxnSp>
      <p:sp>
        <p:nvSpPr>
          <p:cNvPr id="14" name="TextBox 13"/>
          <p:cNvSpPr txBox="1"/>
          <p:nvPr/>
        </p:nvSpPr>
        <p:spPr>
          <a:xfrm>
            <a:off x="5541679" y="2935224"/>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Het proces: van kaart tot bouwticket</a:t>
            </a:r>
          </a:p>
        </p:txBody>
      </p:sp>
      <p:sp>
        <p:nvSpPr>
          <p:cNvPr id="15" name="TextBox 14"/>
          <p:cNvSpPr txBox="1"/>
          <p:nvPr/>
        </p:nvSpPr>
        <p:spPr>
          <a:xfrm>
            <a:off x="10713913" y="2935224"/>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7 min</a:t>
            </a:r>
          </a:p>
        </p:txBody>
      </p:sp>
      <p:cxnSp>
        <p:nvCxnSpPr>
          <p:cNvPr id="16" name="Connector 15"/>
          <p:cNvCxnSpPr/>
          <p:nvPr/>
        </p:nvCxnSpPr>
        <p:spPr>
          <a:xfrm>
            <a:off x="5541679" y="3319272"/>
            <a:ext cx="6280570" cy="0"/>
          </a:xfrm>
          <a:prstGeom prst="line">
            <a:avLst/>
          </a:prstGeom>
          <a:ln w="9525">
            <a:solidFill>
              <a:srgbClr val="D6D6D6"/>
            </a:solidFill>
          </a:ln>
        </p:spPr>
      </p:cxnSp>
      <p:sp>
        <p:nvSpPr>
          <p:cNvPr id="17" name="TextBox 16"/>
          <p:cNvSpPr txBox="1"/>
          <p:nvPr/>
        </p:nvSpPr>
        <p:spPr>
          <a:xfrm>
            <a:off x="5541679" y="3447288"/>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Kwaliteit en tests</a:t>
            </a:r>
          </a:p>
        </p:txBody>
      </p:sp>
      <p:sp>
        <p:nvSpPr>
          <p:cNvPr id="18" name="TextBox 17"/>
          <p:cNvSpPr txBox="1"/>
          <p:nvPr/>
        </p:nvSpPr>
        <p:spPr>
          <a:xfrm>
            <a:off x="10713913" y="3447288"/>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2 min</a:t>
            </a:r>
          </a:p>
        </p:txBody>
      </p:sp>
      <p:cxnSp>
        <p:nvCxnSpPr>
          <p:cNvPr id="19" name="Connector 18"/>
          <p:cNvCxnSpPr/>
          <p:nvPr/>
        </p:nvCxnSpPr>
        <p:spPr>
          <a:xfrm>
            <a:off x="5541679" y="3831336"/>
            <a:ext cx="6280570" cy="0"/>
          </a:xfrm>
          <a:prstGeom prst="line">
            <a:avLst/>
          </a:prstGeom>
          <a:ln w="9525">
            <a:solidFill>
              <a:srgbClr val="D6D6D6"/>
            </a:solidFill>
          </a:ln>
        </p:spPr>
      </p:cxnSp>
      <p:sp>
        <p:nvSpPr>
          <p:cNvPr id="20" name="TextBox 19"/>
          <p:cNvSpPr txBox="1"/>
          <p:nvPr/>
        </p:nvSpPr>
        <p:spPr>
          <a:xfrm>
            <a:off x="5541679" y="3959352"/>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De app: techniek, v1, v2 en v3</a:t>
            </a:r>
          </a:p>
        </p:txBody>
      </p:sp>
      <p:sp>
        <p:nvSpPr>
          <p:cNvPr id="21" name="TextBox 20"/>
          <p:cNvSpPr txBox="1"/>
          <p:nvPr/>
        </p:nvSpPr>
        <p:spPr>
          <a:xfrm>
            <a:off x="10713913" y="3959352"/>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4 min</a:t>
            </a:r>
          </a:p>
        </p:txBody>
      </p:sp>
      <p:cxnSp>
        <p:nvCxnSpPr>
          <p:cNvPr id="22" name="Connector 21"/>
          <p:cNvCxnSpPr/>
          <p:nvPr/>
        </p:nvCxnSpPr>
        <p:spPr>
          <a:xfrm>
            <a:off x="5541679" y="4343400"/>
            <a:ext cx="6280570" cy="0"/>
          </a:xfrm>
          <a:prstGeom prst="line">
            <a:avLst/>
          </a:prstGeom>
          <a:ln w="9525">
            <a:solidFill>
              <a:srgbClr val="D6D6D6"/>
            </a:solidFill>
          </a:ln>
        </p:spPr>
      </p:cxnSp>
      <p:sp>
        <p:nvSpPr>
          <p:cNvPr id="23" name="TextBox 22"/>
          <p:cNvSpPr txBox="1"/>
          <p:nvPr/>
        </p:nvSpPr>
        <p:spPr>
          <a:xfrm>
            <a:off x="5541679" y="4471416"/>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Wat dit betekent voor een consultant</a:t>
            </a:r>
          </a:p>
        </p:txBody>
      </p:sp>
      <p:sp>
        <p:nvSpPr>
          <p:cNvPr id="24" name="TextBox 23"/>
          <p:cNvSpPr txBox="1"/>
          <p:nvPr/>
        </p:nvSpPr>
        <p:spPr>
          <a:xfrm>
            <a:off x="10713913" y="4471416"/>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2,5 min</a:t>
            </a:r>
          </a:p>
        </p:txBody>
      </p:sp>
      <p:cxnSp>
        <p:nvCxnSpPr>
          <p:cNvPr id="25" name="Connector 24"/>
          <p:cNvCxnSpPr/>
          <p:nvPr/>
        </p:nvCxnSpPr>
        <p:spPr>
          <a:xfrm>
            <a:off x="5541679" y="4855464"/>
            <a:ext cx="6280570" cy="0"/>
          </a:xfrm>
          <a:prstGeom prst="line">
            <a:avLst/>
          </a:prstGeom>
          <a:ln w="9525">
            <a:solidFill>
              <a:srgbClr val="D6D6D6"/>
            </a:solidFill>
          </a:ln>
        </p:spPr>
      </p:cxnSp>
      <p:sp>
        <p:nvSpPr>
          <p:cNvPr id="26" name="TextBox 25"/>
          <p:cNvSpPr txBox="1"/>
          <p:nvPr/>
        </p:nvSpPr>
        <p:spPr>
          <a:xfrm>
            <a:off x="5541679" y="4983480"/>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Demo</a:t>
            </a:r>
          </a:p>
        </p:txBody>
      </p:sp>
      <p:sp>
        <p:nvSpPr>
          <p:cNvPr id="27" name="TextBox 26"/>
          <p:cNvSpPr txBox="1"/>
          <p:nvPr/>
        </p:nvSpPr>
        <p:spPr>
          <a:xfrm>
            <a:off x="10713913" y="4983480"/>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10 min</a:t>
            </a:r>
          </a:p>
        </p:txBody>
      </p:sp>
      <p:cxnSp>
        <p:nvCxnSpPr>
          <p:cNvPr id="28" name="Connector 27"/>
          <p:cNvCxnSpPr/>
          <p:nvPr/>
        </p:nvCxnSpPr>
        <p:spPr>
          <a:xfrm>
            <a:off x="5541679" y="5367528"/>
            <a:ext cx="6280570" cy="0"/>
          </a:xfrm>
          <a:prstGeom prst="line">
            <a:avLst/>
          </a:prstGeom>
          <a:ln w="9525">
            <a:solidFill>
              <a:srgbClr val="D6D6D6"/>
            </a:solidFill>
          </a:ln>
        </p:spPr>
      </p:cxnSp>
      <p:sp>
        <p:nvSpPr>
          <p:cNvPr id="29" name="TextBox 28"/>
          <p:cNvSpPr txBox="1"/>
          <p:nvPr/>
        </p:nvSpPr>
        <p:spPr>
          <a:xfrm>
            <a:off x="5541679" y="5495544"/>
            <a:ext cx="4987511" cy="365760"/>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Afsluiting en vragen</a:t>
            </a:r>
          </a:p>
        </p:txBody>
      </p:sp>
      <p:sp>
        <p:nvSpPr>
          <p:cNvPr id="30" name="TextBox 29"/>
          <p:cNvSpPr txBox="1"/>
          <p:nvPr/>
        </p:nvSpPr>
        <p:spPr>
          <a:xfrm>
            <a:off x="10713913" y="5495544"/>
            <a:ext cx="1108335" cy="365760"/>
          </a:xfrm>
          <a:prstGeom prst="rect">
            <a:avLst/>
          </a:prstGeom>
          <a:noFill/>
        </p:spPr>
        <p:txBody>
          <a:bodyPr wrap="square" lIns="0" rIns="0" tIns="0" bIns="0" anchor="t">
            <a:spAutoFit/>
          </a:bodyPr>
          <a:lstStyle/>
          <a:p>
            <a:pPr algn="r">
              <a:lnSpc>
                <a:spcPct val="112000"/>
              </a:lnSpc>
            </a:pPr>
            <a:r>
              <a:rPr sz="1400" b="0" lang="nl-NL">
                <a:solidFill>
                  <a:srgbClr val="5F5F5F"/>
                </a:solidFill>
                <a:latin typeface="Roboto"/>
              </a:rPr>
              <a:t>3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AANLEIDING</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Waarom dit project</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3</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4987511" cy="0"/>
          </a:xfrm>
          <a:prstGeom prst="line">
            <a:avLst/>
          </a:prstGeom>
          <a:ln w="9525">
            <a:solidFill>
              <a:srgbClr val="1F1F1F"/>
            </a:solidFill>
          </a:ln>
        </p:spPr>
      </p:cxnSp>
      <p:sp>
        <p:nvSpPr>
          <p:cNvPr id="7" name="TextBox 6"/>
          <p:cNvSpPr txBox="1"/>
          <p:nvPr/>
        </p:nvSpPr>
        <p:spPr>
          <a:xfrm>
            <a:off x="369445" y="1892807"/>
            <a:ext cx="4987511"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Een alternatief voor D365 Sales</a:t>
            </a:r>
          </a:p>
          <a:p>
            <a:pPr algn="l">
              <a:lnSpc>
                <a:spcPct val="112000"/>
              </a:lnSpc>
              <a:spcBef>
                <a:spcPts val="200"/>
              </a:spcBef>
            </a:pPr>
            <a:r>
              <a:rPr sz="1250" b="0" lang="nl-NL">
                <a:solidFill>
                  <a:srgbClr val="5F5F5F"/>
                </a:solidFill>
                <a:latin typeface="Roboto"/>
              </a:rPr>
              <a:t>Eerst voor mijn eigen team of één klant</a:t>
            </a:r>
          </a:p>
        </p:txBody>
      </p:sp>
      <p:cxnSp>
        <p:nvCxnSpPr>
          <p:cNvPr id="8" name="Connector 7"/>
          <p:cNvCxnSpPr/>
          <p:nvPr/>
        </p:nvCxnSpPr>
        <p:spPr>
          <a:xfrm>
            <a:off x="369445" y="2569464"/>
            <a:ext cx="4987511" cy="0"/>
          </a:xfrm>
          <a:prstGeom prst="line">
            <a:avLst/>
          </a:prstGeom>
          <a:ln w="9525">
            <a:solidFill>
              <a:srgbClr val="D6D6D6"/>
            </a:solidFill>
          </a:ln>
        </p:spPr>
      </p:cxnSp>
      <p:sp>
        <p:nvSpPr>
          <p:cNvPr id="9" name="TextBox 8"/>
          <p:cNvSpPr txBox="1"/>
          <p:nvPr/>
        </p:nvSpPr>
        <p:spPr>
          <a:xfrm>
            <a:off x="369445" y="2679192"/>
            <a:ext cx="4987511"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Lagere licentiekosten, eenvoudigere UI</a:t>
            </a:r>
          </a:p>
        </p:txBody>
      </p:sp>
      <p:cxnSp>
        <p:nvCxnSpPr>
          <p:cNvPr id="10" name="Connector 9"/>
          <p:cNvCxnSpPr/>
          <p:nvPr/>
        </p:nvCxnSpPr>
        <p:spPr>
          <a:xfrm>
            <a:off x="369445" y="3355848"/>
            <a:ext cx="4987511" cy="0"/>
          </a:xfrm>
          <a:prstGeom prst="line">
            <a:avLst/>
          </a:prstGeom>
          <a:ln w="9525">
            <a:solidFill>
              <a:srgbClr val="D6D6D6"/>
            </a:solidFill>
          </a:ln>
        </p:spPr>
      </p:cxnSp>
      <p:sp>
        <p:nvSpPr>
          <p:cNvPr id="11" name="TextBox 10"/>
          <p:cNvSpPr txBox="1"/>
          <p:nvPr/>
        </p:nvSpPr>
        <p:spPr>
          <a:xfrm>
            <a:off x="369445" y="3465576"/>
            <a:ext cx="4987511"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Oefenproject met professionele standaarden</a:t>
            </a:r>
          </a:p>
          <a:p>
            <a:pPr algn="l">
              <a:lnSpc>
                <a:spcPct val="112000"/>
              </a:lnSpc>
              <a:spcBef>
                <a:spcPts val="200"/>
              </a:spcBef>
            </a:pPr>
            <a:r>
              <a:rPr sz="1250" b="0" lang="nl-NL">
                <a:solidFill>
                  <a:srgbClr val="5F5F5F"/>
                </a:solidFill>
                <a:latin typeface="Roboto"/>
              </a:rPr>
              <a:t>'Oefenen' mag de lat niet verlagen</a:t>
            </a:r>
          </a:p>
        </p:txBody>
      </p:sp>
      <p:cxnSp>
        <p:nvCxnSpPr>
          <p:cNvPr id="12" name="Connector 11"/>
          <p:cNvCxnSpPr/>
          <p:nvPr/>
        </p:nvCxnSpPr>
        <p:spPr>
          <a:xfrm>
            <a:off x="369445" y="4142232"/>
            <a:ext cx="4987511" cy="0"/>
          </a:xfrm>
          <a:prstGeom prst="line">
            <a:avLst/>
          </a:prstGeom>
          <a:ln w="9525">
            <a:solidFill>
              <a:srgbClr val="D6D6D6"/>
            </a:solidFill>
          </a:ln>
        </p:spPr>
      </p:cxnSp>
      <p:sp>
        <p:nvSpPr>
          <p:cNvPr id="13" name="TextBox 12"/>
          <p:cNvSpPr txBox="1"/>
          <p:nvPr/>
        </p:nvSpPr>
        <p:spPr>
          <a:xfrm>
            <a:off x="369445" y="4251960"/>
            <a:ext cx="4987511"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Front-end: Power Apps code app</a:t>
            </a:r>
          </a:p>
        </p:txBody>
      </p:sp>
      <p:cxnSp>
        <p:nvCxnSpPr>
          <p:cNvPr id="14" name="Connector 13"/>
          <p:cNvCxnSpPr/>
          <p:nvPr/>
        </p:nvCxnSpPr>
        <p:spPr>
          <a:xfrm>
            <a:off x="369445" y="4928616"/>
            <a:ext cx="4987511" cy="0"/>
          </a:xfrm>
          <a:prstGeom prst="line">
            <a:avLst/>
          </a:prstGeom>
          <a:ln w="9525">
            <a:solidFill>
              <a:srgbClr val="D6D6D6"/>
            </a:solidFill>
          </a:ln>
        </p:spPr>
      </p:cxnSp>
      <p:sp>
        <p:nvSpPr>
          <p:cNvPr id="15" name="TextBox 14"/>
          <p:cNvSpPr txBox="1"/>
          <p:nvPr/>
        </p:nvSpPr>
        <p:spPr>
          <a:xfrm>
            <a:off x="369445" y="5038344"/>
            <a:ext cx="4987511"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Data: Dataverse</a:t>
            </a:r>
          </a:p>
        </p:txBody>
      </p:sp>
      <p:pic>
        <p:nvPicPr>
          <p:cNvPr id="16" name="Picture 15" descr="02-pipeline.png"/>
          <p:cNvPicPr>
            <a:picLocks noChangeAspect="1"/>
          </p:cNvPicPr>
          <p:nvPr/>
        </p:nvPicPr>
        <p:blipFill>
          <a:blip r:embed="rId2"/>
          <a:stretch>
            <a:fillRect/>
          </a:stretch>
        </p:blipFill>
        <p:spPr>
          <a:xfrm>
            <a:off x="5724559" y="1783080"/>
            <a:ext cx="6097690" cy="3811056"/>
          </a:xfrm>
          <a:prstGeom prst="roundRect">
            <a:avLst>
              <a:gd name="adj" fmla="val 4847"/>
            </a:avLst>
          </a:prstGeom>
          <a:ln w="9525">
            <a:solidFill>
              <a:srgbClr val="D6D6D6"/>
            </a:solidFill>
          </a:ln>
        </p:spPr>
      </p:pic>
      <p:sp>
        <p:nvSpPr>
          <p:cNvPr id="17" name="TextBox 16"/>
          <p:cNvSpPr txBox="1"/>
          <p:nvPr/>
        </p:nvSpPr>
        <p:spPr>
          <a:xfrm>
            <a:off x="5724559" y="5685576"/>
            <a:ext cx="6097690"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Het Pipeline-bord in de app. Alle data is fictief.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WERKWIJZE</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Telefoon, Claude Project en een PC met Claude Code</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4</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Rounded Rectangle 5"/>
          <p:cNvSpPr/>
          <p:nvPr/>
        </p:nvSpPr>
        <p:spPr>
          <a:xfrm>
            <a:off x="369445" y="1783080"/>
            <a:ext cx="3054373" cy="1188720"/>
          </a:xfrm>
          <a:prstGeom prst="roundRect">
            <a:avLst>
              <a:gd name="adj" fmla="val 15539"/>
            </a:avLst>
          </a:prstGeom>
          <a:noFill/>
          <a:ln w="19050">
            <a:solidFill>
              <a:srgbClr val="C514B4"/>
            </a:solidFill>
          </a:ln>
        </p:spPr>
        <p:txBody>
          <a:bodyPr rtlCol="0" anchor="ctr"/>
          <a:lstStyle/>
          <a:p>
            <a:pPr algn="ctr"/>
          </a:p>
        </p:txBody>
      </p:sp>
      <p:sp>
        <p:nvSpPr>
          <p:cNvPr id="7" name="TextBox 6"/>
          <p:cNvSpPr txBox="1"/>
          <p:nvPr/>
        </p:nvSpPr>
        <p:spPr>
          <a:xfrm>
            <a:off x="515749" y="1900123"/>
            <a:ext cx="2761765" cy="954633"/>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Telefoon</a:t>
            </a:r>
          </a:p>
          <a:p>
            <a:pPr algn="l">
              <a:lnSpc>
                <a:spcPct val="112000"/>
              </a:lnSpc>
              <a:spcBef>
                <a:spcPts val="300"/>
              </a:spcBef>
            </a:pPr>
            <a:r>
              <a:rPr sz="1200" b="0" lang="nl-NL">
                <a:solidFill>
                  <a:srgbClr val="5F5F5F"/>
                </a:solidFill>
                <a:latin typeface="Roboto"/>
              </a:rPr>
              <a:t>Claude-app: beslissingen nemen en de voortgang volgen</a:t>
            </a:r>
          </a:p>
        </p:txBody>
      </p:sp>
      <p:sp>
        <p:nvSpPr>
          <p:cNvPr id="8" name="Rounded Rectangle 7"/>
          <p:cNvSpPr/>
          <p:nvPr/>
        </p:nvSpPr>
        <p:spPr>
          <a:xfrm>
            <a:off x="4248621" y="1783080"/>
            <a:ext cx="3054373" cy="1188720"/>
          </a:xfrm>
          <a:prstGeom prst="roundRect">
            <a:avLst>
              <a:gd name="adj" fmla="val 15539"/>
            </a:avLst>
          </a:prstGeom>
          <a:noFill/>
          <a:ln w="12700">
            <a:solidFill>
              <a:srgbClr val="1F1F1F"/>
            </a:solidFill>
          </a:ln>
        </p:spPr>
        <p:txBody>
          <a:bodyPr rtlCol="0" anchor="ctr"/>
          <a:lstStyle/>
          <a:p>
            <a:pPr algn="ctr"/>
          </a:p>
        </p:txBody>
      </p:sp>
      <p:sp>
        <p:nvSpPr>
          <p:cNvPr id="9" name="TextBox 8"/>
          <p:cNvSpPr txBox="1"/>
          <p:nvPr/>
        </p:nvSpPr>
        <p:spPr>
          <a:xfrm>
            <a:off x="4394925" y="1900123"/>
            <a:ext cx="2761765" cy="954633"/>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Claude Project</a:t>
            </a:r>
          </a:p>
          <a:p>
            <a:pPr algn="l">
              <a:lnSpc>
                <a:spcPct val="112000"/>
              </a:lnSpc>
              <a:spcBef>
                <a:spcPts val="300"/>
              </a:spcBef>
            </a:pPr>
            <a:r>
              <a:rPr sz="1200" b="0" lang="nl-NL">
                <a:solidFill>
                  <a:srgbClr val="5F5F5F"/>
                </a:solidFill>
                <a:latin typeface="Roboto"/>
              </a:rPr>
              <a:t>Een thread per taak, met geheugen voor beslissingen</a:t>
            </a:r>
          </a:p>
        </p:txBody>
      </p:sp>
      <p:sp>
        <p:nvSpPr>
          <p:cNvPr id="10" name="Rounded Rectangle 9"/>
          <p:cNvSpPr/>
          <p:nvPr/>
        </p:nvSpPr>
        <p:spPr>
          <a:xfrm>
            <a:off x="8127796" y="1783080"/>
            <a:ext cx="3054373" cy="1188720"/>
          </a:xfrm>
          <a:prstGeom prst="roundRect">
            <a:avLst>
              <a:gd name="adj" fmla="val 15539"/>
            </a:avLst>
          </a:prstGeom>
          <a:noFill/>
          <a:ln w="12700">
            <a:solidFill>
              <a:srgbClr val="1F1F1F"/>
            </a:solidFill>
          </a:ln>
        </p:spPr>
        <p:txBody>
          <a:bodyPr rtlCol="0" anchor="ctr"/>
          <a:lstStyle/>
          <a:p>
            <a:pPr algn="ctr"/>
          </a:p>
        </p:txBody>
      </p:sp>
      <p:sp>
        <p:nvSpPr>
          <p:cNvPr id="11" name="TextBox 10"/>
          <p:cNvSpPr txBox="1"/>
          <p:nvPr/>
        </p:nvSpPr>
        <p:spPr>
          <a:xfrm>
            <a:off x="8274100" y="1900123"/>
            <a:ext cx="2761765" cy="954633"/>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PC met Claude Code</a:t>
            </a:r>
          </a:p>
          <a:p>
            <a:pPr algn="l">
              <a:lnSpc>
                <a:spcPct val="112000"/>
              </a:lnSpc>
              <a:spcBef>
                <a:spcPts val="300"/>
              </a:spcBef>
            </a:pPr>
            <a:r>
              <a:rPr sz="1200" b="0" lang="nl-NL">
                <a:solidFill>
                  <a:srgbClr val="5F5F5F"/>
                </a:solidFill>
                <a:latin typeface="Roboto"/>
              </a:rPr>
              <a:t>git, pac, pa en de Dataverse CLI, al ingelogd</a:t>
            </a:r>
          </a:p>
        </p:txBody>
      </p:sp>
      <p:cxnSp>
        <p:nvCxnSpPr>
          <p:cNvPr id="12" name="Connector 11"/>
          <p:cNvCxnSpPr/>
          <p:nvPr/>
        </p:nvCxnSpPr>
        <p:spPr>
          <a:xfrm>
            <a:off x="3533546" y="2377440"/>
            <a:ext cx="605347" cy="0"/>
          </a:xfrm>
          <a:prstGeom prst="line">
            <a:avLst/>
          </a:prstGeom>
          <a:ln w="12700">
            <a:solidFill>
              <a:srgbClr val="5F5F5F"/>
            </a:solidFill>
            <a:tailEnd type="triangle" w="med" len="med"/>
          </a:ln>
        </p:spPr>
      </p:cxnSp>
      <p:cxnSp>
        <p:nvCxnSpPr>
          <p:cNvPr id="13" name="Connector 12"/>
          <p:cNvCxnSpPr/>
          <p:nvPr/>
        </p:nvCxnSpPr>
        <p:spPr>
          <a:xfrm>
            <a:off x="7412722" y="2377440"/>
            <a:ext cx="605346" cy="0"/>
          </a:xfrm>
          <a:prstGeom prst="line">
            <a:avLst/>
          </a:prstGeom>
          <a:ln w="12700">
            <a:solidFill>
              <a:srgbClr val="5F5F5F"/>
            </a:solidFill>
            <a:tailEnd type="triangle" w="med" len="med"/>
          </a:ln>
        </p:spPr>
      </p:cxnSp>
      <p:cxnSp>
        <p:nvCxnSpPr>
          <p:cNvPr id="14" name="Connector 13"/>
          <p:cNvCxnSpPr/>
          <p:nvPr/>
        </p:nvCxnSpPr>
        <p:spPr>
          <a:xfrm>
            <a:off x="9654983" y="2971800"/>
            <a:ext cx="0" cy="347472"/>
          </a:xfrm>
          <a:prstGeom prst="line">
            <a:avLst/>
          </a:prstGeom>
          <a:ln w="12700">
            <a:solidFill>
              <a:srgbClr val="5F5F5F"/>
            </a:solidFill>
          </a:ln>
        </p:spPr>
      </p:cxnSp>
      <p:cxnSp>
        <p:nvCxnSpPr>
          <p:cNvPr id="15" name="Connector 14"/>
          <p:cNvCxnSpPr/>
          <p:nvPr/>
        </p:nvCxnSpPr>
        <p:spPr>
          <a:xfrm>
            <a:off x="5775807" y="3319272"/>
            <a:ext cx="3879176" cy="0"/>
          </a:xfrm>
          <a:prstGeom prst="line">
            <a:avLst/>
          </a:prstGeom>
          <a:ln w="12700">
            <a:solidFill>
              <a:srgbClr val="5F5F5F"/>
            </a:solidFill>
          </a:ln>
        </p:spPr>
      </p:cxnSp>
      <p:cxnSp>
        <p:nvCxnSpPr>
          <p:cNvPr id="16" name="Connector 15"/>
          <p:cNvCxnSpPr/>
          <p:nvPr/>
        </p:nvCxnSpPr>
        <p:spPr>
          <a:xfrm>
            <a:off x="5775807" y="3319272"/>
            <a:ext cx="0" cy="310896"/>
          </a:xfrm>
          <a:prstGeom prst="line">
            <a:avLst/>
          </a:prstGeom>
          <a:ln w="12700">
            <a:solidFill>
              <a:srgbClr val="5F5F5F"/>
            </a:solidFill>
            <a:tailEnd type="triangle" w="med" len="med"/>
          </a:ln>
        </p:spPr>
      </p:cxnSp>
      <p:cxnSp>
        <p:nvCxnSpPr>
          <p:cNvPr id="17" name="Connector 16"/>
          <p:cNvCxnSpPr/>
          <p:nvPr/>
        </p:nvCxnSpPr>
        <p:spPr>
          <a:xfrm>
            <a:off x="9654983" y="3319272"/>
            <a:ext cx="0" cy="310896"/>
          </a:xfrm>
          <a:prstGeom prst="line">
            <a:avLst/>
          </a:prstGeom>
          <a:ln w="12700">
            <a:solidFill>
              <a:srgbClr val="5F5F5F"/>
            </a:solidFill>
            <a:tailEnd type="triangle" w="med" len="med"/>
          </a:ln>
        </p:spPr>
      </p:cxnSp>
      <p:sp>
        <p:nvSpPr>
          <p:cNvPr id="18" name="Rounded Rectangle 17"/>
          <p:cNvSpPr/>
          <p:nvPr/>
        </p:nvSpPr>
        <p:spPr>
          <a:xfrm>
            <a:off x="4248621" y="3685032"/>
            <a:ext cx="3054373" cy="1005840"/>
          </a:xfrm>
          <a:prstGeom prst="roundRect">
            <a:avLst>
              <a:gd name="adj" fmla="val 18365"/>
            </a:avLst>
          </a:prstGeom>
          <a:noFill/>
          <a:ln w="12700">
            <a:solidFill>
              <a:srgbClr val="1F1F1F"/>
            </a:solidFill>
          </a:ln>
        </p:spPr>
        <p:txBody>
          <a:bodyPr rtlCol="0" anchor="ctr"/>
          <a:lstStyle/>
          <a:p>
            <a:pPr algn="ctr"/>
          </a:p>
        </p:txBody>
      </p:sp>
      <p:sp>
        <p:nvSpPr>
          <p:cNvPr id="19" name="TextBox 18"/>
          <p:cNvSpPr txBox="1"/>
          <p:nvPr/>
        </p:nvSpPr>
        <p:spPr>
          <a:xfrm>
            <a:off x="4394925" y="3802075"/>
            <a:ext cx="2761765" cy="771753"/>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GitHub</a:t>
            </a:r>
          </a:p>
          <a:p>
            <a:pPr algn="l">
              <a:lnSpc>
                <a:spcPct val="112000"/>
              </a:lnSpc>
              <a:spcBef>
                <a:spcPts val="300"/>
              </a:spcBef>
            </a:pPr>
            <a:r>
              <a:rPr sz="1200" b="0" lang="nl-NL">
                <a:solidFill>
                  <a:srgbClr val="5F5F5F"/>
                </a:solidFill>
                <a:latin typeface="Roboto"/>
              </a:rPr>
              <a:t>Code, Issues, pull requests en CI</a:t>
            </a:r>
          </a:p>
        </p:txBody>
      </p:sp>
      <p:sp>
        <p:nvSpPr>
          <p:cNvPr id="20" name="Rounded Rectangle 19"/>
          <p:cNvSpPr/>
          <p:nvPr/>
        </p:nvSpPr>
        <p:spPr>
          <a:xfrm>
            <a:off x="8127796" y="3685032"/>
            <a:ext cx="3054373" cy="1005840"/>
          </a:xfrm>
          <a:prstGeom prst="roundRect">
            <a:avLst>
              <a:gd name="adj" fmla="val 18365"/>
            </a:avLst>
          </a:prstGeom>
          <a:noFill/>
          <a:ln w="12700">
            <a:solidFill>
              <a:srgbClr val="1F1F1F"/>
            </a:solidFill>
          </a:ln>
        </p:spPr>
        <p:txBody>
          <a:bodyPr rtlCol="0" anchor="ctr"/>
          <a:lstStyle/>
          <a:p>
            <a:pPr algn="ctr"/>
          </a:p>
        </p:txBody>
      </p:sp>
      <p:sp>
        <p:nvSpPr>
          <p:cNvPr id="21" name="TextBox 20"/>
          <p:cNvSpPr txBox="1"/>
          <p:nvPr/>
        </p:nvSpPr>
        <p:spPr>
          <a:xfrm>
            <a:off x="8274100" y="3802075"/>
            <a:ext cx="2761765" cy="771753"/>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Dataverse</a:t>
            </a:r>
          </a:p>
          <a:p>
            <a:pPr algn="l">
              <a:lnSpc>
                <a:spcPct val="112000"/>
              </a:lnSpc>
              <a:spcBef>
                <a:spcPts val="300"/>
              </a:spcBef>
            </a:pPr>
            <a:r>
              <a:rPr sz="1200" b="0" lang="nl-NL">
                <a:solidFill>
                  <a:srgbClr val="5F5F5F"/>
                </a:solidFill>
                <a:latin typeface="Roboto"/>
              </a:rPr>
              <a:t>dev-salesapp: tabellen, rollen, plug-ins en de code app</a:t>
            </a:r>
          </a:p>
        </p:txBody>
      </p:sp>
      <p:sp>
        <p:nvSpPr>
          <p:cNvPr id="22" name="TextBox 21"/>
          <p:cNvSpPr txBox="1"/>
          <p:nvPr/>
        </p:nvSpPr>
        <p:spPr>
          <a:xfrm>
            <a:off x="369445" y="3730752"/>
            <a:ext cx="3237253" cy="1097280"/>
          </a:xfrm>
          <a:prstGeom prst="rect">
            <a:avLst/>
          </a:prstGeom>
          <a:noFill/>
        </p:spPr>
        <p:txBody>
          <a:bodyPr wrap="square" lIns="0" rIns="0" tIns="0" bIns="0" anchor="t">
            <a:spAutoFit/>
          </a:bodyPr>
          <a:lstStyle/>
          <a:p>
            <a:pPr algn="l">
              <a:lnSpc>
                <a:spcPct val="112000"/>
              </a:lnSpc>
            </a:pPr>
            <a:r>
              <a:rPr sz="1400" b="0" lang="nl-NL">
                <a:solidFill>
                  <a:srgbClr val="C514B4"/>
                </a:solidFill>
                <a:latin typeface="Montserrat SemiBold"/>
              </a:rPr>
              <a:t>Ik</a:t>
            </a:r>
          </a:p>
          <a:p>
            <a:pPr algn="l">
              <a:lnSpc>
                <a:spcPct val="112000"/>
              </a:lnSpc>
              <a:spcBef>
                <a:spcPts val="300"/>
              </a:spcBef>
            </a:pPr>
            <a:r>
              <a:rPr sz="1250" b="0" lang="nl-NL">
                <a:solidFill>
                  <a:srgbClr val="5F5F5F"/>
                </a:solidFill>
                <a:latin typeface="Roboto"/>
              </a:rPr>
              <a:t>Vragen beantwoorden, kiezen, reviewen. Een melding als ik iets moet beslissen.</a:t>
            </a:r>
          </a:p>
        </p:txBody>
      </p:sp>
      <p:cxnSp>
        <p:nvCxnSpPr>
          <p:cNvPr id="23" name="Connector 22"/>
          <p:cNvCxnSpPr/>
          <p:nvPr/>
        </p:nvCxnSpPr>
        <p:spPr>
          <a:xfrm>
            <a:off x="369445" y="5074920"/>
            <a:ext cx="11452804" cy="0"/>
          </a:xfrm>
          <a:prstGeom prst="line">
            <a:avLst/>
          </a:prstGeom>
          <a:ln w="9525">
            <a:solidFill>
              <a:srgbClr val="1F1F1F"/>
            </a:solidFill>
          </a:ln>
        </p:spPr>
      </p:cxnSp>
      <p:sp>
        <p:nvSpPr>
          <p:cNvPr id="24" name="TextBox 23"/>
          <p:cNvSpPr txBox="1"/>
          <p:nvPr/>
        </p:nvSpPr>
        <p:spPr>
          <a:xfrm>
            <a:off x="369445" y="5212080"/>
            <a:ext cx="11452804" cy="457200"/>
          </a:xfrm>
          <a:prstGeom prst="rect">
            <a:avLst/>
          </a:prstGeom>
          <a:noFill/>
        </p:spPr>
        <p:txBody>
          <a:bodyPr wrap="square" lIns="0" rIns="0" tIns="0" bIns="0" anchor="t">
            <a:spAutoFit/>
          </a:bodyPr>
          <a:lstStyle/>
          <a:p>
            <a:pPr algn="l">
              <a:lnSpc>
                <a:spcPct val="112000"/>
              </a:lnSpc>
            </a:pPr>
            <a:r>
              <a:rPr sz="2400" b="0" lang="nl-NL">
                <a:solidFill>
                  <a:srgbClr val="1F1F1F"/>
                </a:solidFill>
                <a:latin typeface="Montserrat"/>
              </a:rPr>
              <a:t>Ik beslis en review. Claude bouwt.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WERKWIJZE</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Skills: herbruikbare werkwijzen</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5</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3694453" cy="0"/>
          </a:xfrm>
          <a:prstGeom prst="line">
            <a:avLst/>
          </a:prstGeom>
          <a:ln w="9525">
            <a:solidFill>
              <a:srgbClr val="1F1F1F"/>
            </a:solidFill>
          </a:ln>
        </p:spPr>
      </p:cxnSp>
      <p:sp>
        <p:nvSpPr>
          <p:cNvPr id="7" name="TextBox 6"/>
          <p:cNvSpPr txBox="1"/>
          <p:nvPr/>
        </p:nvSpPr>
        <p:spPr>
          <a:xfrm>
            <a:off x="369445" y="1920240"/>
            <a:ext cx="3694453" cy="36576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SemiBold"/>
              </a:rPr>
              <a:t>Power Platform skills</a:t>
            </a:r>
          </a:p>
        </p:txBody>
      </p:sp>
      <p:sp>
        <p:nvSpPr>
          <p:cNvPr id="8" name="TextBox 7"/>
          <p:cNvSpPr txBox="1"/>
          <p:nvPr/>
        </p:nvSpPr>
        <p:spPr>
          <a:xfrm>
            <a:off x="369445" y="2286000"/>
            <a:ext cx="3694453"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VAN MICROSOFT</a:t>
            </a:r>
          </a:p>
        </p:txBody>
      </p:sp>
      <p:cxnSp>
        <p:nvCxnSpPr>
          <p:cNvPr id="9" name="Connector 8"/>
          <p:cNvCxnSpPr/>
          <p:nvPr/>
        </p:nvCxnSpPr>
        <p:spPr>
          <a:xfrm>
            <a:off x="369445" y="2679191"/>
            <a:ext cx="3694453" cy="0"/>
          </a:xfrm>
          <a:prstGeom prst="line">
            <a:avLst/>
          </a:prstGeom>
          <a:ln w="9525">
            <a:solidFill>
              <a:srgbClr val="D6D6D6"/>
            </a:solidFill>
          </a:ln>
        </p:spPr>
      </p:cxnSp>
      <p:sp>
        <p:nvSpPr>
          <p:cNvPr id="10" name="TextBox 9"/>
          <p:cNvSpPr txBox="1"/>
          <p:nvPr/>
        </p:nvSpPr>
        <p:spPr>
          <a:xfrm>
            <a:off x="369445" y="27706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Code apps: maken, koppelen, deployen</a:t>
            </a:r>
          </a:p>
        </p:txBody>
      </p:sp>
      <p:cxnSp>
        <p:nvCxnSpPr>
          <p:cNvPr id="11" name="Connector 10"/>
          <p:cNvCxnSpPr/>
          <p:nvPr/>
        </p:nvCxnSpPr>
        <p:spPr>
          <a:xfrm>
            <a:off x="369445" y="3136391"/>
            <a:ext cx="3694453" cy="0"/>
          </a:xfrm>
          <a:prstGeom prst="line">
            <a:avLst/>
          </a:prstGeom>
          <a:ln w="9525">
            <a:solidFill>
              <a:srgbClr val="D6D6D6"/>
            </a:solidFill>
          </a:ln>
        </p:spPr>
      </p:cxnSp>
      <p:sp>
        <p:nvSpPr>
          <p:cNvPr id="12" name="TextBox 11"/>
          <p:cNvSpPr txBox="1"/>
          <p:nvPr/>
        </p:nvSpPr>
        <p:spPr>
          <a:xfrm>
            <a:off x="369445" y="32278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Power Automate: flows bouwen en debuggen</a:t>
            </a:r>
          </a:p>
        </p:txBody>
      </p:sp>
      <p:cxnSp>
        <p:nvCxnSpPr>
          <p:cNvPr id="13" name="Connector 12"/>
          <p:cNvCxnSpPr/>
          <p:nvPr/>
        </p:nvCxnSpPr>
        <p:spPr>
          <a:xfrm>
            <a:off x="369445" y="3593591"/>
            <a:ext cx="3694453" cy="0"/>
          </a:xfrm>
          <a:prstGeom prst="line">
            <a:avLst/>
          </a:prstGeom>
          <a:ln w="9525">
            <a:solidFill>
              <a:srgbClr val="D6D6D6"/>
            </a:solidFill>
          </a:ln>
        </p:spPr>
      </p:cxnSp>
      <p:sp>
        <p:nvSpPr>
          <p:cNvPr id="14" name="TextBox 13"/>
          <p:cNvSpPr txBox="1"/>
          <p:nvPr/>
        </p:nvSpPr>
        <p:spPr>
          <a:xfrm>
            <a:off x="369445" y="36850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Model-driven apps, Power Pages en canvas apps</a:t>
            </a:r>
          </a:p>
        </p:txBody>
      </p:sp>
      <p:cxnSp>
        <p:nvCxnSpPr>
          <p:cNvPr id="15" name="Connector 14"/>
          <p:cNvCxnSpPr/>
          <p:nvPr/>
        </p:nvCxnSpPr>
        <p:spPr>
          <a:xfrm>
            <a:off x="4248621" y="1783080"/>
            <a:ext cx="3694453" cy="0"/>
          </a:xfrm>
          <a:prstGeom prst="line">
            <a:avLst/>
          </a:prstGeom>
          <a:ln w="9525">
            <a:solidFill>
              <a:srgbClr val="1F1F1F"/>
            </a:solidFill>
          </a:ln>
        </p:spPr>
      </p:cxnSp>
      <p:sp>
        <p:nvSpPr>
          <p:cNvPr id="16" name="TextBox 15"/>
          <p:cNvSpPr txBox="1"/>
          <p:nvPr/>
        </p:nvSpPr>
        <p:spPr>
          <a:xfrm>
            <a:off x="4248621" y="1920240"/>
            <a:ext cx="3694453" cy="36576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SemiBold"/>
              </a:rPr>
              <a:t>Dataverse skills</a:t>
            </a:r>
          </a:p>
        </p:txBody>
      </p:sp>
      <p:sp>
        <p:nvSpPr>
          <p:cNvPr id="17" name="TextBox 16"/>
          <p:cNvSpPr txBox="1"/>
          <p:nvPr/>
        </p:nvSpPr>
        <p:spPr>
          <a:xfrm>
            <a:off x="4248621" y="2286000"/>
            <a:ext cx="3694453"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VAN MICROSOFT</a:t>
            </a:r>
          </a:p>
        </p:txBody>
      </p:sp>
      <p:cxnSp>
        <p:nvCxnSpPr>
          <p:cNvPr id="18" name="Connector 17"/>
          <p:cNvCxnSpPr/>
          <p:nvPr/>
        </p:nvCxnSpPr>
        <p:spPr>
          <a:xfrm>
            <a:off x="4248621" y="2679191"/>
            <a:ext cx="3694453" cy="0"/>
          </a:xfrm>
          <a:prstGeom prst="line">
            <a:avLst/>
          </a:prstGeom>
          <a:ln w="9525">
            <a:solidFill>
              <a:srgbClr val="D6D6D6"/>
            </a:solidFill>
          </a:ln>
        </p:spPr>
      </p:cxnSp>
      <p:sp>
        <p:nvSpPr>
          <p:cNvPr id="19" name="TextBox 18"/>
          <p:cNvSpPr txBox="1"/>
          <p:nvPr/>
        </p:nvSpPr>
        <p:spPr>
          <a:xfrm>
            <a:off x="4248621" y="27706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Verbinden</a:t>
            </a:r>
          </a:p>
        </p:txBody>
      </p:sp>
      <p:cxnSp>
        <p:nvCxnSpPr>
          <p:cNvPr id="20" name="Connector 19"/>
          <p:cNvCxnSpPr/>
          <p:nvPr/>
        </p:nvCxnSpPr>
        <p:spPr>
          <a:xfrm>
            <a:off x="4248621" y="3136391"/>
            <a:ext cx="3694453" cy="0"/>
          </a:xfrm>
          <a:prstGeom prst="line">
            <a:avLst/>
          </a:prstGeom>
          <a:ln w="9525">
            <a:solidFill>
              <a:srgbClr val="D6D6D6"/>
            </a:solidFill>
          </a:ln>
        </p:spPr>
      </p:cxnSp>
      <p:sp>
        <p:nvSpPr>
          <p:cNvPr id="21" name="TextBox 20"/>
          <p:cNvSpPr txBox="1"/>
          <p:nvPr/>
        </p:nvSpPr>
        <p:spPr>
          <a:xfrm>
            <a:off x="4248621" y="32278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Metadata: tabellen en kolommen</a:t>
            </a:r>
          </a:p>
        </p:txBody>
      </p:sp>
      <p:cxnSp>
        <p:nvCxnSpPr>
          <p:cNvPr id="22" name="Connector 21"/>
          <p:cNvCxnSpPr/>
          <p:nvPr/>
        </p:nvCxnSpPr>
        <p:spPr>
          <a:xfrm>
            <a:off x="4248621" y="3593591"/>
            <a:ext cx="3694453" cy="0"/>
          </a:xfrm>
          <a:prstGeom prst="line">
            <a:avLst/>
          </a:prstGeom>
          <a:ln w="9525">
            <a:solidFill>
              <a:srgbClr val="D6D6D6"/>
            </a:solidFill>
          </a:ln>
        </p:spPr>
      </p:cxnSp>
      <p:sp>
        <p:nvSpPr>
          <p:cNvPr id="23" name="TextBox 22"/>
          <p:cNvSpPr txBox="1"/>
          <p:nvPr/>
        </p:nvSpPr>
        <p:spPr>
          <a:xfrm>
            <a:off x="4248621" y="36850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Data en queries</a:t>
            </a:r>
          </a:p>
        </p:txBody>
      </p:sp>
      <p:cxnSp>
        <p:nvCxnSpPr>
          <p:cNvPr id="24" name="Connector 23"/>
          <p:cNvCxnSpPr/>
          <p:nvPr/>
        </p:nvCxnSpPr>
        <p:spPr>
          <a:xfrm>
            <a:off x="4248621" y="4050791"/>
            <a:ext cx="3694453" cy="0"/>
          </a:xfrm>
          <a:prstGeom prst="line">
            <a:avLst/>
          </a:prstGeom>
          <a:ln w="9525">
            <a:solidFill>
              <a:srgbClr val="D6D6D6"/>
            </a:solidFill>
          </a:ln>
        </p:spPr>
      </p:cxnSp>
      <p:sp>
        <p:nvSpPr>
          <p:cNvPr id="25" name="TextBox 24"/>
          <p:cNvSpPr txBox="1"/>
          <p:nvPr/>
        </p:nvSpPr>
        <p:spPr>
          <a:xfrm>
            <a:off x="4248621" y="41422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Security-rollen</a:t>
            </a:r>
          </a:p>
        </p:txBody>
      </p:sp>
      <p:cxnSp>
        <p:nvCxnSpPr>
          <p:cNvPr id="26" name="Connector 25"/>
          <p:cNvCxnSpPr/>
          <p:nvPr/>
        </p:nvCxnSpPr>
        <p:spPr>
          <a:xfrm>
            <a:off x="4248621" y="4507992"/>
            <a:ext cx="3694453" cy="0"/>
          </a:xfrm>
          <a:prstGeom prst="line">
            <a:avLst/>
          </a:prstGeom>
          <a:ln w="9525">
            <a:solidFill>
              <a:srgbClr val="D6D6D6"/>
            </a:solidFill>
          </a:ln>
        </p:spPr>
      </p:cxnSp>
      <p:sp>
        <p:nvSpPr>
          <p:cNvPr id="27" name="TextBox 26"/>
          <p:cNvSpPr txBox="1"/>
          <p:nvPr/>
        </p:nvSpPr>
        <p:spPr>
          <a:xfrm>
            <a:off x="4248621" y="45994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Solutions</a:t>
            </a:r>
          </a:p>
        </p:txBody>
      </p:sp>
      <p:cxnSp>
        <p:nvCxnSpPr>
          <p:cNvPr id="28" name="Connector 27"/>
          <p:cNvCxnSpPr/>
          <p:nvPr/>
        </p:nvCxnSpPr>
        <p:spPr>
          <a:xfrm>
            <a:off x="8127796" y="1783080"/>
            <a:ext cx="3694453" cy="0"/>
          </a:xfrm>
          <a:prstGeom prst="line">
            <a:avLst/>
          </a:prstGeom>
          <a:ln w="9525">
            <a:solidFill>
              <a:srgbClr val="1F1F1F"/>
            </a:solidFill>
          </a:ln>
        </p:spPr>
      </p:cxnSp>
      <p:sp>
        <p:nvSpPr>
          <p:cNvPr id="29" name="TextBox 28"/>
          <p:cNvSpPr txBox="1"/>
          <p:nvPr/>
        </p:nvSpPr>
        <p:spPr>
          <a:xfrm>
            <a:off x="8127796" y="1920240"/>
            <a:ext cx="3694453" cy="36576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SemiBold"/>
              </a:rPr>
              <a:t>Matt Pocock skills</a:t>
            </a:r>
          </a:p>
        </p:txBody>
      </p:sp>
      <p:sp>
        <p:nvSpPr>
          <p:cNvPr id="30" name="TextBox 29"/>
          <p:cNvSpPr txBox="1"/>
          <p:nvPr/>
        </p:nvSpPr>
        <p:spPr>
          <a:xfrm>
            <a:off x="8127796" y="2286000"/>
            <a:ext cx="3694453"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OVER DE WERKWIJZE</a:t>
            </a:r>
          </a:p>
        </p:txBody>
      </p:sp>
      <p:cxnSp>
        <p:nvCxnSpPr>
          <p:cNvPr id="31" name="Connector 30"/>
          <p:cNvCxnSpPr/>
          <p:nvPr/>
        </p:nvCxnSpPr>
        <p:spPr>
          <a:xfrm>
            <a:off x="8127796" y="2679191"/>
            <a:ext cx="3694453" cy="0"/>
          </a:xfrm>
          <a:prstGeom prst="line">
            <a:avLst/>
          </a:prstGeom>
          <a:ln w="9525">
            <a:solidFill>
              <a:srgbClr val="D6D6D6"/>
            </a:solidFill>
          </a:ln>
        </p:spPr>
      </p:cxnSp>
      <p:sp>
        <p:nvSpPr>
          <p:cNvPr id="32" name="TextBox 31"/>
          <p:cNvSpPr txBox="1"/>
          <p:nvPr/>
        </p:nvSpPr>
        <p:spPr>
          <a:xfrm>
            <a:off x="8127796" y="27706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Wayfinder: kaart van beslissingen</a:t>
            </a:r>
          </a:p>
        </p:txBody>
      </p:sp>
      <p:cxnSp>
        <p:nvCxnSpPr>
          <p:cNvPr id="33" name="Connector 32"/>
          <p:cNvCxnSpPr/>
          <p:nvPr/>
        </p:nvCxnSpPr>
        <p:spPr>
          <a:xfrm>
            <a:off x="8127796" y="3136391"/>
            <a:ext cx="3694453" cy="0"/>
          </a:xfrm>
          <a:prstGeom prst="line">
            <a:avLst/>
          </a:prstGeom>
          <a:ln w="9525">
            <a:solidFill>
              <a:srgbClr val="D6D6D6"/>
            </a:solidFill>
          </a:ln>
        </p:spPr>
      </p:cxnSp>
      <p:sp>
        <p:nvSpPr>
          <p:cNvPr id="34" name="TextBox 33"/>
          <p:cNvSpPr txBox="1"/>
          <p:nvPr/>
        </p:nvSpPr>
        <p:spPr>
          <a:xfrm>
            <a:off x="8127796" y="3227832"/>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Grilling: vragen met aanbeveling</a:t>
            </a:r>
          </a:p>
        </p:txBody>
      </p:sp>
      <p:cxnSp>
        <p:nvCxnSpPr>
          <p:cNvPr id="35" name="Connector 34"/>
          <p:cNvCxnSpPr/>
          <p:nvPr/>
        </p:nvCxnSpPr>
        <p:spPr>
          <a:xfrm>
            <a:off x="8127796" y="3593591"/>
            <a:ext cx="3694453" cy="0"/>
          </a:xfrm>
          <a:prstGeom prst="line">
            <a:avLst/>
          </a:prstGeom>
          <a:ln w="9525">
            <a:solidFill>
              <a:srgbClr val="D6D6D6"/>
            </a:solidFill>
          </a:ln>
        </p:spPr>
      </p:cxnSp>
      <p:sp>
        <p:nvSpPr>
          <p:cNvPr id="36" name="TextBox 35"/>
          <p:cNvSpPr txBox="1"/>
          <p:nvPr/>
        </p:nvSpPr>
        <p:spPr>
          <a:xfrm>
            <a:off x="8127796" y="36850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Prototype: drie UI-varianten</a:t>
            </a:r>
          </a:p>
        </p:txBody>
      </p:sp>
      <p:cxnSp>
        <p:nvCxnSpPr>
          <p:cNvPr id="37" name="Connector 36"/>
          <p:cNvCxnSpPr/>
          <p:nvPr/>
        </p:nvCxnSpPr>
        <p:spPr>
          <a:xfrm>
            <a:off x="8127796" y="4050791"/>
            <a:ext cx="3694453" cy="0"/>
          </a:xfrm>
          <a:prstGeom prst="line">
            <a:avLst/>
          </a:prstGeom>
          <a:ln w="9525">
            <a:solidFill>
              <a:srgbClr val="D6D6D6"/>
            </a:solidFill>
          </a:ln>
        </p:spPr>
      </p:cxnSp>
      <p:sp>
        <p:nvSpPr>
          <p:cNvPr id="38" name="TextBox 37"/>
          <p:cNvSpPr txBox="1"/>
          <p:nvPr/>
        </p:nvSpPr>
        <p:spPr>
          <a:xfrm>
            <a:off x="8127796" y="41422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Research en domain modeling</a:t>
            </a:r>
          </a:p>
        </p:txBody>
      </p:sp>
      <p:cxnSp>
        <p:nvCxnSpPr>
          <p:cNvPr id="39" name="Connector 38"/>
          <p:cNvCxnSpPr/>
          <p:nvPr/>
        </p:nvCxnSpPr>
        <p:spPr>
          <a:xfrm>
            <a:off x="8127796" y="4507992"/>
            <a:ext cx="3694453" cy="0"/>
          </a:xfrm>
          <a:prstGeom prst="line">
            <a:avLst/>
          </a:prstGeom>
          <a:ln w="9525">
            <a:solidFill>
              <a:srgbClr val="D6D6D6"/>
            </a:solidFill>
          </a:ln>
        </p:spPr>
      </p:cxnSp>
      <p:sp>
        <p:nvSpPr>
          <p:cNvPr id="40" name="TextBox 39"/>
          <p:cNvSpPr txBox="1"/>
          <p:nvPr/>
        </p:nvSpPr>
        <p:spPr>
          <a:xfrm>
            <a:off x="8127796" y="4599431"/>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TDD, code review en pull requests</a:t>
            </a:r>
          </a:p>
        </p:txBody>
      </p:sp>
      <p:cxnSp>
        <p:nvCxnSpPr>
          <p:cNvPr id="41" name="Connector 40"/>
          <p:cNvCxnSpPr/>
          <p:nvPr/>
        </p:nvCxnSpPr>
        <p:spPr>
          <a:xfrm>
            <a:off x="369445" y="5074920"/>
            <a:ext cx="11452804" cy="0"/>
          </a:xfrm>
          <a:prstGeom prst="line">
            <a:avLst/>
          </a:prstGeom>
          <a:ln w="9525">
            <a:solidFill>
              <a:srgbClr val="1F1F1F"/>
            </a:solidFill>
          </a:ln>
        </p:spPr>
      </p:cxnSp>
      <p:sp>
        <p:nvSpPr>
          <p:cNvPr id="42" name="TextBox 41"/>
          <p:cNvSpPr txBox="1"/>
          <p:nvPr/>
        </p:nvSpPr>
        <p:spPr>
          <a:xfrm>
            <a:off x="369445" y="5212080"/>
            <a:ext cx="11452804" cy="457200"/>
          </a:xfrm>
          <a:prstGeom prst="rect">
            <a:avLst/>
          </a:prstGeom>
          <a:noFill/>
        </p:spPr>
        <p:txBody>
          <a:bodyPr wrap="square" lIns="0" rIns="0" tIns="0" bIns="0" anchor="t">
            <a:spAutoFit/>
          </a:bodyPr>
          <a:lstStyle/>
          <a:p>
            <a:pPr algn="l">
              <a:lnSpc>
                <a:spcPct val="112000"/>
              </a:lnSpc>
            </a:pPr>
            <a:r>
              <a:rPr sz="2200" b="0" lang="nl-NL">
                <a:solidFill>
                  <a:srgbClr val="1F1F1F"/>
                </a:solidFill>
                <a:latin typeface="Montserrat"/>
              </a:rPr>
              <a:t>Een skill is een beschreven werkwijze voor Claude: zo doe je dit.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WERKWIJZE</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Matt Pocock: echte engineering, geen vibe coding</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6</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TextBox 5"/>
          <p:cNvSpPr txBox="1"/>
          <p:nvPr/>
        </p:nvSpPr>
        <p:spPr>
          <a:xfrm>
            <a:off x="369445" y="1783080"/>
            <a:ext cx="3511573" cy="1463040"/>
          </a:xfrm>
          <a:prstGeom prst="rect">
            <a:avLst/>
          </a:prstGeom>
          <a:noFill/>
        </p:spPr>
        <p:txBody>
          <a:bodyPr wrap="square" lIns="0" rIns="0" tIns="0" bIns="0" anchor="t">
            <a:spAutoFit/>
          </a:bodyPr>
          <a:lstStyle/>
          <a:p>
            <a:pPr algn="l">
              <a:lnSpc>
                <a:spcPct val="110000"/>
              </a:lnSpc>
            </a:pPr>
            <a:r>
              <a:rPr sz="2100" b="0" lang="nl-NL">
                <a:solidFill>
                  <a:srgbClr val="1F1F1F"/>
                </a:solidFill>
                <a:latin typeface="Montserrat"/>
              </a:rPr>
              <a:t>De basis van goed software bouwen telt meer dan ooit.</a:t>
            </a:r>
          </a:p>
        </p:txBody>
      </p:sp>
      <p:sp>
        <p:nvSpPr>
          <p:cNvPr id="7" name="TextBox 6"/>
          <p:cNvSpPr txBox="1"/>
          <p:nvPr/>
        </p:nvSpPr>
        <p:spPr>
          <a:xfrm>
            <a:off x="369445" y="3337560"/>
            <a:ext cx="3511573" cy="2377440"/>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Matt Pocock is bekend van Total TypeScript en schrijft nu over AI-ontwikkeling (AI Hero). Zijn skills zijn klein, aan te passen en werken met elk model.</a:t>
            </a:r>
          </a:p>
          <a:p>
            <a:pPr algn="l">
              <a:lnSpc>
                <a:spcPct val="112000"/>
              </a:lnSpc>
              <a:spcBef>
                <a:spcPts val="800"/>
              </a:spcBef>
            </a:pPr>
            <a:r>
              <a:rPr sz="1250" b="0" lang="nl-NL">
                <a:solidFill>
                  <a:srgbClr val="1F1F1F"/>
                </a:solidFill>
                <a:latin typeface="Roboto"/>
              </a:rPr>
              <a:t>Frameworks als Spec-Kit of BMAD nemen het proces over. Zijn skills niet: jij houdt de regie.</a:t>
            </a:r>
          </a:p>
        </p:txBody>
      </p:sp>
      <p:sp>
        <p:nvSpPr>
          <p:cNvPr id="8" name="TextBox 7"/>
          <p:cNvSpPr txBox="1"/>
          <p:nvPr/>
        </p:nvSpPr>
        <p:spPr>
          <a:xfrm>
            <a:off x="369445" y="5802754"/>
            <a:ext cx="3694453"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Bron: github.com/mattpocock/skills</a:t>
            </a:r>
          </a:p>
        </p:txBody>
      </p:sp>
      <p:sp>
        <p:nvSpPr>
          <p:cNvPr id="9" name="TextBox 8"/>
          <p:cNvSpPr txBox="1"/>
          <p:nvPr/>
        </p:nvSpPr>
        <p:spPr>
          <a:xfrm>
            <a:off x="4248621" y="1783080"/>
            <a:ext cx="2629994"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HET PROBLEEM</a:t>
            </a:r>
          </a:p>
        </p:txBody>
      </p:sp>
      <p:sp>
        <p:nvSpPr>
          <p:cNvPr id="10" name="TextBox 9"/>
          <p:cNvSpPr txBox="1"/>
          <p:nvPr/>
        </p:nvSpPr>
        <p:spPr>
          <a:xfrm>
            <a:off x="7063338" y="1783080"/>
            <a:ext cx="2492834"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DE FIX</a:t>
            </a:r>
          </a:p>
        </p:txBody>
      </p:sp>
      <p:sp>
        <p:nvSpPr>
          <p:cNvPr id="11" name="TextBox 10"/>
          <p:cNvSpPr txBox="1"/>
          <p:nvPr/>
        </p:nvSpPr>
        <p:spPr>
          <a:xfrm>
            <a:off x="9740895" y="1783080"/>
            <a:ext cx="2081354"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BIJ ONS</a:t>
            </a:r>
          </a:p>
        </p:txBody>
      </p:sp>
      <p:cxnSp>
        <p:nvCxnSpPr>
          <p:cNvPr id="12" name="Connector 11"/>
          <p:cNvCxnSpPr/>
          <p:nvPr/>
        </p:nvCxnSpPr>
        <p:spPr>
          <a:xfrm>
            <a:off x="4248621" y="2148840"/>
            <a:ext cx="7573628" cy="0"/>
          </a:xfrm>
          <a:prstGeom prst="line">
            <a:avLst/>
          </a:prstGeom>
          <a:ln w="9525">
            <a:solidFill>
              <a:srgbClr val="1F1F1F"/>
            </a:solidFill>
          </a:ln>
        </p:spPr>
      </p:cxnSp>
      <p:sp>
        <p:nvSpPr>
          <p:cNvPr id="13" name="TextBox 12"/>
          <p:cNvSpPr txBox="1"/>
          <p:nvPr/>
        </p:nvSpPr>
        <p:spPr>
          <a:xfrm>
            <a:off x="4248621" y="2267712"/>
            <a:ext cx="2629994" cy="777240"/>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Doet niet wat ik wil</a:t>
            </a:r>
          </a:p>
          <a:p>
            <a:pPr algn="l">
              <a:lnSpc>
                <a:spcPct val="112000"/>
              </a:lnSpc>
              <a:spcBef>
                <a:spcPts val="300"/>
              </a:spcBef>
            </a:pPr>
            <a:r>
              <a:rPr sz="1000" b="0" lang="nl-NL">
                <a:solidFill>
                  <a:srgbClr val="5F5F5F"/>
                </a:solidFill>
                <a:latin typeface="Roboto"/>
              </a:rPr>
              <a:t>"No-one knows exactly what they want"  ·  Pragmatic Programmer</a:t>
            </a:r>
          </a:p>
        </p:txBody>
      </p:sp>
      <p:sp>
        <p:nvSpPr>
          <p:cNvPr id="14" name="TextBox 13"/>
          <p:cNvSpPr txBox="1"/>
          <p:nvPr/>
        </p:nvSpPr>
        <p:spPr>
          <a:xfrm>
            <a:off x="7063338" y="2286000"/>
            <a:ext cx="2492834" cy="777240"/>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Grilling: de agent vraagt jou eerst uit</a:t>
            </a:r>
          </a:p>
        </p:txBody>
      </p:sp>
      <p:sp>
        <p:nvSpPr>
          <p:cNvPr id="15" name="TextBox 14"/>
          <p:cNvSpPr txBox="1"/>
          <p:nvPr/>
        </p:nvSpPr>
        <p:spPr>
          <a:xfrm>
            <a:off x="9740895" y="2286000"/>
            <a:ext cx="2081354" cy="777240"/>
          </a:xfrm>
          <a:prstGeom prst="rect">
            <a:avLst/>
          </a:prstGeom>
          <a:noFill/>
        </p:spPr>
        <p:txBody>
          <a:bodyPr wrap="square" lIns="0" rIns="0" tIns="0" bIns="0" anchor="t">
            <a:spAutoFit/>
          </a:bodyPr>
          <a:lstStyle/>
          <a:p>
            <a:pPr algn="l">
              <a:lnSpc>
                <a:spcPct val="112000"/>
              </a:lnSpc>
            </a:pPr>
            <a:r>
              <a:rPr sz="1250" b="0" lang="nl-NL">
                <a:solidFill>
                  <a:srgbClr val="5F5F5F"/>
                </a:solidFill>
                <a:latin typeface="Roboto"/>
              </a:rPr>
              <a:t>Wayfinder-kaart en grilling, zoals issue #3</a:t>
            </a:r>
          </a:p>
        </p:txBody>
      </p:sp>
      <p:cxnSp>
        <p:nvCxnSpPr>
          <p:cNvPr id="16" name="Connector 15"/>
          <p:cNvCxnSpPr/>
          <p:nvPr/>
        </p:nvCxnSpPr>
        <p:spPr>
          <a:xfrm>
            <a:off x="4248621" y="3063240"/>
            <a:ext cx="7573628" cy="0"/>
          </a:xfrm>
          <a:prstGeom prst="line">
            <a:avLst/>
          </a:prstGeom>
          <a:ln w="9525">
            <a:solidFill>
              <a:srgbClr val="D6D6D6"/>
            </a:solidFill>
          </a:ln>
        </p:spPr>
      </p:cxnSp>
      <p:sp>
        <p:nvSpPr>
          <p:cNvPr id="17" name="TextBox 16"/>
          <p:cNvSpPr txBox="1"/>
          <p:nvPr/>
        </p:nvSpPr>
        <p:spPr>
          <a:xfrm>
            <a:off x="4248621" y="3182112"/>
            <a:ext cx="2629994" cy="777240"/>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De agent praat te veel</a:t>
            </a:r>
          </a:p>
          <a:p>
            <a:pPr algn="l">
              <a:lnSpc>
                <a:spcPct val="112000"/>
              </a:lnSpc>
              <a:spcBef>
                <a:spcPts val="300"/>
              </a:spcBef>
            </a:pPr>
            <a:r>
              <a:rPr sz="1000" b="0" lang="nl-NL">
                <a:solidFill>
                  <a:srgbClr val="5F5F5F"/>
                </a:solidFill>
                <a:latin typeface="Roboto"/>
              </a:rPr>
              <a:t>Gedeelde taal  ·  Eric Evans, Domain-Driven Design</a:t>
            </a:r>
          </a:p>
        </p:txBody>
      </p:sp>
      <p:sp>
        <p:nvSpPr>
          <p:cNvPr id="18" name="TextBox 17"/>
          <p:cNvSpPr txBox="1"/>
          <p:nvPr/>
        </p:nvSpPr>
        <p:spPr>
          <a:xfrm>
            <a:off x="7063338" y="3200400"/>
            <a:ext cx="2492834" cy="777240"/>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Eén woordenlijst en vastgelegde keuzes</a:t>
            </a:r>
          </a:p>
        </p:txBody>
      </p:sp>
      <p:sp>
        <p:nvSpPr>
          <p:cNvPr id="19" name="TextBox 18"/>
          <p:cNvSpPr txBox="1"/>
          <p:nvPr/>
        </p:nvSpPr>
        <p:spPr>
          <a:xfrm>
            <a:off x="9740895" y="3200400"/>
            <a:ext cx="2081354" cy="777240"/>
          </a:xfrm>
          <a:prstGeom prst="rect">
            <a:avLst/>
          </a:prstGeom>
          <a:noFill/>
        </p:spPr>
        <p:txBody>
          <a:bodyPr wrap="square" lIns="0" rIns="0" tIns="0" bIns="0" anchor="t">
            <a:spAutoFit/>
          </a:bodyPr>
          <a:lstStyle/>
          <a:p>
            <a:pPr algn="l">
              <a:lnSpc>
                <a:spcPct val="112000"/>
              </a:lnSpc>
            </a:pPr>
            <a:r>
              <a:rPr sz="1250" b="0" lang="nl-NL">
                <a:solidFill>
                  <a:srgbClr val="5F5F5F"/>
                </a:solidFill>
                <a:latin typeface="Roboto"/>
              </a:rPr>
              <a:t>GLOSSARY.md: "Opportunity", niet "Deal". ADR 0001-0003</a:t>
            </a:r>
          </a:p>
        </p:txBody>
      </p:sp>
      <p:cxnSp>
        <p:nvCxnSpPr>
          <p:cNvPr id="20" name="Connector 19"/>
          <p:cNvCxnSpPr/>
          <p:nvPr/>
        </p:nvCxnSpPr>
        <p:spPr>
          <a:xfrm>
            <a:off x="4248621" y="3977639"/>
            <a:ext cx="7573628" cy="0"/>
          </a:xfrm>
          <a:prstGeom prst="line">
            <a:avLst/>
          </a:prstGeom>
          <a:ln w="9525">
            <a:solidFill>
              <a:srgbClr val="D6D6D6"/>
            </a:solidFill>
          </a:ln>
        </p:spPr>
      </p:cxnSp>
      <p:sp>
        <p:nvSpPr>
          <p:cNvPr id="21" name="TextBox 20"/>
          <p:cNvSpPr txBox="1"/>
          <p:nvPr/>
        </p:nvSpPr>
        <p:spPr>
          <a:xfrm>
            <a:off x="4248621" y="4096511"/>
            <a:ext cx="2629994" cy="777240"/>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De code werkt niet</a:t>
            </a:r>
          </a:p>
          <a:p>
            <a:pPr algn="l">
              <a:lnSpc>
                <a:spcPct val="112000"/>
              </a:lnSpc>
              <a:spcBef>
                <a:spcPts val="300"/>
              </a:spcBef>
            </a:pPr>
            <a:r>
              <a:rPr sz="1000" b="0" lang="nl-NL">
                <a:solidFill>
                  <a:srgbClr val="5F5F5F"/>
                </a:solidFill>
                <a:latin typeface="Roboto"/>
              </a:rPr>
              <a:t>"The rate of feedback is your speed limit"  ·  Pragmatic Programmer</a:t>
            </a:r>
          </a:p>
        </p:txBody>
      </p:sp>
      <p:sp>
        <p:nvSpPr>
          <p:cNvPr id="22" name="TextBox 21"/>
          <p:cNvSpPr txBox="1"/>
          <p:nvPr/>
        </p:nvSpPr>
        <p:spPr>
          <a:xfrm>
            <a:off x="7063338" y="4114800"/>
            <a:ext cx="2492834" cy="777240"/>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Snelle feedback: types, tests eerst (TDD), kleine stappen</a:t>
            </a:r>
          </a:p>
        </p:txBody>
      </p:sp>
      <p:sp>
        <p:nvSpPr>
          <p:cNvPr id="23" name="TextBox 22"/>
          <p:cNvSpPr txBox="1"/>
          <p:nvPr/>
        </p:nvSpPr>
        <p:spPr>
          <a:xfrm>
            <a:off x="9740895" y="4114800"/>
            <a:ext cx="2081354" cy="777240"/>
          </a:xfrm>
          <a:prstGeom prst="rect">
            <a:avLst/>
          </a:prstGeom>
          <a:noFill/>
        </p:spPr>
        <p:txBody>
          <a:bodyPr wrap="square" lIns="0" rIns="0" tIns="0" bIns="0" anchor="t">
            <a:spAutoFit/>
          </a:bodyPr>
          <a:lstStyle/>
          <a:p>
            <a:pPr algn="l">
              <a:lnSpc>
                <a:spcPct val="112000"/>
              </a:lnSpc>
            </a:pPr>
            <a:r>
              <a:rPr sz="1250" b="0" lang="nl-NL">
                <a:solidFill>
                  <a:srgbClr val="5F5F5F"/>
                </a:solidFill>
                <a:latin typeface="Roboto"/>
              </a:rPr>
              <a:t>Ruim 40 testbestanden, CI bij elke pull request</a:t>
            </a:r>
          </a:p>
        </p:txBody>
      </p:sp>
      <p:cxnSp>
        <p:nvCxnSpPr>
          <p:cNvPr id="24" name="Connector 23"/>
          <p:cNvCxnSpPr/>
          <p:nvPr/>
        </p:nvCxnSpPr>
        <p:spPr>
          <a:xfrm>
            <a:off x="4248621" y="4892040"/>
            <a:ext cx="7573628" cy="0"/>
          </a:xfrm>
          <a:prstGeom prst="line">
            <a:avLst/>
          </a:prstGeom>
          <a:ln w="9525">
            <a:solidFill>
              <a:srgbClr val="D6D6D6"/>
            </a:solidFill>
          </a:ln>
        </p:spPr>
      </p:cxnSp>
      <p:sp>
        <p:nvSpPr>
          <p:cNvPr id="25" name="TextBox 24"/>
          <p:cNvSpPr txBox="1"/>
          <p:nvPr/>
        </p:nvSpPr>
        <p:spPr>
          <a:xfrm>
            <a:off x="4248621" y="5010912"/>
            <a:ext cx="2629994" cy="777240"/>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Een grote modderbal</a:t>
            </a:r>
          </a:p>
          <a:p>
            <a:pPr algn="l">
              <a:lnSpc>
                <a:spcPct val="112000"/>
              </a:lnSpc>
              <a:spcBef>
                <a:spcPts val="300"/>
              </a:spcBef>
            </a:pPr>
            <a:r>
              <a:rPr sz="1000" b="0" lang="nl-NL">
                <a:solidFill>
                  <a:srgbClr val="5F5F5F"/>
                </a:solidFill>
                <a:latin typeface="Roboto"/>
              </a:rPr>
              <a:t>Kent Beck en John Ousterhout, A Philosophy of Software Design</a:t>
            </a:r>
          </a:p>
        </p:txBody>
      </p:sp>
      <p:sp>
        <p:nvSpPr>
          <p:cNvPr id="26" name="TextBox 25"/>
          <p:cNvSpPr txBox="1"/>
          <p:nvPr/>
        </p:nvSpPr>
        <p:spPr>
          <a:xfrm>
            <a:off x="7063338" y="5029200"/>
            <a:ext cx="2492834" cy="777240"/>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Elke dag aan het ontwerp werken: diepe modules, simpele interface</a:t>
            </a:r>
          </a:p>
        </p:txBody>
      </p:sp>
      <p:sp>
        <p:nvSpPr>
          <p:cNvPr id="27" name="TextBox 26"/>
          <p:cNvSpPr txBox="1"/>
          <p:nvPr/>
        </p:nvSpPr>
        <p:spPr>
          <a:xfrm>
            <a:off x="9740895" y="5029200"/>
            <a:ext cx="2081354" cy="777240"/>
          </a:xfrm>
          <a:prstGeom prst="rect">
            <a:avLst/>
          </a:prstGeom>
          <a:noFill/>
        </p:spPr>
        <p:txBody>
          <a:bodyPr wrap="square" lIns="0" rIns="0" tIns="0" bIns="0" anchor="t">
            <a:spAutoFit/>
          </a:bodyPr>
          <a:lstStyle/>
          <a:p>
            <a:pPr algn="l">
              <a:lnSpc>
                <a:spcPct val="112000"/>
              </a:lnSpc>
            </a:pPr>
            <a:r>
              <a:rPr sz="1250" b="0" lang="nl-NL">
                <a:solidFill>
                  <a:srgbClr val="5F5F5F"/>
                </a:solidFill>
                <a:latin typeface="Roboto"/>
              </a:rPr>
              <a:t>SalesGateway: één interface tussen app en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STAP 1</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Wayfinder: een kaart van beslissingen</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7</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4987511" cy="0"/>
          </a:xfrm>
          <a:prstGeom prst="line">
            <a:avLst/>
          </a:prstGeom>
          <a:ln w="9525">
            <a:solidFill>
              <a:srgbClr val="1F1F1F"/>
            </a:solidFill>
          </a:ln>
        </p:spPr>
      </p:cxnSp>
      <p:sp>
        <p:nvSpPr>
          <p:cNvPr id="7" name="TextBox 6"/>
          <p:cNvSpPr txBox="1"/>
          <p:nvPr/>
        </p:nvSpPr>
        <p:spPr>
          <a:xfrm>
            <a:off x="369445" y="1892807"/>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Begint met het doel</a:t>
            </a:r>
          </a:p>
          <a:p>
            <a:pPr algn="l">
              <a:lnSpc>
                <a:spcPct val="112000"/>
              </a:lnSpc>
              <a:spcBef>
                <a:spcPts val="200"/>
              </a:spcBef>
            </a:pPr>
            <a:r>
              <a:rPr sz="1250" b="0" lang="nl-NL">
                <a:solidFill>
                  <a:srgbClr val="5F5F5F"/>
                </a:solidFill>
                <a:latin typeface="Roboto"/>
              </a:rPr>
              <a:t>"Een bouwbare spec voor v1"</a:t>
            </a:r>
          </a:p>
        </p:txBody>
      </p:sp>
      <p:cxnSp>
        <p:nvCxnSpPr>
          <p:cNvPr id="8" name="Connector 7"/>
          <p:cNvCxnSpPr/>
          <p:nvPr/>
        </p:nvCxnSpPr>
        <p:spPr>
          <a:xfrm>
            <a:off x="369445" y="2651760"/>
            <a:ext cx="4987511" cy="0"/>
          </a:xfrm>
          <a:prstGeom prst="line">
            <a:avLst/>
          </a:prstGeom>
          <a:ln w="9525">
            <a:solidFill>
              <a:srgbClr val="D6D6D6"/>
            </a:solidFill>
          </a:ln>
        </p:spPr>
      </p:cxnSp>
      <p:sp>
        <p:nvSpPr>
          <p:cNvPr id="9" name="TextBox 8"/>
          <p:cNvSpPr txBox="1"/>
          <p:nvPr/>
        </p:nvSpPr>
        <p:spPr>
          <a:xfrm>
            <a:off x="369445" y="276148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Maakt een kaart in GitHub</a:t>
            </a:r>
          </a:p>
          <a:p>
            <a:pPr algn="l">
              <a:lnSpc>
                <a:spcPct val="112000"/>
              </a:lnSpc>
              <a:spcBef>
                <a:spcPts val="200"/>
              </a:spcBef>
            </a:pPr>
            <a:r>
              <a:rPr sz="1250" b="0" lang="nl-NL">
                <a:solidFill>
                  <a:srgbClr val="5F5F5F"/>
                </a:solidFill>
                <a:latin typeface="Roboto"/>
              </a:rPr>
              <a:t>Een issue met beslispunten als tickets</a:t>
            </a:r>
          </a:p>
        </p:txBody>
      </p:sp>
      <p:cxnSp>
        <p:nvCxnSpPr>
          <p:cNvPr id="10" name="Connector 9"/>
          <p:cNvCxnSpPr/>
          <p:nvPr/>
        </p:nvCxnSpPr>
        <p:spPr>
          <a:xfrm>
            <a:off x="369445" y="3520439"/>
            <a:ext cx="4987511" cy="0"/>
          </a:xfrm>
          <a:prstGeom prst="line">
            <a:avLst/>
          </a:prstGeom>
          <a:ln w="9525">
            <a:solidFill>
              <a:srgbClr val="D6D6D6"/>
            </a:solidFill>
          </a:ln>
        </p:spPr>
      </p:cxnSp>
      <p:sp>
        <p:nvSpPr>
          <p:cNvPr id="11" name="TextBox 10"/>
          <p:cNvSpPr txBox="1"/>
          <p:nvPr/>
        </p:nvSpPr>
        <p:spPr>
          <a:xfrm>
            <a:off x="369445" y="363016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Elk ticket is onderzoek, uitvraag of prototype</a:t>
            </a:r>
          </a:p>
        </p:txBody>
      </p:sp>
      <p:cxnSp>
        <p:nvCxnSpPr>
          <p:cNvPr id="12" name="Connector 11"/>
          <p:cNvCxnSpPr/>
          <p:nvPr/>
        </p:nvCxnSpPr>
        <p:spPr>
          <a:xfrm>
            <a:off x="369445" y="4389120"/>
            <a:ext cx="4987511" cy="0"/>
          </a:xfrm>
          <a:prstGeom prst="line">
            <a:avLst/>
          </a:prstGeom>
          <a:ln w="9525">
            <a:solidFill>
              <a:srgbClr val="D6D6D6"/>
            </a:solidFill>
          </a:ln>
        </p:spPr>
      </p:cxnSp>
      <p:sp>
        <p:nvSpPr>
          <p:cNvPr id="13" name="TextBox 12"/>
          <p:cNvSpPr txBox="1"/>
          <p:nvPr/>
        </p:nvSpPr>
        <p:spPr>
          <a:xfrm>
            <a:off x="369445" y="449884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Voortgang zichtbaar</a:t>
            </a:r>
          </a:p>
          <a:p>
            <a:pPr algn="l">
              <a:lnSpc>
                <a:spcPct val="112000"/>
              </a:lnSpc>
              <a:spcBef>
                <a:spcPts val="200"/>
              </a:spcBef>
            </a:pPr>
            <a:r>
              <a:rPr sz="1250" b="0" lang="nl-NL">
                <a:solidFill>
                  <a:srgbClr val="5F5F5F"/>
                </a:solidFill>
                <a:latin typeface="Roboto"/>
              </a:rPr>
              <a:t>Welke vragen zijn nog open?</a:t>
            </a:r>
          </a:p>
        </p:txBody>
      </p:sp>
      <p:sp>
        <p:nvSpPr>
          <p:cNvPr id="14" name="TextBox 13"/>
          <p:cNvSpPr txBox="1"/>
          <p:nvPr/>
        </p:nvSpPr>
        <p:spPr>
          <a:xfrm>
            <a:off x="369445" y="5394960"/>
            <a:ext cx="4987511" cy="54864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a:rPr>
              <a:t>Claude doet voorstellen. Ik besluit.</a:t>
            </a:r>
          </a:p>
        </p:txBody>
      </p:sp>
      <p:sp>
        <p:nvSpPr>
          <p:cNvPr id="15" name="Rounded Rectangle 14"/>
          <p:cNvSpPr/>
          <p:nvPr/>
        </p:nvSpPr>
        <p:spPr>
          <a:xfrm>
            <a:off x="5724559" y="1783080"/>
            <a:ext cx="6097690" cy="4293994"/>
          </a:xfrm>
          <a:prstGeom prst="roundRect">
            <a:avLst>
              <a:gd name="adj" fmla="val 4301"/>
            </a:avLst>
          </a:prstGeom>
          <a:solidFill>
            <a:srgbClr val="F8F8F8"/>
          </a:solidFill>
          <a:ln>
            <a:noFill/>
          </a:ln>
        </p:spPr>
        <p:txBody>
          <a:bodyPr rtlCol="0" anchor="ctr"/>
          <a:lstStyle/>
          <a:p>
            <a:pPr algn="ctr"/>
          </a:p>
        </p:txBody>
      </p:sp>
      <p:sp>
        <p:nvSpPr>
          <p:cNvPr id="16" name="TextBox 15"/>
          <p:cNvSpPr txBox="1"/>
          <p:nvPr/>
        </p:nvSpPr>
        <p:spPr>
          <a:xfrm>
            <a:off x="5953159" y="1947672"/>
            <a:ext cx="5640490" cy="320040"/>
          </a:xfrm>
          <a:prstGeom prst="rect">
            <a:avLst/>
          </a:prstGeom>
          <a:noFill/>
        </p:spPr>
        <p:txBody>
          <a:bodyPr wrap="square" lIns="0" rIns="0" tIns="0" bIns="0" anchor="t">
            <a:spAutoFit/>
          </a:bodyPr>
          <a:lstStyle/>
          <a:p>
            <a:pPr algn="l">
              <a:lnSpc>
                <a:spcPct val="112000"/>
              </a:lnSpc>
            </a:pPr>
            <a:r>
              <a:rPr sz="1400" b="0" lang="nl-NL">
                <a:solidFill>
                  <a:srgbClr val="5F5F5F"/>
                </a:solidFill>
                <a:latin typeface="Montserrat SemiBold"/>
              </a:rPr>
              <a:t>#2  </a:t>
            </a:r>
            <a:r>
              <a:rPr sz="1400" b="0" lang="nl-NL">
                <a:solidFill>
                  <a:srgbClr val="1F1F1F"/>
                </a:solidFill>
                <a:latin typeface="Montserrat SemiBold"/>
              </a:rPr>
              <a:t>Map: v1 sales app spec</a:t>
            </a:r>
          </a:p>
        </p:txBody>
      </p:sp>
      <p:sp>
        <p:nvSpPr>
          <p:cNvPr id="17" name="TextBox 16"/>
          <p:cNvSpPr txBox="1"/>
          <p:nvPr/>
        </p:nvSpPr>
        <p:spPr>
          <a:xfrm>
            <a:off x="5953159" y="2240280"/>
            <a:ext cx="5640490" cy="274320"/>
          </a:xfrm>
          <a:prstGeom prst="rect">
            <a:avLst/>
          </a:prstGeom>
          <a:noFill/>
        </p:spPr>
        <p:txBody>
          <a:bodyPr wrap="square" lIns="0" rIns="0" tIns="0" bIns="0" anchor="t">
            <a:spAutoFit/>
          </a:bodyPr>
          <a:lstStyle/>
          <a:p>
            <a:pPr algn="l">
              <a:lnSpc>
                <a:spcPct val="112000"/>
              </a:lnSpc>
            </a:pPr>
            <a:r>
              <a:rPr sz="950" b="0" lang="nl-NL">
                <a:solidFill>
                  <a:srgbClr val="C514B4"/>
                </a:solidFill>
                <a:latin typeface="Montserrat SemiBold"/>
              </a:rPr>
              <a:t>14 VAN 14 BESLISPUNTEN GESLOTEN</a:t>
            </a:r>
          </a:p>
        </p:txBody>
      </p:sp>
      <p:cxnSp>
        <p:nvCxnSpPr>
          <p:cNvPr id="18" name="Connector 17"/>
          <p:cNvCxnSpPr/>
          <p:nvPr/>
        </p:nvCxnSpPr>
        <p:spPr>
          <a:xfrm>
            <a:off x="5953159" y="2606040"/>
            <a:ext cx="5640490" cy="0"/>
          </a:xfrm>
          <a:prstGeom prst="line">
            <a:avLst/>
          </a:prstGeom>
          <a:ln w="6350">
            <a:solidFill>
              <a:srgbClr val="1F1F1F"/>
            </a:solidFill>
          </a:ln>
        </p:spPr>
      </p:cxnSp>
      <p:sp>
        <p:nvSpPr>
          <p:cNvPr id="19" name="TextBox 18"/>
          <p:cNvSpPr txBox="1"/>
          <p:nvPr/>
        </p:nvSpPr>
        <p:spPr>
          <a:xfrm>
            <a:off x="5953159" y="2660904"/>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20" name="TextBox 19"/>
          <p:cNvSpPr txBox="1"/>
          <p:nvPr/>
        </p:nvSpPr>
        <p:spPr>
          <a:xfrm>
            <a:off x="6821839" y="2651760"/>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#3  </a:t>
            </a:r>
            <a:r>
              <a:rPr sz="1000" b="0" lang="nl-NL">
                <a:solidFill>
                  <a:srgbClr val="1F1F1F"/>
                </a:solidFill>
                <a:latin typeface="Roboto"/>
              </a:rPr>
              <a:t>How a Lead moves from new to qualified or disqualified</a:t>
            </a:r>
          </a:p>
        </p:txBody>
      </p:sp>
      <p:cxnSp>
        <p:nvCxnSpPr>
          <p:cNvPr id="21" name="Connector 20"/>
          <p:cNvCxnSpPr/>
          <p:nvPr/>
        </p:nvCxnSpPr>
        <p:spPr>
          <a:xfrm>
            <a:off x="5953159" y="2844173"/>
            <a:ext cx="5640490" cy="0"/>
          </a:xfrm>
          <a:prstGeom prst="line">
            <a:avLst/>
          </a:prstGeom>
          <a:ln w="6350">
            <a:solidFill>
              <a:srgbClr val="D6D6D6"/>
            </a:solidFill>
          </a:ln>
        </p:spPr>
      </p:cxnSp>
      <p:sp>
        <p:nvSpPr>
          <p:cNvPr id="22" name="TextBox 21"/>
          <p:cNvSpPr txBox="1"/>
          <p:nvPr/>
        </p:nvSpPr>
        <p:spPr>
          <a:xfrm>
            <a:off x="5953159" y="2899037"/>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23" name="TextBox 22"/>
          <p:cNvSpPr txBox="1"/>
          <p:nvPr/>
        </p:nvSpPr>
        <p:spPr>
          <a:xfrm>
            <a:off x="6821839" y="2889893"/>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#4  </a:t>
            </a:r>
            <a:r>
              <a:rPr sz="1000" b="0" lang="nl-NL">
                <a:solidFill>
                  <a:srgbClr val="1F1F1F"/>
                </a:solidFill>
                <a:latin typeface="Roboto"/>
              </a:rPr>
              <a:t>Opportunity stages and how a deal closes</a:t>
            </a:r>
          </a:p>
        </p:txBody>
      </p:sp>
      <p:cxnSp>
        <p:nvCxnSpPr>
          <p:cNvPr id="24" name="Connector 23"/>
          <p:cNvCxnSpPr/>
          <p:nvPr/>
        </p:nvCxnSpPr>
        <p:spPr>
          <a:xfrm>
            <a:off x="5953159" y="3082307"/>
            <a:ext cx="5640490" cy="0"/>
          </a:xfrm>
          <a:prstGeom prst="line">
            <a:avLst/>
          </a:prstGeom>
          <a:ln w="6350">
            <a:solidFill>
              <a:srgbClr val="D6D6D6"/>
            </a:solidFill>
          </a:ln>
        </p:spPr>
      </p:cxnSp>
      <p:sp>
        <p:nvSpPr>
          <p:cNvPr id="25" name="TextBox 24"/>
          <p:cNvSpPr txBox="1"/>
          <p:nvPr/>
        </p:nvSpPr>
        <p:spPr>
          <a:xfrm>
            <a:off x="5953159" y="3137171"/>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26" name="TextBox 25"/>
          <p:cNvSpPr txBox="1"/>
          <p:nvPr/>
        </p:nvSpPr>
        <p:spPr>
          <a:xfrm>
            <a:off x="6821839" y="3128027"/>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#5  </a:t>
            </a:r>
            <a:r>
              <a:rPr sz="1000" b="0" lang="nl-NL">
                <a:solidFill>
                  <a:srgbClr val="1F1F1F"/>
                </a:solidFill>
                <a:latin typeface="Roboto"/>
              </a:rPr>
              <a:t>What Qualify creates when the Account or Contact already exists</a:t>
            </a:r>
          </a:p>
        </p:txBody>
      </p:sp>
      <p:cxnSp>
        <p:nvCxnSpPr>
          <p:cNvPr id="27" name="Connector 26"/>
          <p:cNvCxnSpPr/>
          <p:nvPr/>
        </p:nvCxnSpPr>
        <p:spPr>
          <a:xfrm>
            <a:off x="5953159" y="3320441"/>
            <a:ext cx="5640490" cy="0"/>
          </a:xfrm>
          <a:prstGeom prst="line">
            <a:avLst/>
          </a:prstGeom>
          <a:ln w="6350">
            <a:solidFill>
              <a:srgbClr val="D6D6D6"/>
            </a:solidFill>
          </a:ln>
        </p:spPr>
      </p:cxnSp>
      <p:sp>
        <p:nvSpPr>
          <p:cNvPr id="28" name="TextBox 27"/>
          <p:cNvSpPr txBox="1"/>
          <p:nvPr/>
        </p:nvSpPr>
        <p:spPr>
          <a:xfrm>
            <a:off x="5953159" y="3375305"/>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29" name="TextBox 28"/>
          <p:cNvSpPr txBox="1"/>
          <p:nvPr/>
        </p:nvSpPr>
        <p:spPr>
          <a:xfrm>
            <a:off x="6821839" y="3366161"/>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#6  </a:t>
            </a:r>
            <a:r>
              <a:rPr sz="1000" b="0" lang="nl-NL">
                <a:solidFill>
                  <a:srgbClr val="1F1F1F"/>
                </a:solidFill>
                <a:latin typeface="Roboto"/>
              </a:rPr>
              <a:t>Fields on Lead and Opportunity in v1</a:t>
            </a:r>
          </a:p>
        </p:txBody>
      </p:sp>
      <p:cxnSp>
        <p:nvCxnSpPr>
          <p:cNvPr id="30" name="Connector 29"/>
          <p:cNvCxnSpPr/>
          <p:nvPr/>
        </p:nvCxnSpPr>
        <p:spPr>
          <a:xfrm>
            <a:off x="5953159" y="3558575"/>
            <a:ext cx="5640490" cy="0"/>
          </a:xfrm>
          <a:prstGeom prst="line">
            <a:avLst/>
          </a:prstGeom>
          <a:ln w="6350">
            <a:solidFill>
              <a:srgbClr val="D6D6D6"/>
            </a:solidFill>
          </a:ln>
        </p:spPr>
      </p:cxnSp>
      <p:sp>
        <p:nvSpPr>
          <p:cNvPr id="31" name="TextBox 30"/>
          <p:cNvSpPr txBox="1"/>
          <p:nvPr/>
        </p:nvSpPr>
        <p:spPr>
          <a:xfrm>
            <a:off x="5953159" y="3613439"/>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PROTOTYPE</a:t>
            </a:r>
          </a:p>
        </p:txBody>
      </p:sp>
      <p:sp>
        <p:nvSpPr>
          <p:cNvPr id="32" name="TextBox 31"/>
          <p:cNvSpPr txBox="1"/>
          <p:nvPr/>
        </p:nvSpPr>
        <p:spPr>
          <a:xfrm>
            <a:off x="6821839" y="3604295"/>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#7  </a:t>
            </a:r>
            <a:r>
              <a:rPr sz="1000" b="0" lang="nl-NL">
                <a:solidFill>
                  <a:srgbClr val="1F1F1F"/>
                </a:solidFill>
                <a:latin typeface="Roboto"/>
              </a:rPr>
              <a:t>How the pipeline board should look and behave</a:t>
            </a:r>
          </a:p>
        </p:txBody>
      </p:sp>
      <p:cxnSp>
        <p:nvCxnSpPr>
          <p:cNvPr id="33" name="Connector 32"/>
          <p:cNvCxnSpPr/>
          <p:nvPr/>
        </p:nvCxnSpPr>
        <p:spPr>
          <a:xfrm>
            <a:off x="5953159" y="3796709"/>
            <a:ext cx="5640490" cy="0"/>
          </a:xfrm>
          <a:prstGeom prst="line">
            <a:avLst/>
          </a:prstGeom>
          <a:ln w="6350">
            <a:solidFill>
              <a:srgbClr val="D6D6D6"/>
            </a:solidFill>
          </a:ln>
        </p:spPr>
      </p:cxnSp>
      <p:sp>
        <p:nvSpPr>
          <p:cNvPr id="34" name="TextBox 33"/>
          <p:cNvSpPr txBox="1"/>
          <p:nvPr/>
        </p:nvSpPr>
        <p:spPr>
          <a:xfrm>
            <a:off x="5953159" y="3851573"/>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ONDERZOEK</a:t>
            </a:r>
          </a:p>
        </p:txBody>
      </p:sp>
      <p:sp>
        <p:nvSpPr>
          <p:cNvPr id="35" name="TextBox 34"/>
          <p:cNvSpPr txBox="1"/>
          <p:nvPr/>
        </p:nvSpPr>
        <p:spPr>
          <a:xfrm>
            <a:off x="6821839" y="3842429"/>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#8  </a:t>
            </a:r>
            <a:r>
              <a:rPr sz="1000" b="0" lang="nl-NL">
                <a:solidFill>
                  <a:srgbClr val="1F1F1F"/>
                </a:solidFill>
                <a:latin typeface="Roboto"/>
              </a:rPr>
              <a:t>Dataverse security setup for read-all, owner-and-manager-edit</a:t>
            </a:r>
          </a:p>
        </p:txBody>
      </p:sp>
      <p:cxnSp>
        <p:nvCxnSpPr>
          <p:cNvPr id="36" name="Connector 35"/>
          <p:cNvCxnSpPr/>
          <p:nvPr/>
        </p:nvCxnSpPr>
        <p:spPr>
          <a:xfrm>
            <a:off x="5953159" y="4034843"/>
            <a:ext cx="5640490" cy="0"/>
          </a:xfrm>
          <a:prstGeom prst="line">
            <a:avLst/>
          </a:prstGeom>
          <a:ln w="6350">
            <a:solidFill>
              <a:srgbClr val="D6D6D6"/>
            </a:solidFill>
          </a:ln>
        </p:spPr>
      </p:cxnSp>
      <p:sp>
        <p:nvSpPr>
          <p:cNvPr id="37" name="TextBox 36"/>
          <p:cNvSpPr txBox="1"/>
          <p:nvPr/>
        </p:nvSpPr>
        <p:spPr>
          <a:xfrm>
            <a:off x="5953159" y="4089707"/>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ONDERZOEK</a:t>
            </a:r>
          </a:p>
        </p:txBody>
      </p:sp>
      <p:sp>
        <p:nvSpPr>
          <p:cNvPr id="38" name="TextBox 37"/>
          <p:cNvSpPr txBox="1"/>
          <p:nvPr/>
        </p:nvSpPr>
        <p:spPr>
          <a:xfrm>
            <a:off x="6821839" y="4080563"/>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#9  </a:t>
            </a:r>
            <a:r>
              <a:rPr sz="1000" b="0" lang="nl-NL">
                <a:solidFill>
                  <a:srgbClr val="1F1F1F"/>
                </a:solidFill>
                <a:latin typeface="Roboto"/>
              </a:rPr>
              <a:t>What Power Apps code apps can do with Dataverse today</a:t>
            </a:r>
          </a:p>
        </p:txBody>
      </p:sp>
      <p:cxnSp>
        <p:nvCxnSpPr>
          <p:cNvPr id="39" name="Connector 38"/>
          <p:cNvCxnSpPr/>
          <p:nvPr/>
        </p:nvCxnSpPr>
        <p:spPr>
          <a:xfrm>
            <a:off x="5953159" y="4272977"/>
            <a:ext cx="5640490" cy="0"/>
          </a:xfrm>
          <a:prstGeom prst="line">
            <a:avLst/>
          </a:prstGeom>
          <a:ln w="6350">
            <a:solidFill>
              <a:srgbClr val="D6D6D6"/>
            </a:solidFill>
          </a:ln>
        </p:spPr>
      </p:cxnSp>
      <p:sp>
        <p:nvSpPr>
          <p:cNvPr id="40" name="TextBox 39"/>
          <p:cNvSpPr txBox="1"/>
          <p:nvPr/>
        </p:nvSpPr>
        <p:spPr>
          <a:xfrm>
            <a:off x="5953159" y="4327841"/>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ONDERZOEK</a:t>
            </a:r>
          </a:p>
        </p:txBody>
      </p:sp>
      <p:sp>
        <p:nvSpPr>
          <p:cNvPr id="41" name="TextBox 40"/>
          <p:cNvSpPr txBox="1"/>
          <p:nvPr/>
        </p:nvSpPr>
        <p:spPr>
          <a:xfrm>
            <a:off x="6821839" y="4318697"/>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#10  </a:t>
            </a:r>
            <a:r>
              <a:rPr sz="1000" b="0" lang="nl-NL">
                <a:solidFill>
                  <a:srgbClr val="1F1F1F"/>
                </a:solidFill>
                <a:latin typeface="Roboto"/>
              </a:rPr>
              <a:t>Which Dataverse activity tables fit notes and simple activities</a:t>
            </a:r>
          </a:p>
        </p:txBody>
      </p:sp>
      <p:cxnSp>
        <p:nvCxnSpPr>
          <p:cNvPr id="42" name="Connector 41"/>
          <p:cNvCxnSpPr/>
          <p:nvPr/>
        </p:nvCxnSpPr>
        <p:spPr>
          <a:xfrm>
            <a:off x="5953159" y="4511111"/>
            <a:ext cx="5640490" cy="0"/>
          </a:xfrm>
          <a:prstGeom prst="line">
            <a:avLst/>
          </a:prstGeom>
          <a:ln w="6350">
            <a:solidFill>
              <a:srgbClr val="D6D6D6"/>
            </a:solidFill>
          </a:ln>
        </p:spPr>
      </p:cxnSp>
      <p:sp>
        <p:nvSpPr>
          <p:cNvPr id="43" name="TextBox 42"/>
          <p:cNvSpPr txBox="1"/>
          <p:nvPr/>
        </p:nvSpPr>
        <p:spPr>
          <a:xfrm>
            <a:off x="5953159" y="4565975"/>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TAAK</a:t>
            </a:r>
          </a:p>
        </p:txBody>
      </p:sp>
      <p:sp>
        <p:nvSpPr>
          <p:cNvPr id="44" name="TextBox 43"/>
          <p:cNvSpPr txBox="1"/>
          <p:nvPr/>
        </p:nvSpPr>
        <p:spPr>
          <a:xfrm>
            <a:off x="6821839" y="4556831"/>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#12  </a:t>
            </a:r>
            <a:r>
              <a:rPr sz="1000" b="0" lang="nl-NL">
                <a:solidFill>
                  <a:srgbClr val="1F1F1F"/>
                </a:solidFill>
                <a:latin typeface="Roboto"/>
              </a:rPr>
              <a:t>Can the code app write polymorphic lookups: note, task, owner</a:t>
            </a:r>
          </a:p>
        </p:txBody>
      </p:sp>
      <p:cxnSp>
        <p:nvCxnSpPr>
          <p:cNvPr id="45" name="Connector 44"/>
          <p:cNvCxnSpPr/>
          <p:nvPr/>
        </p:nvCxnSpPr>
        <p:spPr>
          <a:xfrm>
            <a:off x="5953159" y="4749245"/>
            <a:ext cx="5640490" cy="0"/>
          </a:xfrm>
          <a:prstGeom prst="line">
            <a:avLst/>
          </a:prstGeom>
          <a:ln w="6350">
            <a:solidFill>
              <a:srgbClr val="D6D6D6"/>
            </a:solidFill>
          </a:ln>
        </p:spPr>
      </p:cxnSp>
      <p:sp>
        <p:nvSpPr>
          <p:cNvPr id="46" name="TextBox 45"/>
          <p:cNvSpPr txBox="1"/>
          <p:nvPr/>
        </p:nvSpPr>
        <p:spPr>
          <a:xfrm>
            <a:off x="5953159" y="4804109"/>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TAAK</a:t>
            </a:r>
          </a:p>
        </p:txBody>
      </p:sp>
      <p:sp>
        <p:nvSpPr>
          <p:cNvPr id="47" name="TextBox 46"/>
          <p:cNvSpPr txBox="1"/>
          <p:nvPr/>
        </p:nvSpPr>
        <p:spPr>
          <a:xfrm>
            <a:off x="6821839" y="4794965"/>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#13  </a:t>
            </a:r>
            <a:r>
              <a:rPr sz="1000" b="0" lang="nl-NL">
                <a:solidFill>
                  <a:srgbClr val="1F1F1F"/>
                </a:solidFill>
                <a:latin typeface="Roboto"/>
              </a:rPr>
              <a:t>Does manager hierarchy let a manager edit their report's Lead</a:t>
            </a:r>
          </a:p>
        </p:txBody>
      </p:sp>
      <p:cxnSp>
        <p:nvCxnSpPr>
          <p:cNvPr id="48" name="Connector 47"/>
          <p:cNvCxnSpPr/>
          <p:nvPr/>
        </p:nvCxnSpPr>
        <p:spPr>
          <a:xfrm>
            <a:off x="5953159" y="4987379"/>
            <a:ext cx="5640490" cy="0"/>
          </a:xfrm>
          <a:prstGeom prst="line">
            <a:avLst/>
          </a:prstGeom>
          <a:ln w="6350">
            <a:solidFill>
              <a:srgbClr val="D6D6D6"/>
            </a:solidFill>
          </a:ln>
        </p:spPr>
      </p:cxnSp>
      <p:sp>
        <p:nvSpPr>
          <p:cNvPr id="49" name="TextBox 48"/>
          <p:cNvSpPr txBox="1"/>
          <p:nvPr/>
        </p:nvSpPr>
        <p:spPr>
          <a:xfrm>
            <a:off x="5953159" y="5042243"/>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50" name="TextBox 49"/>
          <p:cNvSpPr txBox="1"/>
          <p:nvPr/>
        </p:nvSpPr>
        <p:spPr>
          <a:xfrm>
            <a:off x="6821839" y="5033099"/>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#18  </a:t>
            </a:r>
            <a:r>
              <a:rPr sz="1000" b="0" lang="nl-NL">
                <a:solidFill>
                  <a:srgbClr val="1F1F1F"/>
                </a:solidFill>
                <a:latin typeface="Roboto"/>
              </a:rPr>
              <a:t>Which screens the app has and how a user moves between them</a:t>
            </a:r>
          </a:p>
        </p:txBody>
      </p:sp>
      <p:cxnSp>
        <p:nvCxnSpPr>
          <p:cNvPr id="51" name="Connector 50"/>
          <p:cNvCxnSpPr/>
          <p:nvPr/>
        </p:nvCxnSpPr>
        <p:spPr>
          <a:xfrm>
            <a:off x="5953159" y="5225512"/>
            <a:ext cx="5640490" cy="0"/>
          </a:xfrm>
          <a:prstGeom prst="line">
            <a:avLst/>
          </a:prstGeom>
          <a:ln w="6350">
            <a:solidFill>
              <a:srgbClr val="D6D6D6"/>
            </a:solidFill>
          </a:ln>
        </p:spPr>
      </p:cxnSp>
      <p:sp>
        <p:nvSpPr>
          <p:cNvPr id="52" name="TextBox 51"/>
          <p:cNvSpPr txBox="1"/>
          <p:nvPr/>
        </p:nvSpPr>
        <p:spPr>
          <a:xfrm>
            <a:off x="5953159" y="5280376"/>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53" name="TextBox 52"/>
          <p:cNvSpPr txBox="1"/>
          <p:nvPr/>
        </p:nvSpPr>
        <p:spPr>
          <a:xfrm>
            <a:off x="6821839" y="5271232"/>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#19  </a:t>
            </a:r>
            <a:r>
              <a:rPr sz="1000" b="0" lang="nl-NL">
                <a:solidFill>
                  <a:srgbClr val="1F1F1F"/>
                </a:solidFill>
                <a:latin typeface="Roboto"/>
              </a:rPr>
              <a:t>How the app is packaged and promoted from dev to production</a:t>
            </a:r>
          </a:p>
        </p:txBody>
      </p:sp>
      <p:cxnSp>
        <p:nvCxnSpPr>
          <p:cNvPr id="54" name="Connector 53"/>
          <p:cNvCxnSpPr/>
          <p:nvPr/>
        </p:nvCxnSpPr>
        <p:spPr>
          <a:xfrm>
            <a:off x="5953159" y="5463646"/>
            <a:ext cx="5640490" cy="0"/>
          </a:xfrm>
          <a:prstGeom prst="line">
            <a:avLst/>
          </a:prstGeom>
          <a:ln w="6350">
            <a:solidFill>
              <a:srgbClr val="D6D6D6"/>
            </a:solidFill>
          </a:ln>
        </p:spPr>
      </p:cxnSp>
      <p:sp>
        <p:nvSpPr>
          <p:cNvPr id="55" name="TextBox 54"/>
          <p:cNvSpPr txBox="1"/>
          <p:nvPr/>
        </p:nvSpPr>
        <p:spPr>
          <a:xfrm>
            <a:off x="5953159" y="5518510"/>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56" name="TextBox 55"/>
          <p:cNvSpPr txBox="1"/>
          <p:nvPr/>
        </p:nvSpPr>
        <p:spPr>
          <a:xfrm>
            <a:off x="6821839" y="5509366"/>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#20  </a:t>
            </a:r>
            <a:r>
              <a:rPr sz="1000" b="0" lang="nl-NL">
                <a:solidFill>
                  <a:srgbClr val="1F1F1F"/>
                </a:solidFill>
                <a:latin typeface="Roboto"/>
              </a:rPr>
              <a:t>What sample data v1 ships with for demos and testing</a:t>
            </a:r>
          </a:p>
        </p:txBody>
      </p:sp>
      <p:cxnSp>
        <p:nvCxnSpPr>
          <p:cNvPr id="57" name="Connector 56"/>
          <p:cNvCxnSpPr/>
          <p:nvPr/>
        </p:nvCxnSpPr>
        <p:spPr>
          <a:xfrm>
            <a:off x="5953159" y="5701780"/>
            <a:ext cx="5640490" cy="0"/>
          </a:xfrm>
          <a:prstGeom prst="line">
            <a:avLst/>
          </a:prstGeom>
          <a:ln w="6350">
            <a:solidFill>
              <a:srgbClr val="D6D6D6"/>
            </a:solidFill>
          </a:ln>
        </p:spPr>
      </p:cxnSp>
      <p:sp>
        <p:nvSpPr>
          <p:cNvPr id="58" name="TextBox 57"/>
          <p:cNvSpPr txBox="1"/>
          <p:nvPr/>
        </p:nvSpPr>
        <p:spPr>
          <a:xfrm>
            <a:off x="5953159" y="5756644"/>
            <a:ext cx="868680" cy="238133"/>
          </a:xfrm>
          <a:prstGeom prst="rect">
            <a:avLst/>
          </a:prstGeom>
          <a:noFill/>
        </p:spPr>
        <p:txBody>
          <a:bodyPr wrap="square" lIns="0" rIns="0" tIns="0" bIns="0" anchor="t">
            <a:spAutoFit/>
          </a:bodyPr>
          <a:lstStyle/>
          <a:p>
            <a:pPr algn="l">
              <a:lnSpc>
                <a:spcPct val="112000"/>
              </a:lnSpc>
            </a:pPr>
            <a:r>
              <a:rPr sz="750" b="0" lang="nl-NL">
                <a:solidFill>
                  <a:srgbClr val="5F5F5F"/>
                </a:solidFill>
                <a:latin typeface="Montserrat Medium"/>
              </a:rPr>
              <a:t>UITVRAAG</a:t>
            </a:r>
          </a:p>
        </p:txBody>
      </p:sp>
      <p:sp>
        <p:nvSpPr>
          <p:cNvPr id="59" name="TextBox 58"/>
          <p:cNvSpPr txBox="1"/>
          <p:nvPr/>
        </p:nvSpPr>
        <p:spPr>
          <a:xfrm>
            <a:off x="6821839" y="5747500"/>
            <a:ext cx="4771810" cy="238133"/>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#21  </a:t>
            </a:r>
            <a:r>
              <a:rPr sz="1000" b="0" lang="nl-NL">
                <a:solidFill>
                  <a:srgbClr val="1F1F1F"/>
                </a:solidFill>
                <a:latin typeface="Roboto"/>
              </a:rPr>
              <a:t>Who can reassign a record, and what the sales role is called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STAP 2</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Grilling: vragen met een aanbeveling</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8</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4987511" cy="0"/>
          </a:xfrm>
          <a:prstGeom prst="line">
            <a:avLst/>
          </a:prstGeom>
          <a:ln w="9525">
            <a:solidFill>
              <a:srgbClr val="1F1F1F"/>
            </a:solidFill>
          </a:ln>
        </p:spPr>
      </p:cxnSp>
      <p:sp>
        <p:nvSpPr>
          <p:cNvPr id="7" name="TextBox 6"/>
          <p:cNvSpPr txBox="1"/>
          <p:nvPr/>
        </p:nvSpPr>
        <p:spPr>
          <a:xfrm>
            <a:off x="369445" y="1892807"/>
            <a:ext cx="4987511" cy="60350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Claude stelt genummerde vragen</a:t>
            </a:r>
          </a:p>
        </p:txBody>
      </p:sp>
      <p:cxnSp>
        <p:nvCxnSpPr>
          <p:cNvPr id="8" name="Connector 7"/>
          <p:cNvCxnSpPr/>
          <p:nvPr/>
        </p:nvCxnSpPr>
        <p:spPr>
          <a:xfrm>
            <a:off x="369445" y="2514600"/>
            <a:ext cx="4987511" cy="0"/>
          </a:xfrm>
          <a:prstGeom prst="line">
            <a:avLst/>
          </a:prstGeom>
          <a:ln w="9525">
            <a:solidFill>
              <a:srgbClr val="D6D6D6"/>
            </a:solidFill>
          </a:ln>
        </p:spPr>
      </p:cxnSp>
      <p:sp>
        <p:nvSpPr>
          <p:cNvPr id="9" name="TextBox 8"/>
          <p:cNvSpPr txBox="1"/>
          <p:nvPr/>
        </p:nvSpPr>
        <p:spPr>
          <a:xfrm>
            <a:off x="369445" y="2624328"/>
            <a:ext cx="4987511" cy="60350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Bij elke vraag staat een aanbeveling</a:t>
            </a:r>
          </a:p>
        </p:txBody>
      </p:sp>
      <p:cxnSp>
        <p:nvCxnSpPr>
          <p:cNvPr id="10" name="Connector 9"/>
          <p:cNvCxnSpPr/>
          <p:nvPr/>
        </p:nvCxnSpPr>
        <p:spPr>
          <a:xfrm>
            <a:off x="369445" y="3246120"/>
            <a:ext cx="4987511" cy="0"/>
          </a:xfrm>
          <a:prstGeom prst="line">
            <a:avLst/>
          </a:prstGeom>
          <a:ln w="9525">
            <a:solidFill>
              <a:srgbClr val="D6D6D6"/>
            </a:solidFill>
          </a:ln>
        </p:spPr>
      </p:cxnSp>
      <p:sp>
        <p:nvSpPr>
          <p:cNvPr id="11" name="TextBox 10"/>
          <p:cNvSpPr txBox="1"/>
          <p:nvPr/>
        </p:nvSpPr>
        <p:spPr>
          <a:xfrm>
            <a:off x="369445" y="3355848"/>
            <a:ext cx="4987511" cy="60350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Ik antwoord "ja" of pas aan</a:t>
            </a:r>
          </a:p>
        </p:txBody>
      </p:sp>
      <p:cxnSp>
        <p:nvCxnSpPr>
          <p:cNvPr id="12" name="Connector 11"/>
          <p:cNvCxnSpPr/>
          <p:nvPr/>
        </p:nvCxnSpPr>
        <p:spPr>
          <a:xfrm>
            <a:off x="369445" y="3977640"/>
            <a:ext cx="4987511" cy="0"/>
          </a:xfrm>
          <a:prstGeom prst="line">
            <a:avLst/>
          </a:prstGeom>
          <a:ln w="9525">
            <a:solidFill>
              <a:srgbClr val="D6D6D6"/>
            </a:solidFill>
          </a:ln>
        </p:spPr>
      </p:cxnSp>
      <p:sp>
        <p:nvSpPr>
          <p:cNvPr id="13" name="TextBox 12"/>
          <p:cNvSpPr txBox="1"/>
          <p:nvPr/>
        </p:nvSpPr>
        <p:spPr>
          <a:xfrm>
            <a:off x="369445" y="4087368"/>
            <a:ext cx="4987511" cy="60350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Voorbeeld: de levenscyclus van een Lead</a:t>
            </a:r>
          </a:p>
          <a:p>
            <a:pPr algn="l">
              <a:lnSpc>
                <a:spcPct val="112000"/>
              </a:lnSpc>
              <a:spcBef>
                <a:spcPts val="200"/>
              </a:spcBef>
            </a:pPr>
            <a:r>
              <a:rPr sz="1250" b="0" lang="nl-NL">
                <a:solidFill>
                  <a:srgbClr val="5F5F5F"/>
                </a:solidFill>
                <a:latin typeface="Roboto"/>
              </a:rPr>
              <a:t>Issue #3</a:t>
            </a:r>
          </a:p>
        </p:txBody>
      </p:sp>
      <p:sp>
        <p:nvSpPr>
          <p:cNvPr id="14" name="TextBox 13"/>
          <p:cNvSpPr txBox="1"/>
          <p:nvPr/>
        </p:nvSpPr>
        <p:spPr>
          <a:xfrm>
            <a:off x="5724559" y="1764792"/>
            <a:ext cx="6097690"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Levenscyclus van een Lead (#3)</a:t>
            </a:r>
          </a:p>
        </p:txBody>
      </p:sp>
      <p:cxnSp>
        <p:nvCxnSpPr>
          <p:cNvPr id="15" name="Connector 14"/>
          <p:cNvCxnSpPr/>
          <p:nvPr/>
        </p:nvCxnSpPr>
        <p:spPr>
          <a:xfrm>
            <a:off x="5724559" y="2240280"/>
            <a:ext cx="6097690" cy="0"/>
          </a:xfrm>
          <a:prstGeom prst="line">
            <a:avLst/>
          </a:prstGeom>
          <a:ln w="9525">
            <a:solidFill>
              <a:srgbClr val="1F1F1F"/>
            </a:solidFill>
          </a:ln>
        </p:spPr>
      </p:cxnSp>
      <p:sp>
        <p:nvSpPr>
          <p:cNvPr id="16" name="TextBox 15"/>
          <p:cNvSpPr txBox="1"/>
          <p:nvPr/>
        </p:nvSpPr>
        <p:spPr>
          <a:xfrm>
            <a:off x="5724559" y="2331720"/>
            <a:ext cx="1737360" cy="274320"/>
          </a:xfrm>
          <a:prstGeom prst="rect">
            <a:avLst/>
          </a:prstGeom>
          <a:noFill/>
        </p:spPr>
        <p:txBody>
          <a:bodyPr wrap="square" lIns="0" rIns="0" tIns="0" bIns="0" anchor="t">
            <a:spAutoFit/>
          </a:bodyPr>
          <a:lstStyle/>
          <a:p>
            <a:pPr algn="l">
              <a:lnSpc>
                <a:spcPct val="112000"/>
              </a:lnSpc>
            </a:pPr>
            <a:r>
              <a:rPr sz="950" b="0" lang="nl-NL">
                <a:solidFill>
                  <a:srgbClr val="5F5F5F"/>
                </a:solidFill>
                <a:latin typeface="Montserrat SemiBold"/>
              </a:rPr>
              <a:t>STATUS</a:t>
            </a:r>
          </a:p>
        </p:txBody>
      </p:sp>
      <p:sp>
        <p:nvSpPr>
          <p:cNvPr id="17" name="TextBox 16"/>
          <p:cNvSpPr txBox="1"/>
          <p:nvPr/>
        </p:nvSpPr>
        <p:spPr>
          <a:xfrm>
            <a:off x="7553359" y="2331720"/>
            <a:ext cx="4268890" cy="274320"/>
          </a:xfrm>
          <a:prstGeom prst="rect">
            <a:avLst/>
          </a:prstGeom>
          <a:noFill/>
        </p:spPr>
        <p:txBody>
          <a:bodyPr wrap="square" lIns="0" rIns="0" tIns="0" bIns="0" anchor="t">
            <a:spAutoFit/>
          </a:bodyPr>
          <a:lstStyle/>
          <a:p>
            <a:pPr algn="l">
              <a:lnSpc>
                <a:spcPct val="112000"/>
              </a:lnSpc>
            </a:pPr>
            <a:r>
              <a:rPr sz="950" b="0" lang="nl-NL">
                <a:solidFill>
                  <a:srgbClr val="5F5F5F"/>
                </a:solidFill>
                <a:latin typeface="Montserrat SemiBold"/>
              </a:rPr>
              <a:t>BETEKENIS</a:t>
            </a:r>
          </a:p>
        </p:txBody>
      </p:sp>
      <p:cxnSp>
        <p:nvCxnSpPr>
          <p:cNvPr id="18" name="Connector 17"/>
          <p:cNvCxnSpPr/>
          <p:nvPr/>
        </p:nvCxnSpPr>
        <p:spPr>
          <a:xfrm>
            <a:off x="5724559" y="2651760"/>
            <a:ext cx="6097690" cy="0"/>
          </a:xfrm>
          <a:prstGeom prst="line">
            <a:avLst/>
          </a:prstGeom>
          <a:ln w="9525">
            <a:solidFill>
              <a:srgbClr val="D6D6D6"/>
            </a:solidFill>
          </a:ln>
        </p:spPr>
      </p:cxnSp>
      <p:sp>
        <p:nvSpPr>
          <p:cNvPr id="19" name="TextBox 18"/>
          <p:cNvSpPr txBox="1"/>
          <p:nvPr/>
        </p:nvSpPr>
        <p:spPr>
          <a:xfrm>
            <a:off x="5724559" y="2779776"/>
            <a:ext cx="173736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Not Contacted</a:t>
            </a:r>
          </a:p>
        </p:txBody>
      </p:sp>
      <p:sp>
        <p:nvSpPr>
          <p:cNvPr id="20" name="TextBox 19"/>
          <p:cNvSpPr txBox="1"/>
          <p:nvPr/>
        </p:nvSpPr>
        <p:spPr>
          <a:xfrm>
            <a:off x="7553359" y="2779776"/>
            <a:ext cx="426889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Roboto"/>
              </a:rPr>
              <a:t>Aangemaakt, nog niemand benaderd</a:t>
            </a:r>
          </a:p>
        </p:txBody>
      </p:sp>
      <p:cxnSp>
        <p:nvCxnSpPr>
          <p:cNvPr id="21" name="Connector 20"/>
          <p:cNvCxnSpPr/>
          <p:nvPr/>
        </p:nvCxnSpPr>
        <p:spPr>
          <a:xfrm>
            <a:off x="5724559" y="3154680"/>
            <a:ext cx="6097690" cy="0"/>
          </a:xfrm>
          <a:prstGeom prst="line">
            <a:avLst/>
          </a:prstGeom>
          <a:ln w="9525">
            <a:solidFill>
              <a:srgbClr val="D6D6D6"/>
            </a:solidFill>
          </a:ln>
        </p:spPr>
      </p:cxnSp>
      <p:sp>
        <p:nvSpPr>
          <p:cNvPr id="22" name="TextBox 21"/>
          <p:cNvSpPr txBox="1"/>
          <p:nvPr/>
        </p:nvSpPr>
        <p:spPr>
          <a:xfrm>
            <a:off x="5724559" y="3282696"/>
            <a:ext cx="173736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Working</a:t>
            </a:r>
          </a:p>
        </p:txBody>
      </p:sp>
      <p:sp>
        <p:nvSpPr>
          <p:cNvPr id="23" name="TextBox 22"/>
          <p:cNvSpPr txBox="1"/>
          <p:nvPr/>
        </p:nvSpPr>
        <p:spPr>
          <a:xfrm>
            <a:off x="7553359" y="3282696"/>
            <a:ext cx="426889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Roboto"/>
              </a:rPr>
              <a:t>Owner is in gesprek en beoordeelt de fit</a:t>
            </a:r>
          </a:p>
        </p:txBody>
      </p:sp>
      <p:cxnSp>
        <p:nvCxnSpPr>
          <p:cNvPr id="24" name="Connector 23"/>
          <p:cNvCxnSpPr/>
          <p:nvPr/>
        </p:nvCxnSpPr>
        <p:spPr>
          <a:xfrm>
            <a:off x="5724559" y="3657600"/>
            <a:ext cx="6097690" cy="0"/>
          </a:xfrm>
          <a:prstGeom prst="line">
            <a:avLst/>
          </a:prstGeom>
          <a:ln w="9525">
            <a:solidFill>
              <a:srgbClr val="D6D6D6"/>
            </a:solidFill>
          </a:ln>
        </p:spPr>
      </p:cxnSp>
      <p:sp>
        <p:nvSpPr>
          <p:cNvPr id="25" name="TextBox 24"/>
          <p:cNvSpPr txBox="1"/>
          <p:nvPr/>
        </p:nvSpPr>
        <p:spPr>
          <a:xfrm>
            <a:off x="5724559" y="3785615"/>
            <a:ext cx="173736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Qualified</a:t>
            </a:r>
          </a:p>
        </p:txBody>
      </p:sp>
      <p:sp>
        <p:nvSpPr>
          <p:cNvPr id="26" name="TextBox 25"/>
          <p:cNvSpPr txBox="1"/>
          <p:nvPr/>
        </p:nvSpPr>
        <p:spPr>
          <a:xfrm>
            <a:off x="7553359" y="3785615"/>
            <a:ext cx="426889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Roboto"/>
              </a:rPr>
              <a:t>Qualify maakte een Opportunity. Definitief</a:t>
            </a:r>
          </a:p>
        </p:txBody>
      </p:sp>
      <p:cxnSp>
        <p:nvCxnSpPr>
          <p:cNvPr id="27" name="Connector 26"/>
          <p:cNvCxnSpPr/>
          <p:nvPr/>
        </p:nvCxnSpPr>
        <p:spPr>
          <a:xfrm>
            <a:off x="5724559" y="4160520"/>
            <a:ext cx="6097690" cy="0"/>
          </a:xfrm>
          <a:prstGeom prst="line">
            <a:avLst/>
          </a:prstGeom>
          <a:ln w="9525">
            <a:solidFill>
              <a:srgbClr val="D6D6D6"/>
            </a:solidFill>
          </a:ln>
        </p:spPr>
      </p:cxnSp>
      <p:sp>
        <p:nvSpPr>
          <p:cNvPr id="28" name="TextBox 27"/>
          <p:cNvSpPr txBox="1"/>
          <p:nvPr/>
        </p:nvSpPr>
        <p:spPr>
          <a:xfrm>
            <a:off x="5724559" y="4288536"/>
            <a:ext cx="173736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Disqualified</a:t>
            </a:r>
          </a:p>
        </p:txBody>
      </p:sp>
      <p:sp>
        <p:nvSpPr>
          <p:cNvPr id="29" name="TextBox 28"/>
          <p:cNvSpPr txBox="1"/>
          <p:nvPr/>
        </p:nvSpPr>
        <p:spPr>
          <a:xfrm>
            <a:off x="7553359" y="4288536"/>
            <a:ext cx="4268890"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Roboto"/>
              </a:rPr>
              <a:t>Afgesloten zonder deal. Kan heropend worden</a:t>
            </a:r>
          </a:p>
        </p:txBody>
      </p:sp>
      <p:cxnSp>
        <p:nvCxnSpPr>
          <p:cNvPr id="30" name="Connector 29"/>
          <p:cNvCxnSpPr/>
          <p:nvPr/>
        </p:nvCxnSpPr>
        <p:spPr>
          <a:xfrm>
            <a:off x="5724559" y="4663440"/>
            <a:ext cx="6097690" cy="0"/>
          </a:xfrm>
          <a:prstGeom prst="line">
            <a:avLst/>
          </a:prstGeom>
          <a:ln w="9525">
            <a:solidFill>
              <a:srgbClr val="D6D6D6"/>
            </a:solidFill>
          </a:ln>
        </p:spPr>
      </p:cxnSp>
      <p:sp>
        <p:nvSpPr>
          <p:cNvPr id="31" name="TextBox 30"/>
          <p:cNvSpPr txBox="1"/>
          <p:nvPr/>
        </p:nvSpPr>
        <p:spPr>
          <a:xfrm>
            <a:off x="5724559" y="4937760"/>
            <a:ext cx="6097690" cy="274320"/>
          </a:xfrm>
          <a:prstGeom prst="rect">
            <a:avLst/>
          </a:prstGeom>
          <a:noFill/>
        </p:spPr>
        <p:txBody>
          <a:bodyPr wrap="square" lIns="0" rIns="0" tIns="0" bIns="0" anchor="t">
            <a:spAutoFit/>
          </a:bodyPr>
          <a:lstStyle/>
          <a:p>
            <a:pPr algn="l">
              <a:lnSpc>
                <a:spcPct val="112000"/>
              </a:lnSpc>
            </a:pPr>
            <a:r>
              <a:rPr sz="950" b="0" lang="nl-NL">
                <a:solidFill>
                  <a:srgbClr val="5F5F5F"/>
                </a:solidFill>
                <a:latin typeface="Montserrat SemiBold"/>
              </a:rPr>
              <a:t>REDEN BIJ DISQUALIFY, UIT EEN VASTE LIJST</a:t>
            </a:r>
          </a:p>
        </p:txBody>
      </p:sp>
      <p:sp>
        <p:nvSpPr>
          <p:cNvPr id="32" name="Rounded Rectangle 31"/>
          <p:cNvSpPr/>
          <p:nvPr/>
        </p:nvSpPr>
        <p:spPr>
          <a:xfrm>
            <a:off x="5724559" y="5257800"/>
            <a:ext cx="973836" cy="310896"/>
          </a:xfrm>
          <a:prstGeom prst="roundRect">
            <a:avLst>
              <a:gd name="adj" fmla="val 50000"/>
            </a:avLst>
          </a:prstGeom>
          <a:noFill/>
          <a:ln w="9525">
            <a:solidFill>
              <a:srgbClr val="1F1F1F"/>
            </a:solidFill>
          </a:ln>
        </p:spPr>
        <p:txBody>
          <a:bodyPr rtlCol="0" anchor="ctr"/>
          <a:lstStyle/>
          <a:p>
            <a:pPr algn="ctr"/>
          </a:p>
        </p:txBody>
      </p:sp>
      <p:sp>
        <p:nvSpPr>
          <p:cNvPr id="33" name="TextBox 32"/>
          <p:cNvSpPr txBox="1"/>
          <p:nvPr/>
        </p:nvSpPr>
        <p:spPr>
          <a:xfrm>
            <a:off x="5724559" y="5321808"/>
            <a:ext cx="973836"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No budget</a:t>
            </a:r>
          </a:p>
        </p:txBody>
      </p:sp>
      <p:sp>
        <p:nvSpPr>
          <p:cNvPr id="34" name="Rounded Rectangle 33"/>
          <p:cNvSpPr/>
          <p:nvPr/>
        </p:nvSpPr>
        <p:spPr>
          <a:xfrm>
            <a:off x="6808123" y="5257800"/>
            <a:ext cx="818388" cy="310896"/>
          </a:xfrm>
          <a:prstGeom prst="roundRect">
            <a:avLst>
              <a:gd name="adj" fmla="val 50000"/>
            </a:avLst>
          </a:prstGeom>
          <a:noFill/>
          <a:ln w="9525">
            <a:solidFill>
              <a:srgbClr val="1F1F1F"/>
            </a:solidFill>
          </a:ln>
        </p:spPr>
        <p:txBody>
          <a:bodyPr rtlCol="0" anchor="ctr"/>
          <a:lstStyle/>
          <a:p>
            <a:pPr algn="ctr"/>
          </a:p>
        </p:txBody>
      </p:sp>
      <p:sp>
        <p:nvSpPr>
          <p:cNvPr id="35" name="TextBox 34"/>
          <p:cNvSpPr txBox="1"/>
          <p:nvPr/>
        </p:nvSpPr>
        <p:spPr>
          <a:xfrm>
            <a:off x="6808123" y="5321808"/>
            <a:ext cx="818388"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No need</a:t>
            </a:r>
          </a:p>
        </p:txBody>
      </p:sp>
      <p:sp>
        <p:nvSpPr>
          <p:cNvPr id="36" name="Rounded Rectangle 35"/>
          <p:cNvSpPr/>
          <p:nvPr/>
        </p:nvSpPr>
        <p:spPr>
          <a:xfrm>
            <a:off x="7736239" y="5257800"/>
            <a:ext cx="1517904" cy="310896"/>
          </a:xfrm>
          <a:prstGeom prst="roundRect">
            <a:avLst>
              <a:gd name="adj" fmla="val 50000"/>
            </a:avLst>
          </a:prstGeom>
          <a:noFill/>
          <a:ln w="9525">
            <a:solidFill>
              <a:srgbClr val="1F1F1F"/>
            </a:solidFill>
          </a:ln>
        </p:spPr>
        <p:txBody>
          <a:bodyPr rtlCol="0" anchor="ctr"/>
          <a:lstStyle/>
          <a:p>
            <a:pPr algn="ctr"/>
          </a:p>
        </p:txBody>
      </p:sp>
      <p:sp>
        <p:nvSpPr>
          <p:cNvPr id="37" name="TextBox 36"/>
          <p:cNvSpPr txBox="1"/>
          <p:nvPr/>
        </p:nvSpPr>
        <p:spPr>
          <a:xfrm>
            <a:off x="7736239" y="5321808"/>
            <a:ext cx="1517904"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Can't reach them</a:t>
            </a:r>
          </a:p>
        </p:txBody>
      </p:sp>
      <p:sp>
        <p:nvSpPr>
          <p:cNvPr id="38" name="Rounded Rectangle 37"/>
          <p:cNvSpPr/>
          <p:nvPr/>
        </p:nvSpPr>
        <p:spPr>
          <a:xfrm>
            <a:off x="9363871" y="5257800"/>
            <a:ext cx="1673352" cy="310896"/>
          </a:xfrm>
          <a:prstGeom prst="roundRect">
            <a:avLst>
              <a:gd name="adj" fmla="val 50000"/>
            </a:avLst>
          </a:prstGeom>
          <a:noFill/>
          <a:ln w="9525">
            <a:solidFill>
              <a:srgbClr val="1F1F1F"/>
            </a:solidFill>
          </a:ln>
        </p:spPr>
        <p:txBody>
          <a:bodyPr rtlCol="0" anchor="ctr"/>
          <a:lstStyle/>
          <a:p>
            <a:pPr algn="ctr"/>
          </a:p>
        </p:txBody>
      </p:sp>
      <p:sp>
        <p:nvSpPr>
          <p:cNvPr id="39" name="TextBox 38"/>
          <p:cNvSpPr txBox="1"/>
          <p:nvPr/>
        </p:nvSpPr>
        <p:spPr>
          <a:xfrm>
            <a:off x="9363871" y="5321808"/>
            <a:ext cx="1673352"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Chose a competitor</a:t>
            </a:r>
          </a:p>
        </p:txBody>
      </p:sp>
      <p:sp>
        <p:nvSpPr>
          <p:cNvPr id="40" name="Rounded Rectangle 39"/>
          <p:cNvSpPr/>
          <p:nvPr/>
        </p:nvSpPr>
        <p:spPr>
          <a:xfrm>
            <a:off x="5724559" y="5669280"/>
            <a:ext cx="973836" cy="310896"/>
          </a:xfrm>
          <a:prstGeom prst="roundRect">
            <a:avLst>
              <a:gd name="adj" fmla="val 50000"/>
            </a:avLst>
          </a:prstGeom>
          <a:noFill/>
          <a:ln w="9525">
            <a:solidFill>
              <a:srgbClr val="1F1F1F"/>
            </a:solidFill>
          </a:ln>
        </p:spPr>
        <p:txBody>
          <a:bodyPr rtlCol="0" anchor="ctr"/>
          <a:lstStyle/>
          <a:p>
            <a:pPr algn="ctr"/>
          </a:p>
        </p:txBody>
      </p:sp>
      <p:sp>
        <p:nvSpPr>
          <p:cNvPr id="41" name="TextBox 40"/>
          <p:cNvSpPr txBox="1"/>
          <p:nvPr/>
        </p:nvSpPr>
        <p:spPr>
          <a:xfrm>
            <a:off x="5724559" y="5733288"/>
            <a:ext cx="973836"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Duplicate</a:t>
            </a:r>
          </a:p>
        </p:txBody>
      </p:sp>
      <p:sp>
        <p:nvSpPr>
          <p:cNvPr id="42" name="Rounded Rectangle 41"/>
          <p:cNvSpPr/>
          <p:nvPr/>
        </p:nvSpPr>
        <p:spPr>
          <a:xfrm>
            <a:off x="6808123" y="5669280"/>
            <a:ext cx="662940" cy="310896"/>
          </a:xfrm>
          <a:prstGeom prst="roundRect">
            <a:avLst>
              <a:gd name="adj" fmla="val 50000"/>
            </a:avLst>
          </a:prstGeom>
          <a:noFill/>
          <a:ln w="9525">
            <a:solidFill>
              <a:srgbClr val="1F1F1F"/>
            </a:solidFill>
          </a:ln>
        </p:spPr>
        <p:txBody>
          <a:bodyPr rtlCol="0" anchor="ctr"/>
          <a:lstStyle/>
          <a:p>
            <a:pPr algn="ctr"/>
          </a:p>
        </p:txBody>
      </p:sp>
      <p:sp>
        <p:nvSpPr>
          <p:cNvPr id="43" name="TextBox 42"/>
          <p:cNvSpPr txBox="1"/>
          <p:nvPr/>
        </p:nvSpPr>
        <p:spPr>
          <a:xfrm>
            <a:off x="6808123" y="5733288"/>
            <a:ext cx="662940" cy="228600"/>
          </a:xfrm>
          <a:prstGeom prst="rect">
            <a:avLst/>
          </a:prstGeom>
          <a:noFill/>
        </p:spPr>
        <p:txBody>
          <a:bodyPr wrap="square" lIns="0" rIns="0" tIns="0" bIns="0" anchor="t">
            <a:spAutoFit/>
          </a:bodyPr>
          <a:lstStyle/>
          <a:p>
            <a:pPr algn="ctr">
              <a:lnSpc>
                <a:spcPct val="112000"/>
              </a:lnSpc>
            </a:pPr>
            <a:r>
              <a:rPr sz="1050" b="0" lang="nl-NL">
                <a:solidFill>
                  <a:srgbClr val="1F1F1F"/>
                </a:solidFill>
                <a:latin typeface="Roboto"/>
              </a:rPr>
              <a:t>Other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STAP 3</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Prototype: drie varianten om uit te kiezen</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9</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4987511" cy="0"/>
          </a:xfrm>
          <a:prstGeom prst="line">
            <a:avLst/>
          </a:prstGeom>
          <a:ln w="9525">
            <a:solidFill>
              <a:srgbClr val="1F1F1F"/>
            </a:solidFill>
          </a:ln>
        </p:spPr>
      </p:cxnSp>
      <p:sp>
        <p:nvSpPr>
          <p:cNvPr id="7" name="TextBox 6"/>
          <p:cNvSpPr txBox="1"/>
          <p:nvPr/>
        </p:nvSpPr>
        <p:spPr>
          <a:xfrm>
            <a:off x="369445" y="1892807"/>
            <a:ext cx="4987511" cy="69494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Voor schermen eerst een prototype</a:t>
            </a:r>
          </a:p>
          <a:p>
            <a:pPr algn="l">
              <a:lnSpc>
                <a:spcPct val="112000"/>
              </a:lnSpc>
              <a:spcBef>
                <a:spcPts val="200"/>
              </a:spcBef>
            </a:pPr>
            <a:r>
              <a:rPr sz="1250" b="0" lang="nl-NL">
                <a:solidFill>
                  <a:srgbClr val="5F5F5F"/>
                </a:solidFill>
                <a:latin typeface="Roboto"/>
              </a:rPr>
              <a:t>Pas daarna bouwen</a:t>
            </a:r>
          </a:p>
        </p:txBody>
      </p:sp>
      <p:cxnSp>
        <p:nvCxnSpPr>
          <p:cNvPr id="8" name="Connector 7"/>
          <p:cNvCxnSpPr/>
          <p:nvPr/>
        </p:nvCxnSpPr>
        <p:spPr>
          <a:xfrm>
            <a:off x="369445" y="2606040"/>
            <a:ext cx="4987511" cy="0"/>
          </a:xfrm>
          <a:prstGeom prst="line">
            <a:avLst/>
          </a:prstGeom>
          <a:ln w="9525">
            <a:solidFill>
              <a:srgbClr val="D6D6D6"/>
            </a:solidFill>
          </a:ln>
        </p:spPr>
      </p:cxnSp>
      <p:sp>
        <p:nvSpPr>
          <p:cNvPr id="9" name="TextBox 8"/>
          <p:cNvSpPr txBox="1"/>
          <p:nvPr/>
        </p:nvSpPr>
        <p:spPr>
          <a:xfrm>
            <a:off x="369445" y="2715768"/>
            <a:ext cx="4987511" cy="69494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Meestal drie varianten: A, B en C</a:t>
            </a:r>
          </a:p>
        </p:txBody>
      </p:sp>
      <p:cxnSp>
        <p:nvCxnSpPr>
          <p:cNvPr id="10" name="Connector 9"/>
          <p:cNvCxnSpPr/>
          <p:nvPr/>
        </p:nvCxnSpPr>
        <p:spPr>
          <a:xfrm>
            <a:off x="369445" y="3429000"/>
            <a:ext cx="4987511" cy="0"/>
          </a:xfrm>
          <a:prstGeom prst="line">
            <a:avLst/>
          </a:prstGeom>
          <a:ln w="9525">
            <a:solidFill>
              <a:srgbClr val="D6D6D6"/>
            </a:solidFill>
          </a:ln>
        </p:spPr>
      </p:cxnSp>
      <p:sp>
        <p:nvSpPr>
          <p:cNvPr id="11" name="TextBox 10"/>
          <p:cNvSpPr txBox="1"/>
          <p:nvPr/>
        </p:nvSpPr>
        <p:spPr>
          <a:xfrm>
            <a:off x="369445" y="3538728"/>
            <a:ext cx="4987511" cy="69494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Ik kies, of combineer</a:t>
            </a:r>
          </a:p>
          <a:p>
            <a:pPr algn="l">
              <a:lnSpc>
                <a:spcPct val="112000"/>
              </a:lnSpc>
              <a:spcBef>
                <a:spcPts val="200"/>
              </a:spcBef>
            </a:pPr>
            <a:r>
              <a:rPr sz="1250" b="0" lang="nl-NL">
                <a:solidFill>
                  <a:srgbClr val="5F5F5F"/>
                </a:solidFill>
                <a:latin typeface="Roboto"/>
              </a:rPr>
              <a:t>Bij Forecast werd het variant D</a:t>
            </a:r>
          </a:p>
        </p:txBody>
      </p:sp>
      <p:cxnSp>
        <p:nvCxnSpPr>
          <p:cNvPr id="12" name="Connector 11"/>
          <p:cNvCxnSpPr/>
          <p:nvPr/>
        </p:nvCxnSpPr>
        <p:spPr>
          <a:xfrm>
            <a:off x="369445" y="4251960"/>
            <a:ext cx="4987511" cy="0"/>
          </a:xfrm>
          <a:prstGeom prst="line">
            <a:avLst/>
          </a:prstGeom>
          <a:ln w="9525">
            <a:solidFill>
              <a:srgbClr val="D6D6D6"/>
            </a:solidFill>
          </a:ln>
        </p:spPr>
      </p:cxnSp>
      <p:sp>
        <p:nvSpPr>
          <p:cNvPr id="13" name="TextBox 12"/>
          <p:cNvSpPr txBox="1"/>
          <p:nvPr/>
        </p:nvSpPr>
        <p:spPr>
          <a:xfrm>
            <a:off x="369445" y="4361688"/>
            <a:ext cx="4987511" cy="69494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Prototypes worden nooit gemerged</a:t>
            </a:r>
          </a:p>
        </p:txBody>
      </p:sp>
      <p:sp>
        <p:nvSpPr>
          <p:cNvPr id="14" name="TextBox 13"/>
          <p:cNvSpPr txBox="1"/>
          <p:nvPr/>
        </p:nvSpPr>
        <p:spPr>
          <a:xfrm>
            <a:off x="369445" y="5212080"/>
            <a:ext cx="4987511"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Op de schermen: de gekozen Forecast-pagina (variant D) en het Team-tabblad.</a:t>
            </a:r>
          </a:p>
        </p:txBody>
      </p:sp>
      <p:pic>
        <p:nvPicPr>
          <p:cNvPr id="15" name="Picture 14" descr="05-forecast.png"/>
          <p:cNvPicPr>
            <a:picLocks noChangeAspect="1"/>
          </p:cNvPicPr>
          <p:nvPr/>
        </p:nvPicPr>
        <p:blipFill>
          <a:blip r:embed="rId2"/>
          <a:stretch>
            <a:fillRect/>
          </a:stretch>
        </p:blipFill>
        <p:spPr>
          <a:xfrm>
            <a:off x="5724559" y="1783080"/>
            <a:ext cx="4297680" cy="2686050"/>
          </a:xfrm>
          <a:prstGeom prst="roundRect">
            <a:avLst>
              <a:gd name="adj" fmla="val 6877"/>
            </a:avLst>
          </a:prstGeom>
          <a:ln w="9525">
            <a:solidFill>
              <a:srgbClr val="D6D6D6"/>
            </a:solidFill>
          </a:ln>
        </p:spPr>
      </p:pic>
      <p:pic>
        <p:nvPicPr>
          <p:cNvPr id="16" name="Picture 15" descr="06-forecast-team.png"/>
          <p:cNvPicPr>
            <a:picLocks noChangeAspect="1"/>
          </p:cNvPicPr>
          <p:nvPr/>
        </p:nvPicPr>
        <p:blipFill>
          <a:blip r:embed="rId3"/>
          <a:stretch>
            <a:fillRect/>
          </a:stretch>
        </p:blipFill>
        <p:spPr>
          <a:xfrm>
            <a:off x="7524569" y="3391024"/>
            <a:ext cx="4297680" cy="2686050"/>
          </a:xfrm>
          <a:prstGeom prst="roundRect">
            <a:avLst>
              <a:gd name="adj" fmla="val 6877"/>
            </a:avLst>
          </a:prstGeom>
          <a:ln w="9525">
            <a:solidFill>
              <a:srgbClr val="D6D6D6"/>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STAP 3</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Elk prototype in licht én donker gecontroleerd</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10</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pic>
        <p:nvPicPr>
          <p:cNvPr id="6" name="Picture 5" descr="04-opportunity-process.png"/>
          <p:cNvPicPr>
            <a:picLocks noChangeAspect="1"/>
          </p:cNvPicPr>
          <p:nvPr/>
        </p:nvPicPr>
        <p:blipFill>
          <a:blip r:embed="rId2"/>
          <a:stretch>
            <a:fillRect/>
          </a:stretch>
        </p:blipFill>
        <p:spPr>
          <a:xfrm>
            <a:off x="369445" y="1783080"/>
            <a:ext cx="5541679" cy="3463549"/>
          </a:xfrm>
          <a:prstGeom prst="roundRect">
            <a:avLst>
              <a:gd name="adj" fmla="val 5333"/>
            </a:avLst>
          </a:prstGeom>
          <a:ln w="9525">
            <a:solidFill>
              <a:srgbClr val="D6D6D6"/>
            </a:solidFill>
          </a:ln>
        </p:spPr>
      </p:pic>
      <p:sp>
        <p:nvSpPr>
          <p:cNvPr id="7" name="TextBox 6"/>
          <p:cNvSpPr txBox="1"/>
          <p:nvPr/>
        </p:nvSpPr>
        <p:spPr>
          <a:xfrm>
            <a:off x="369445" y="5338069"/>
            <a:ext cx="5541679"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Lichte modus</a:t>
            </a:r>
          </a:p>
        </p:txBody>
      </p:sp>
      <p:pic>
        <p:nvPicPr>
          <p:cNvPr id="8" name="Picture 7" descr="12-dark-opportunity.png"/>
          <p:cNvPicPr>
            <a:picLocks noChangeAspect="1"/>
          </p:cNvPicPr>
          <p:nvPr/>
        </p:nvPicPr>
        <p:blipFill>
          <a:blip r:embed="rId3"/>
          <a:stretch>
            <a:fillRect/>
          </a:stretch>
        </p:blipFill>
        <p:spPr>
          <a:xfrm>
            <a:off x="6280570" y="1783080"/>
            <a:ext cx="5541679" cy="3463549"/>
          </a:xfrm>
          <a:prstGeom prst="roundRect">
            <a:avLst>
              <a:gd name="adj" fmla="val 5333"/>
            </a:avLst>
          </a:prstGeom>
          <a:ln w="9525">
            <a:solidFill>
              <a:srgbClr val="D6D6D6"/>
            </a:solidFill>
          </a:ln>
        </p:spPr>
      </p:pic>
      <p:sp>
        <p:nvSpPr>
          <p:cNvPr id="9" name="TextBox 8"/>
          <p:cNvSpPr txBox="1"/>
          <p:nvPr/>
        </p:nvSpPr>
        <p:spPr>
          <a:xfrm>
            <a:off x="6280570" y="5338069"/>
            <a:ext cx="5541679"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Donkere modus</a:t>
            </a:r>
          </a:p>
        </p:txBody>
      </p:sp>
      <p:sp>
        <p:nvSpPr>
          <p:cNvPr id="10" name="TextBox 9"/>
          <p:cNvSpPr txBox="1"/>
          <p:nvPr/>
        </p:nvSpPr>
        <p:spPr>
          <a:xfrm>
            <a:off x="369445" y="5577840"/>
            <a:ext cx="11452804" cy="365760"/>
          </a:xfrm>
          <a:prstGeom prst="rect">
            <a:avLst/>
          </a:prstGeom>
          <a:noFill/>
        </p:spPr>
        <p:txBody>
          <a:bodyPr wrap="square" lIns="0" rIns="0" tIns="0" bIns="0" anchor="t">
            <a:spAutoFit/>
          </a:bodyPr>
          <a:lstStyle/>
          <a:p>
            <a:pPr algn="l">
              <a:lnSpc>
                <a:spcPct val="112000"/>
              </a:lnSpc>
            </a:pPr>
            <a:r>
              <a:rPr sz="1400" b="0" lang="nl-NL">
                <a:solidFill>
                  <a:srgbClr val="1F1F1F"/>
                </a:solidFill>
                <a:latin typeface="Roboto"/>
              </a:rPr>
              <a:t>Feedback als "controleer dit voortaan altijd" gaat in het projectgeheugen. Elke volgende thread neemt het mee.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STAP 4</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Spec en issues: het hele proces is een cirkel</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11</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3694453" cy="0"/>
          </a:xfrm>
          <a:prstGeom prst="line">
            <a:avLst/>
          </a:prstGeom>
          <a:ln w="9525">
            <a:solidFill>
              <a:srgbClr val="1F1F1F"/>
            </a:solidFill>
          </a:ln>
        </p:spPr>
      </p:cxnSp>
      <p:sp>
        <p:nvSpPr>
          <p:cNvPr id="7" name="TextBox 6"/>
          <p:cNvSpPr txBox="1"/>
          <p:nvPr/>
        </p:nvSpPr>
        <p:spPr>
          <a:xfrm>
            <a:off x="369445" y="1892807"/>
            <a:ext cx="3694453" cy="786384"/>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Per versie opnieuw</a:t>
            </a:r>
          </a:p>
          <a:p>
            <a:pPr algn="l">
              <a:lnSpc>
                <a:spcPct val="112000"/>
              </a:lnSpc>
              <a:spcBef>
                <a:spcPts val="200"/>
              </a:spcBef>
            </a:pPr>
            <a:r>
              <a:rPr sz="1250" b="0" lang="nl-NL">
                <a:solidFill>
                  <a:srgbClr val="5F5F5F"/>
                </a:solidFill>
                <a:latin typeface="Roboto"/>
              </a:rPr>
              <a:t>v1, v2 en v3</a:t>
            </a:r>
          </a:p>
        </p:txBody>
      </p:sp>
      <p:cxnSp>
        <p:nvCxnSpPr>
          <p:cNvPr id="8" name="Connector 7"/>
          <p:cNvCxnSpPr/>
          <p:nvPr/>
        </p:nvCxnSpPr>
        <p:spPr>
          <a:xfrm>
            <a:off x="369445" y="2697480"/>
            <a:ext cx="3694453" cy="0"/>
          </a:xfrm>
          <a:prstGeom prst="line">
            <a:avLst/>
          </a:prstGeom>
          <a:ln w="9525">
            <a:solidFill>
              <a:srgbClr val="D6D6D6"/>
            </a:solidFill>
          </a:ln>
        </p:spPr>
      </p:cxnSp>
      <p:sp>
        <p:nvSpPr>
          <p:cNvPr id="9" name="TextBox 8"/>
          <p:cNvSpPr txBox="1"/>
          <p:nvPr/>
        </p:nvSpPr>
        <p:spPr>
          <a:xfrm>
            <a:off x="369445" y="2807208"/>
            <a:ext cx="3694453" cy="786384"/>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Spec = een GitHub issue</a:t>
            </a:r>
          </a:p>
          <a:p>
            <a:pPr algn="l">
              <a:lnSpc>
                <a:spcPct val="112000"/>
              </a:lnSpc>
              <a:spcBef>
                <a:spcPts val="200"/>
              </a:spcBef>
            </a:pPr>
            <a:r>
              <a:rPr sz="1250" b="0" lang="nl-NL">
                <a:solidFill>
                  <a:srgbClr val="5F5F5F"/>
                </a:solidFill>
                <a:latin typeface="Roboto"/>
              </a:rPr>
              <a:t>Probleem, oplossing en user stories</a:t>
            </a:r>
          </a:p>
        </p:txBody>
      </p:sp>
      <p:cxnSp>
        <p:nvCxnSpPr>
          <p:cNvPr id="10" name="Connector 9"/>
          <p:cNvCxnSpPr/>
          <p:nvPr/>
        </p:nvCxnSpPr>
        <p:spPr>
          <a:xfrm>
            <a:off x="369445" y="3611880"/>
            <a:ext cx="3694453" cy="0"/>
          </a:xfrm>
          <a:prstGeom prst="line">
            <a:avLst/>
          </a:prstGeom>
          <a:ln w="9525">
            <a:solidFill>
              <a:srgbClr val="D6D6D6"/>
            </a:solidFill>
          </a:ln>
        </p:spPr>
      </p:cxnSp>
      <p:sp>
        <p:nvSpPr>
          <p:cNvPr id="11" name="TextBox 10"/>
          <p:cNvSpPr txBox="1"/>
          <p:nvPr/>
        </p:nvSpPr>
        <p:spPr>
          <a:xfrm>
            <a:off x="369445" y="3721608"/>
            <a:ext cx="3694453" cy="786384"/>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Bouwtickets zijn sub-issues</a:t>
            </a:r>
          </a:p>
          <a:p>
            <a:pPr algn="l">
              <a:lnSpc>
                <a:spcPct val="112000"/>
              </a:lnSpc>
              <a:spcBef>
                <a:spcPts val="200"/>
              </a:spcBef>
            </a:pPr>
            <a:r>
              <a:rPr sz="1250" b="0" lang="nl-NL">
                <a:solidFill>
                  <a:srgbClr val="5F5F5F"/>
                </a:solidFill>
                <a:latin typeface="Roboto"/>
              </a:rPr>
              <a:t>Met afhankelijkheden</a:t>
            </a:r>
          </a:p>
        </p:txBody>
      </p:sp>
      <p:cxnSp>
        <p:nvCxnSpPr>
          <p:cNvPr id="12" name="Connector 11"/>
          <p:cNvCxnSpPr/>
          <p:nvPr/>
        </p:nvCxnSpPr>
        <p:spPr>
          <a:xfrm>
            <a:off x="369445" y="4526280"/>
            <a:ext cx="3694453" cy="0"/>
          </a:xfrm>
          <a:prstGeom prst="line">
            <a:avLst/>
          </a:prstGeom>
          <a:ln w="9525">
            <a:solidFill>
              <a:srgbClr val="D6D6D6"/>
            </a:solidFill>
          </a:ln>
        </p:spPr>
      </p:cxnSp>
      <p:sp>
        <p:nvSpPr>
          <p:cNvPr id="13" name="TextBox 12"/>
          <p:cNvSpPr txBox="1"/>
          <p:nvPr/>
        </p:nvSpPr>
        <p:spPr>
          <a:xfrm>
            <a:off x="369445" y="4636008"/>
            <a:ext cx="3694453" cy="786384"/>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Volgorde via "blocked by"</a:t>
            </a:r>
          </a:p>
          <a:p>
            <a:pPr algn="l">
              <a:lnSpc>
                <a:spcPct val="112000"/>
              </a:lnSpc>
              <a:spcBef>
                <a:spcPts val="200"/>
              </a:spcBef>
            </a:pPr>
            <a:r>
              <a:rPr sz="1250" b="0" lang="nl-NL">
                <a:solidFill>
                  <a:srgbClr val="5F5F5F"/>
                </a:solidFill>
                <a:latin typeface="Roboto"/>
              </a:rPr>
              <a:t>Geen aparte planning nodig</a:t>
            </a:r>
          </a:p>
        </p:txBody>
      </p:sp>
      <p:sp>
        <p:nvSpPr>
          <p:cNvPr id="14" name="Rounded Rectangle 13"/>
          <p:cNvSpPr/>
          <p:nvPr/>
        </p:nvSpPr>
        <p:spPr>
          <a:xfrm>
            <a:off x="4340061" y="1783080"/>
            <a:ext cx="1582511" cy="749808"/>
          </a:xfrm>
          <a:prstGeom prst="roundRect">
            <a:avLst>
              <a:gd name="adj" fmla="val 24635"/>
            </a:avLst>
          </a:prstGeom>
          <a:noFill/>
          <a:ln w="12700">
            <a:solidFill>
              <a:srgbClr val="1F1F1F"/>
            </a:solidFill>
          </a:ln>
        </p:spPr>
        <p:txBody>
          <a:bodyPr rtlCol="0" anchor="ctr"/>
          <a:lstStyle/>
          <a:p>
            <a:pPr algn="ctr"/>
          </a:p>
        </p:txBody>
      </p:sp>
      <p:sp>
        <p:nvSpPr>
          <p:cNvPr id="15" name="TextBox 14"/>
          <p:cNvSpPr txBox="1"/>
          <p:nvPr/>
        </p:nvSpPr>
        <p:spPr>
          <a:xfrm>
            <a:off x="4486365" y="190012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Wayfinder</a:t>
            </a:r>
          </a:p>
          <a:p>
            <a:pPr algn="ctr">
              <a:lnSpc>
                <a:spcPct val="112000"/>
              </a:lnSpc>
              <a:spcBef>
                <a:spcPts val="300"/>
              </a:spcBef>
            </a:pPr>
            <a:r>
              <a:rPr sz="1000" b="0" lang="nl-NL">
                <a:solidFill>
                  <a:srgbClr val="5F5F5F"/>
                </a:solidFill>
                <a:latin typeface="Roboto"/>
              </a:rPr>
              <a:t>kaart en beslispunten</a:t>
            </a:r>
          </a:p>
        </p:txBody>
      </p:sp>
      <p:sp>
        <p:nvSpPr>
          <p:cNvPr id="16" name="Rounded Rectangle 15"/>
          <p:cNvSpPr/>
          <p:nvPr/>
        </p:nvSpPr>
        <p:spPr>
          <a:xfrm>
            <a:off x="6306620" y="1783080"/>
            <a:ext cx="1582511" cy="749808"/>
          </a:xfrm>
          <a:prstGeom prst="roundRect">
            <a:avLst>
              <a:gd name="adj" fmla="val 24635"/>
            </a:avLst>
          </a:prstGeom>
          <a:noFill/>
          <a:ln w="12700">
            <a:solidFill>
              <a:srgbClr val="1F1F1F"/>
            </a:solidFill>
          </a:ln>
        </p:spPr>
        <p:txBody>
          <a:bodyPr rtlCol="0" anchor="ctr"/>
          <a:lstStyle/>
          <a:p>
            <a:pPr algn="ctr"/>
          </a:p>
        </p:txBody>
      </p:sp>
      <p:sp>
        <p:nvSpPr>
          <p:cNvPr id="17" name="TextBox 16"/>
          <p:cNvSpPr txBox="1"/>
          <p:nvPr/>
        </p:nvSpPr>
        <p:spPr>
          <a:xfrm>
            <a:off x="6452924" y="190012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Research</a:t>
            </a:r>
          </a:p>
          <a:p>
            <a:pPr algn="ctr">
              <a:lnSpc>
                <a:spcPct val="112000"/>
              </a:lnSpc>
              <a:spcBef>
                <a:spcPts val="300"/>
              </a:spcBef>
            </a:pPr>
            <a:r>
              <a:rPr sz="1000" b="0" lang="nl-NL">
                <a:solidFill>
                  <a:srgbClr val="5F5F5F"/>
                </a:solidFill>
                <a:latin typeface="Roboto"/>
              </a:rPr>
              <a:t>uitzoeken</a:t>
            </a:r>
          </a:p>
        </p:txBody>
      </p:sp>
      <p:sp>
        <p:nvSpPr>
          <p:cNvPr id="18" name="Rounded Rectangle 17"/>
          <p:cNvSpPr/>
          <p:nvPr/>
        </p:nvSpPr>
        <p:spPr>
          <a:xfrm>
            <a:off x="8273179" y="1783080"/>
            <a:ext cx="1582511" cy="749808"/>
          </a:xfrm>
          <a:prstGeom prst="roundRect">
            <a:avLst>
              <a:gd name="adj" fmla="val 24635"/>
            </a:avLst>
          </a:prstGeom>
          <a:noFill/>
          <a:ln w="12700">
            <a:solidFill>
              <a:srgbClr val="1F1F1F"/>
            </a:solidFill>
          </a:ln>
        </p:spPr>
        <p:txBody>
          <a:bodyPr rtlCol="0" anchor="ctr"/>
          <a:lstStyle/>
          <a:p>
            <a:pPr algn="ctr"/>
          </a:p>
        </p:txBody>
      </p:sp>
      <p:sp>
        <p:nvSpPr>
          <p:cNvPr id="19" name="TextBox 18"/>
          <p:cNvSpPr txBox="1"/>
          <p:nvPr/>
        </p:nvSpPr>
        <p:spPr>
          <a:xfrm>
            <a:off x="8419483" y="190012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Grilling</a:t>
            </a:r>
          </a:p>
          <a:p>
            <a:pPr algn="ctr">
              <a:lnSpc>
                <a:spcPct val="112000"/>
              </a:lnSpc>
              <a:spcBef>
                <a:spcPts val="300"/>
              </a:spcBef>
            </a:pPr>
            <a:r>
              <a:rPr sz="1000" b="0" lang="nl-NL">
                <a:solidFill>
                  <a:srgbClr val="5F5F5F"/>
                </a:solidFill>
                <a:latin typeface="Roboto"/>
              </a:rPr>
              <a:t>vragen en aanbeveling</a:t>
            </a:r>
          </a:p>
        </p:txBody>
      </p:sp>
      <p:sp>
        <p:nvSpPr>
          <p:cNvPr id="20" name="Rounded Rectangle 19"/>
          <p:cNvSpPr/>
          <p:nvPr/>
        </p:nvSpPr>
        <p:spPr>
          <a:xfrm>
            <a:off x="10239738" y="1783080"/>
            <a:ext cx="1582511" cy="749808"/>
          </a:xfrm>
          <a:prstGeom prst="roundRect">
            <a:avLst>
              <a:gd name="adj" fmla="val 24635"/>
            </a:avLst>
          </a:prstGeom>
          <a:noFill/>
          <a:ln w="12700">
            <a:solidFill>
              <a:srgbClr val="1F1F1F"/>
            </a:solidFill>
          </a:ln>
        </p:spPr>
        <p:txBody>
          <a:bodyPr rtlCol="0" anchor="ctr"/>
          <a:lstStyle/>
          <a:p>
            <a:pPr algn="ctr"/>
          </a:p>
        </p:txBody>
      </p:sp>
      <p:sp>
        <p:nvSpPr>
          <p:cNvPr id="21" name="TextBox 20"/>
          <p:cNvSpPr txBox="1"/>
          <p:nvPr/>
        </p:nvSpPr>
        <p:spPr>
          <a:xfrm>
            <a:off x="10386042" y="190012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Prototype</a:t>
            </a:r>
          </a:p>
          <a:p>
            <a:pPr algn="ctr">
              <a:lnSpc>
                <a:spcPct val="112000"/>
              </a:lnSpc>
              <a:spcBef>
                <a:spcPts val="300"/>
              </a:spcBef>
            </a:pPr>
            <a:r>
              <a:rPr sz="1000" b="0" lang="nl-NL">
                <a:solidFill>
                  <a:srgbClr val="5F5F5F"/>
                </a:solidFill>
                <a:latin typeface="Roboto"/>
              </a:rPr>
              <a:t>drie varianten</a:t>
            </a:r>
          </a:p>
        </p:txBody>
      </p:sp>
      <p:sp>
        <p:nvSpPr>
          <p:cNvPr id="22" name="Rounded Rectangle 21"/>
          <p:cNvSpPr/>
          <p:nvPr/>
        </p:nvSpPr>
        <p:spPr>
          <a:xfrm>
            <a:off x="10239738" y="2880360"/>
            <a:ext cx="1582511" cy="749808"/>
          </a:xfrm>
          <a:prstGeom prst="roundRect">
            <a:avLst>
              <a:gd name="adj" fmla="val 24635"/>
            </a:avLst>
          </a:prstGeom>
          <a:noFill/>
          <a:ln w="19050">
            <a:solidFill>
              <a:srgbClr val="C514B4"/>
            </a:solidFill>
          </a:ln>
        </p:spPr>
        <p:txBody>
          <a:bodyPr rtlCol="0" anchor="ctr"/>
          <a:lstStyle/>
          <a:p>
            <a:pPr algn="ctr"/>
          </a:p>
        </p:txBody>
      </p:sp>
      <p:sp>
        <p:nvSpPr>
          <p:cNvPr id="23" name="TextBox 22"/>
          <p:cNvSpPr txBox="1"/>
          <p:nvPr/>
        </p:nvSpPr>
        <p:spPr>
          <a:xfrm>
            <a:off x="10386042" y="299740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Spec</a:t>
            </a:r>
          </a:p>
          <a:p>
            <a:pPr algn="ctr">
              <a:lnSpc>
                <a:spcPct val="112000"/>
              </a:lnSpc>
              <a:spcBef>
                <a:spcPts val="300"/>
              </a:spcBef>
            </a:pPr>
            <a:r>
              <a:rPr sz="1000" b="0" lang="nl-NL">
                <a:solidFill>
                  <a:srgbClr val="5F5F5F"/>
                </a:solidFill>
                <a:latin typeface="Roboto"/>
              </a:rPr>
              <a:t>user stories</a:t>
            </a:r>
          </a:p>
        </p:txBody>
      </p:sp>
      <p:sp>
        <p:nvSpPr>
          <p:cNvPr id="24" name="Rounded Rectangle 23"/>
          <p:cNvSpPr/>
          <p:nvPr/>
        </p:nvSpPr>
        <p:spPr>
          <a:xfrm>
            <a:off x="10239738" y="3977639"/>
            <a:ext cx="1582511" cy="749808"/>
          </a:xfrm>
          <a:prstGeom prst="roundRect">
            <a:avLst>
              <a:gd name="adj" fmla="val 24635"/>
            </a:avLst>
          </a:prstGeom>
          <a:noFill/>
          <a:ln w="19050">
            <a:solidFill>
              <a:srgbClr val="C514B4"/>
            </a:solidFill>
          </a:ln>
        </p:spPr>
        <p:txBody>
          <a:bodyPr rtlCol="0" anchor="ctr"/>
          <a:lstStyle/>
          <a:p>
            <a:pPr algn="ctr"/>
          </a:p>
        </p:txBody>
      </p:sp>
      <p:sp>
        <p:nvSpPr>
          <p:cNvPr id="25" name="TextBox 24"/>
          <p:cNvSpPr txBox="1"/>
          <p:nvPr/>
        </p:nvSpPr>
        <p:spPr>
          <a:xfrm>
            <a:off x="10386042" y="409468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Issues</a:t>
            </a:r>
          </a:p>
          <a:p>
            <a:pPr algn="ctr">
              <a:lnSpc>
                <a:spcPct val="112000"/>
              </a:lnSpc>
              <a:spcBef>
                <a:spcPts val="300"/>
              </a:spcBef>
            </a:pPr>
            <a:r>
              <a:rPr sz="1000" b="0" lang="nl-NL">
                <a:solidFill>
                  <a:srgbClr val="5F5F5F"/>
                </a:solidFill>
                <a:latin typeface="Roboto"/>
              </a:rPr>
              <a:t>bouwtickets</a:t>
            </a:r>
          </a:p>
        </p:txBody>
      </p:sp>
      <p:sp>
        <p:nvSpPr>
          <p:cNvPr id="26" name="Rounded Rectangle 25"/>
          <p:cNvSpPr/>
          <p:nvPr/>
        </p:nvSpPr>
        <p:spPr>
          <a:xfrm>
            <a:off x="10239738" y="5074920"/>
            <a:ext cx="1582511" cy="749808"/>
          </a:xfrm>
          <a:prstGeom prst="roundRect">
            <a:avLst>
              <a:gd name="adj" fmla="val 24635"/>
            </a:avLst>
          </a:prstGeom>
          <a:noFill/>
          <a:ln w="12700">
            <a:solidFill>
              <a:srgbClr val="1F1F1F"/>
            </a:solidFill>
          </a:ln>
        </p:spPr>
        <p:txBody>
          <a:bodyPr rtlCol="0" anchor="ctr"/>
          <a:lstStyle/>
          <a:p>
            <a:pPr algn="ctr"/>
          </a:p>
        </p:txBody>
      </p:sp>
      <p:sp>
        <p:nvSpPr>
          <p:cNvPr id="27" name="TextBox 26"/>
          <p:cNvSpPr txBox="1"/>
          <p:nvPr/>
        </p:nvSpPr>
        <p:spPr>
          <a:xfrm>
            <a:off x="10386042" y="519196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Bouwen</a:t>
            </a:r>
          </a:p>
          <a:p>
            <a:pPr algn="ctr">
              <a:lnSpc>
                <a:spcPct val="112000"/>
              </a:lnSpc>
              <a:spcBef>
                <a:spcPts val="300"/>
              </a:spcBef>
            </a:pPr>
            <a:r>
              <a:rPr sz="1000" b="0" lang="nl-NL">
                <a:solidFill>
                  <a:srgbClr val="5F5F5F"/>
                </a:solidFill>
                <a:latin typeface="Roboto"/>
              </a:rPr>
              <a:t>tests eerst (TDD)</a:t>
            </a:r>
          </a:p>
        </p:txBody>
      </p:sp>
      <p:sp>
        <p:nvSpPr>
          <p:cNvPr id="28" name="Rounded Rectangle 27"/>
          <p:cNvSpPr/>
          <p:nvPr/>
        </p:nvSpPr>
        <p:spPr>
          <a:xfrm>
            <a:off x="8273179" y="5074920"/>
            <a:ext cx="1582511" cy="749808"/>
          </a:xfrm>
          <a:prstGeom prst="roundRect">
            <a:avLst>
              <a:gd name="adj" fmla="val 24635"/>
            </a:avLst>
          </a:prstGeom>
          <a:noFill/>
          <a:ln w="12700">
            <a:solidFill>
              <a:srgbClr val="1F1F1F"/>
            </a:solidFill>
          </a:ln>
        </p:spPr>
        <p:txBody>
          <a:bodyPr rtlCol="0" anchor="ctr"/>
          <a:lstStyle/>
          <a:p>
            <a:pPr algn="ctr"/>
          </a:p>
        </p:txBody>
      </p:sp>
      <p:sp>
        <p:nvSpPr>
          <p:cNvPr id="29" name="TextBox 28"/>
          <p:cNvSpPr txBox="1"/>
          <p:nvPr/>
        </p:nvSpPr>
        <p:spPr>
          <a:xfrm>
            <a:off x="8419483" y="519196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Deploy</a:t>
            </a:r>
          </a:p>
          <a:p>
            <a:pPr algn="ctr">
              <a:lnSpc>
                <a:spcPct val="112000"/>
              </a:lnSpc>
              <a:spcBef>
                <a:spcPts val="300"/>
              </a:spcBef>
            </a:pPr>
            <a:r>
              <a:rPr sz="1000" b="0" lang="nl-NL">
                <a:solidFill>
                  <a:srgbClr val="5F5F5F"/>
                </a:solidFill>
                <a:latin typeface="Roboto"/>
              </a:rPr>
              <a:t>CI groen</a:t>
            </a:r>
          </a:p>
        </p:txBody>
      </p:sp>
      <p:sp>
        <p:nvSpPr>
          <p:cNvPr id="30" name="Rounded Rectangle 29"/>
          <p:cNvSpPr/>
          <p:nvPr/>
        </p:nvSpPr>
        <p:spPr>
          <a:xfrm>
            <a:off x="6306620" y="5074920"/>
            <a:ext cx="1582511" cy="749808"/>
          </a:xfrm>
          <a:prstGeom prst="roundRect">
            <a:avLst>
              <a:gd name="adj" fmla="val 24635"/>
            </a:avLst>
          </a:prstGeom>
          <a:noFill/>
          <a:ln w="12700">
            <a:solidFill>
              <a:srgbClr val="1F1F1F"/>
            </a:solidFill>
          </a:ln>
        </p:spPr>
        <p:txBody>
          <a:bodyPr rtlCol="0" anchor="ctr"/>
          <a:lstStyle/>
          <a:p>
            <a:pPr algn="ctr"/>
          </a:p>
        </p:txBody>
      </p:sp>
      <p:sp>
        <p:nvSpPr>
          <p:cNvPr id="31" name="TextBox 30"/>
          <p:cNvSpPr txBox="1"/>
          <p:nvPr/>
        </p:nvSpPr>
        <p:spPr>
          <a:xfrm>
            <a:off x="6452924" y="519196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Demo</a:t>
            </a:r>
          </a:p>
          <a:p>
            <a:pPr algn="ctr">
              <a:lnSpc>
                <a:spcPct val="112000"/>
              </a:lnSpc>
              <a:spcBef>
                <a:spcPts val="300"/>
              </a:spcBef>
            </a:pPr>
            <a:r>
              <a:rPr sz="1000" b="0" lang="nl-NL">
                <a:solidFill>
                  <a:srgbClr val="5F5F5F"/>
                </a:solidFill>
                <a:latin typeface="Roboto"/>
              </a:rPr>
              <a:t>feedback: wat nu?</a:t>
            </a:r>
          </a:p>
        </p:txBody>
      </p:sp>
      <p:sp>
        <p:nvSpPr>
          <p:cNvPr id="32" name="Rounded Rectangle 31"/>
          <p:cNvSpPr/>
          <p:nvPr/>
        </p:nvSpPr>
        <p:spPr>
          <a:xfrm>
            <a:off x="4340061" y="5074920"/>
            <a:ext cx="1582511" cy="749808"/>
          </a:xfrm>
          <a:prstGeom prst="roundRect">
            <a:avLst>
              <a:gd name="adj" fmla="val 24635"/>
            </a:avLst>
          </a:prstGeom>
          <a:noFill/>
          <a:ln w="12700">
            <a:solidFill>
              <a:srgbClr val="1F1F1F"/>
            </a:solidFill>
          </a:ln>
        </p:spPr>
        <p:txBody>
          <a:bodyPr rtlCol="0" anchor="ctr"/>
          <a:lstStyle/>
          <a:p>
            <a:pPr algn="ctr"/>
          </a:p>
        </p:txBody>
      </p:sp>
      <p:sp>
        <p:nvSpPr>
          <p:cNvPr id="33" name="TextBox 32"/>
          <p:cNvSpPr txBox="1"/>
          <p:nvPr/>
        </p:nvSpPr>
        <p:spPr>
          <a:xfrm>
            <a:off x="4486365" y="5191963"/>
            <a:ext cx="1289903" cy="515721"/>
          </a:xfrm>
          <a:prstGeom prst="rect">
            <a:avLst/>
          </a:prstGeom>
          <a:noFill/>
        </p:spPr>
        <p:txBody>
          <a:bodyPr wrap="square" lIns="0" rIns="0" tIns="0" bIns="0" anchor="ctr">
            <a:spAutoFit/>
          </a:bodyPr>
          <a:lstStyle/>
          <a:p>
            <a:pPr algn="ctr">
              <a:lnSpc>
                <a:spcPct val="112000"/>
              </a:lnSpc>
            </a:pPr>
            <a:r>
              <a:rPr sz="1200" b="0" lang="nl-NL">
                <a:solidFill>
                  <a:srgbClr val="1F1F1F"/>
                </a:solidFill>
                <a:latin typeface="Montserrat SemiBold"/>
              </a:rPr>
              <a:t>Nieuwe versie</a:t>
            </a:r>
          </a:p>
          <a:p>
            <a:pPr algn="ctr">
              <a:lnSpc>
                <a:spcPct val="112000"/>
              </a:lnSpc>
              <a:spcBef>
                <a:spcPts val="300"/>
              </a:spcBef>
            </a:pPr>
            <a:r>
              <a:rPr sz="1000" b="0" lang="nl-NL">
                <a:solidFill>
                  <a:srgbClr val="5F5F5F"/>
                </a:solidFill>
                <a:latin typeface="Roboto"/>
              </a:rPr>
              <a:t>v1, v2, v3</a:t>
            </a:r>
          </a:p>
        </p:txBody>
      </p:sp>
      <p:cxnSp>
        <p:nvCxnSpPr>
          <p:cNvPr id="34" name="Connector 33"/>
          <p:cNvCxnSpPr/>
          <p:nvPr/>
        </p:nvCxnSpPr>
        <p:spPr>
          <a:xfrm>
            <a:off x="5977436" y="2157984"/>
            <a:ext cx="274320" cy="0"/>
          </a:xfrm>
          <a:prstGeom prst="line">
            <a:avLst/>
          </a:prstGeom>
          <a:ln w="12700">
            <a:solidFill>
              <a:srgbClr val="5F5F5F"/>
            </a:solidFill>
            <a:tailEnd type="triangle" w="med" len="med"/>
          </a:ln>
        </p:spPr>
      </p:cxnSp>
      <p:cxnSp>
        <p:nvCxnSpPr>
          <p:cNvPr id="35" name="Connector 34"/>
          <p:cNvCxnSpPr/>
          <p:nvPr/>
        </p:nvCxnSpPr>
        <p:spPr>
          <a:xfrm>
            <a:off x="7943995" y="2157984"/>
            <a:ext cx="274320" cy="0"/>
          </a:xfrm>
          <a:prstGeom prst="line">
            <a:avLst/>
          </a:prstGeom>
          <a:ln w="12700">
            <a:solidFill>
              <a:srgbClr val="5F5F5F"/>
            </a:solidFill>
            <a:tailEnd type="triangle" w="med" len="med"/>
          </a:ln>
        </p:spPr>
      </p:cxnSp>
      <p:cxnSp>
        <p:nvCxnSpPr>
          <p:cNvPr id="36" name="Connector 35"/>
          <p:cNvCxnSpPr/>
          <p:nvPr/>
        </p:nvCxnSpPr>
        <p:spPr>
          <a:xfrm>
            <a:off x="9910554" y="2157984"/>
            <a:ext cx="274320" cy="0"/>
          </a:xfrm>
          <a:prstGeom prst="line">
            <a:avLst/>
          </a:prstGeom>
          <a:ln w="12700">
            <a:solidFill>
              <a:srgbClr val="5F5F5F"/>
            </a:solidFill>
            <a:tailEnd type="triangle" w="med" len="med"/>
          </a:ln>
        </p:spPr>
      </p:cxnSp>
      <p:cxnSp>
        <p:nvCxnSpPr>
          <p:cNvPr id="37" name="Connector 36"/>
          <p:cNvCxnSpPr/>
          <p:nvPr/>
        </p:nvCxnSpPr>
        <p:spPr>
          <a:xfrm>
            <a:off x="11030994" y="2587752"/>
            <a:ext cx="0" cy="237744"/>
          </a:xfrm>
          <a:prstGeom prst="line">
            <a:avLst/>
          </a:prstGeom>
          <a:ln w="12700">
            <a:solidFill>
              <a:srgbClr val="5F5F5F"/>
            </a:solidFill>
            <a:tailEnd type="triangle" w="med" len="med"/>
          </a:ln>
        </p:spPr>
      </p:cxnSp>
      <p:cxnSp>
        <p:nvCxnSpPr>
          <p:cNvPr id="38" name="Connector 37"/>
          <p:cNvCxnSpPr/>
          <p:nvPr/>
        </p:nvCxnSpPr>
        <p:spPr>
          <a:xfrm>
            <a:off x="11030994" y="3685031"/>
            <a:ext cx="0" cy="237745"/>
          </a:xfrm>
          <a:prstGeom prst="line">
            <a:avLst/>
          </a:prstGeom>
          <a:ln w="12700">
            <a:solidFill>
              <a:srgbClr val="5F5F5F"/>
            </a:solidFill>
            <a:tailEnd type="triangle" w="med" len="med"/>
          </a:ln>
        </p:spPr>
      </p:cxnSp>
      <p:cxnSp>
        <p:nvCxnSpPr>
          <p:cNvPr id="39" name="Connector 38"/>
          <p:cNvCxnSpPr/>
          <p:nvPr/>
        </p:nvCxnSpPr>
        <p:spPr>
          <a:xfrm>
            <a:off x="11030994" y="4782312"/>
            <a:ext cx="0" cy="237744"/>
          </a:xfrm>
          <a:prstGeom prst="line">
            <a:avLst/>
          </a:prstGeom>
          <a:ln w="12700">
            <a:solidFill>
              <a:srgbClr val="5F5F5F"/>
            </a:solidFill>
            <a:tailEnd type="triangle" w="med" len="med"/>
          </a:ln>
        </p:spPr>
      </p:cxnSp>
      <p:cxnSp>
        <p:nvCxnSpPr>
          <p:cNvPr id="40" name="Connector 39"/>
          <p:cNvCxnSpPr/>
          <p:nvPr/>
        </p:nvCxnSpPr>
        <p:spPr>
          <a:xfrm flipH="1">
            <a:off x="9910554" y="5449824"/>
            <a:ext cx="274320" cy="0"/>
          </a:xfrm>
          <a:prstGeom prst="line">
            <a:avLst/>
          </a:prstGeom>
          <a:ln w="12700">
            <a:solidFill>
              <a:srgbClr val="5F5F5F"/>
            </a:solidFill>
            <a:tailEnd type="triangle" w="med" len="med"/>
          </a:ln>
        </p:spPr>
      </p:cxnSp>
      <p:cxnSp>
        <p:nvCxnSpPr>
          <p:cNvPr id="41" name="Connector 40"/>
          <p:cNvCxnSpPr/>
          <p:nvPr/>
        </p:nvCxnSpPr>
        <p:spPr>
          <a:xfrm flipH="1">
            <a:off x="7943995" y="5449824"/>
            <a:ext cx="274320" cy="0"/>
          </a:xfrm>
          <a:prstGeom prst="line">
            <a:avLst/>
          </a:prstGeom>
          <a:ln w="12700">
            <a:solidFill>
              <a:srgbClr val="5F5F5F"/>
            </a:solidFill>
            <a:tailEnd type="triangle" w="med" len="med"/>
          </a:ln>
        </p:spPr>
      </p:cxnSp>
      <p:cxnSp>
        <p:nvCxnSpPr>
          <p:cNvPr id="42" name="Connector 41"/>
          <p:cNvCxnSpPr/>
          <p:nvPr/>
        </p:nvCxnSpPr>
        <p:spPr>
          <a:xfrm flipH="1">
            <a:off x="5977436" y="5449824"/>
            <a:ext cx="274320" cy="0"/>
          </a:xfrm>
          <a:prstGeom prst="line">
            <a:avLst/>
          </a:prstGeom>
          <a:ln w="12700">
            <a:solidFill>
              <a:srgbClr val="5F5F5F"/>
            </a:solidFill>
            <a:tailEnd type="triangle" w="med" len="med"/>
          </a:ln>
        </p:spPr>
      </p:cxnSp>
      <p:cxnSp>
        <p:nvCxnSpPr>
          <p:cNvPr id="43" name="Connector 42"/>
          <p:cNvCxnSpPr/>
          <p:nvPr/>
        </p:nvCxnSpPr>
        <p:spPr>
          <a:xfrm flipV="1">
            <a:off x="5131316" y="2587752"/>
            <a:ext cx="0" cy="2432304"/>
          </a:xfrm>
          <a:prstGeom prst="line">
            <a:avLst/>
          </a:prstGeom>
          <a:ln w="12700">
            <a:solidFill>
              <a:srgbClr val="5F5F5F"/>
            </a:solidFill>
            <a:tailEnd type="triangle" w="med" len="med"/>
          </a:ln>
        </p:spPr>
      </p:cxnSp>
      <p:sp>
        <p:nvSpPr>
          <p:cNvPr id="44" name="TextBox 43"/>
          <p:cNvSpPr txBox="1"/>
          <p:nvPr/>
        </p:nvSpPr>
        <p:spPr>
          <a:xfrm>
            <a:off x="6306620" y="3063240"/>
            <a:ext cx="3549070" cy="1645920"/>
          </a:xfrm>
          <a:prstGeom prst="rect">
            <a:avLst/>
          </a:prstGeom>
          <a:noFill/>
        </p:spPr>
        <p:txBody>
          <a:bodyPr wrap="square" lIns="0" rIns="0" tIns="0" bIns="0" anchor="ctr">
            <a:spAutoFit/>
          </a:bodyPr>
          <a:lstStyle/>
          <a:p>
            <a:pPr algn="ctr">
              <a:lnSpc>
                <a:spcPct val="112000"/>
              </a:lnSpc>
            </a:pPr>
            <a:r>
              <a:rPr sz="2000" b="0" lang="nl-NL">
                <a:solidFill>
                  <a:srgbClr val="1F1F1F"/>
                </a:solidFill>
                <a:latin typeface="Montserrat"/>
              </a:rPr>
              <a:t>Per versie één keer rond</a:t>
            </a:r>
          </a:p>
          <a:p>
            <a:pPr algn="ctr">
              <a:lnSpc>
                <a:spcPct val="112000"/>
              </a:lnSpc>
              <a:spcBef>
                <a:spcPts val="600"/>
              </a:spcBef>
            </a:pPr>
            <a:r>
              <a:rPr sz="1200" b="0" lang="nl-NL">
                <a:solidFill>
                  <a:srgbClr val="5F5F5F"/>
                </a:solidFill>
                <a:latin typeface="Roboto"/>
              </a:rPr>
              <a:t>v1: 12 bouwtickets  ·  v2: 16  ·  v3: 32 klaar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 VOORBEELD</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Van kaart tot code: één spoor door GitHub</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12</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TextBox 5"/>
          <p:cNvSpPr txBox="1"/>
          <p:nvPr/>
        </p:nvSpPr>
        <p:spPr>
          <a:xfrm>
            <a:off x="369445" y="1783080"/>
            <a:ext cx="1983322"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1 · KAART</a:t>
            </a:r>
          </a:p>
        </p:txBody>
      </p:sp>
      <p:sp>
        <p:nvSpPr>
          <p:cNvPr id="7" name="TextBox 6"/>
          <p:cNvSpPr txBox="1"/>
          <p:nvPr/>
        </p:nvSpPr>
        <p:spPr>
          <a:xfrm>
            <a:off x="369445" y="2057400"/>
            <a:ext cx="1983322" cy="274320"/>
          </a:xfrm>
          <a:prstGeom prst="rect">
            <a:avLst/>
          </a:prstGeom>
          <a:noFill/>
        </p:spPr>
        <p:txBody>
          <a:bodyPr wrap="square" lIns="0" rIns="0" tIns="0" bIns="0" anchor="t">
            <a:spAutoFit/>
          </a:bodyPr>
          <a:lstStyle/>
          <a:p>
            <a:pPr algn="l">
              <a:lnSpc>
                <a:spcPct val="112000"/>
              </a:lnSpc>
            </a:pPr>
            <a:r>
              <a:rPr sz="1050" b="0" lang="nl-NL">
                <a:solidFill>
                  <a:srgbClr val="5F5F5F"/>
                </a:solidFill>
                <a:latin typeface="Roboto"/>
              </a:rPr>
              <a:t>/wayfinder</a:t>
            </a:r>
          </a:p>
        </p:txBody>
      </p:sp>
      <p:sp>
        <p:nvSpPr>
          <p:cNvPr id="8" name="TextBox 7"/>
          <p:cNvSpPr txBox="1"/>
          <p:nvPr/>
        </p:nvSpPr>
        <p:spPr>
          <a:xfrm>
            <a:off x="2736815" y="1783080"/>
            <a:ext cx="1983322"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2 · BESLISPUNTEN</a:t>
            </a:r>
          </a:p>
        </p:txBody>
      </p:sp>
      <p:sp>
        <p:nvSpPr>
          <p:cNvPr id="9" name="TextBox 8"/>
          <p:cNvSpPr txBox="1"/>
          <p:nvPr/>
        </p:nvSpPr>
        <p:spPr>
          <a:xfrm>
            <a:off x="2736815" y="2057400"/>
            <a:ext cx="1983322" cy="274320"/>
          </a:xfrm>
          <a:prstGeom prst="rect">
            <a:avLst/>
          </a:prstGeom>
          <a:noFill/>
        </p:spPr>
        <p:txBody>
          <a:bodyPr wrap="square" lIns="0" rIns="0" tIns="0" bIns="0" anchor="t">
            <a:spAutoFit/>
          </a:bodyPr>
          <a:lstStyle/>
          <a:p>
            <a:pPr algn="l">
              <a:lnSpc>
                <a:spcPct val="112000"/>
              </a:lnSpc>
            </a:pPr>
            <a:r>
              <a:rPr sz="1050" b="0" lang="nl-NL">
                <a:solidFill>
                  <a:srgbClr val="5F5F5F"/>
                </a:solidFill>
                <a:latin typeface="Roboto"/>
              </a:rPr>
              <a:t>/grill-with-docs · /prototype · /research</a:t>
            </a:r>
          </a:p>
        </p:txBody>
      </p:sp>
      <p:sp>
        <p:nvSpPr>
          <p:cNvPr id="10" name="TextBox 9"/>
          <p:cNvSpPr txBox="1"/>
          <p:nvPr/>
        </p:nvSpPr>
        <p:spPr>
          <a:xfrm>
            <a:off x="5104186" y="1783080"/>
            <a:ext cx="1983322"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3 · SPEC</a:t>
            </a:r>
          </a:p>
        </p:txBody>
      </p:sp>
      <p:sp>
        <p:nvSpPr>
          <p:cNvPr id="11" name="TextBox 10"/>
          <p:cNvSpPr txBox="1"/>
          <p:nvPr/>
        </p:nvSpPr>
        <p:spPr>
          <a:xfrm>
            <a:off x="5104186" y="2057400"/>
            <a:ext cx="1983322" cy="274320"/>
          </a:xfrm>
          <a:prstGeom prst="rect">
            <a:avLst/>
          </a:prstGeom>
          <a:noFill/>
        </p:spPr>
        <p:txBody>
          <a:bodyPr wrap="square" lIns="0" rIns="0" tIns="0" bIns="0" anchor="t">
            <a:spAutoFit/>
          </a:bodyPr>
          <a:lstStyle/>
          <a:p>
            <a:pPr algn="l">
              <a:lnSpc>
                <a:spcPct val="112000"/>
              </a:lnSpc>
            </a:pPr>
            <a:r>
              <a:rPr sz="1050" b="0" lang="nl-NL">
                <a:solidFill>
                  <a:srgbClr val="5F5F5F"/>
                </a:solidFill>
                <a:latin typeface="Roboto"/>
              </a:rPr>
              <a:t>/to-spec</a:t>
            </a:r>
          </a:p>
        </p:txBody>
      </p:sp>
      <p:sp>
        <p:nvSpPr>
          <p:cNvPr id="12" name="TextBox 11"/>
          <p:cNvSpPr txBox="1"/>
          <p:nvPr/>
        </p:nvSpPr>
        <p:spPr>
          <a:xfrm>
            <a:off x="7471556" y="1783080"/>
            <a:ext cx="1983322"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4 · BOUWTICKETS</a:t>
            </a:r>
          </a:p>
        </p:txBody>
      </p:sp>
      <p:sp>
        <p:nvSpPr>
          <p:cNvPr id="13" name="TextBox 12"/>
          <p:cNvSpPr txBox="1"/>
          <p:nvPr/>
        </p:nvSpPr>
        <p:spPr>
          <a:xfrm>
            <a:off x="7471556" y="2057400"/>
            <a:ext cx="1983322" cy="274320"/>
          </a:xfrm>
          <a:prstGeom prst="rect">
            <a:avLst/>
          </a:prstGeom>
          <a:noFill/>
        </p:spPr>
        <p:txBody>
          <a:bodyPr wrap="square" lIns="0" rIns="0" tIns="0" bIns="0" anchor="t">
            <a:spAutoFit/>
          </a:bodyPr>
          <a:lstStyle/>
          <a:p>
            <a:pPr algn="l">
              <a:lnSpc>
                <a:spcPct val="112000"/>
              </a:lnSpc>
            </a:pPr>
            <a:r>
              <a:rPr sz="1050" b="0" lang="nl-NL">
                <a:solidFill>
                  <a:srgbClr val="5F5F5F"/>
                </a:solidFill>
                <a:latin typeface="Roboto"/>
              </a:rPr>
              <a:t>/to-tickets</a:t>
            </a:r>
          </a:p>
        </p:txBody>
      </p:sp>
      <p:sp>
        <p:nvSpPr>
          <p:cNvPr id="14" name="TextBox 13"/>
          <p:cNvSpPr txBox="1"/>
          <p:nvPr/>
        </p:nvSpPr>
        <p:spPr>
          <a:xfrm>
            <a:off x="9838927" y="1783080"/>
            <a:ext cx="1983322"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5 · CODE</a:t>
            </a:r>
          </a:p>
        </p:txBody>
      </p:sp>
      <p:sp>
        <p:nvSpPr>
          <p:cNvPr id="15" name="TextBox 14"/>
          <p:cNvSpPr txBox="1"/>
          <p:nvPr/>
        </p:nvSpPr>
        <p:spPr>
          <a:xfrm>
            <a:off x="9838927" y="2057400"/>
            <a:ext cx="1983322" cy="274320"/>
          </a:xfrm>
          <a:prstGeom prst="rect">
            <a:avLst/>
          </a:prstGeom>
          <a:noFill/>
        </p:spPr>
        <p:txBody>
          <a:bodyPr wrap="square" lIns="0" rIns="0" tIns="0" bIns="0" anchor="t">
            <a:spAutoFit/>
          </a:bodyPr>
          <a:lstStyle/>
          <a:p>
            <a:pPr algn="l">
              <a:lnSpc>
                <a:spcPct val="112000"/>
              </a:lnSpc>
            </a:pPr>
            <a:r>
              <a:rPr sz="1050" b="0" lang="nl-NL">
                <a:solidFill>
                  <a:srgbClr val="5F5F5F"/>
                </a:solidFill>
                <a:latin typeface="Roboto"/>
              </a:rPr>
              <a:t>Bouwen, tests, CI</a:t>
            </a:r>
          </a:p>
        </p:txBody>
      </p:sp>
      <p:sp>
        <p:nvSpPr>
          <p:cNvPr id="16" name="Rounded Rectangle 15"/>
          <p:cNvSpPr/>
          <p:nvPr/>
        </p:nvSpPr>
        <p:spPr>
          <a:xfrm>
            <a:off x="369445" y="2514600"/>
            <a:ext cx="1983322" cy="2194560"/>
          </a:xfrm>
          <a:prstGeom prst="roundRect">
            <a:avLst>
              <a:gd name="adj" fmla="val 9313"/>
            </a:avLst>
          </a:prstGeom>
          <a:noFill/>
          <a:ln w="12700">
            <a:solidFill>
              <a:srgbClr val="1F1F1F"/>
            </a:solidFill>
          </a:ln>
        </p:spPr>
        <p:txBody>
          <a:bodyPr rtlCol="0" anchor="ctr"/>
          <a:lstStyle/>
          <a:p>
            <a:pPr algn="ctr"/>
          </a:p>
        </p:txBody>
      </p:sp>
      <p:sp>
        <p:nvSpPr>
          <p:cNvPr id="17" name="TextBox 16"/>
          <p:cNvSpPr txBox="1"/>
          <p:nvPr/>
        </p:nvSpPr>
        <p:spPr>
          <a:xfrm>
            <a:off x="515749" y="2631643"/>
            <a:ext cx="1690714" cy="196047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#2  Map: v1 sales app spec</a:t>
            </a:r>
          </a:p>
          <a:p>
            <a:pPr algn="l">
              <a:lnSpc>
                <a:spcPct val="112000"/>
              </a:lnSpc>
              <a:spcBef>
                <a:spcPts val="300"/>
              </a:spcBef>
            </a:pPr>
            <a:r>
              <a:rPr sz="1100" b="0" lang="nl-NL">
                <a:solidFill>
                  <a:srgbClr val="5F5F5F"/>
                </a:solidFill>
                <a:latin typeface="Roboto"/>
              </a:rPr>
              <a:t>Doel: een bouwbare spec voor v1. Alle open vragen staan als sub-issue onder de kaart.</a:t>
            </a:r>
          </a:p>
        </p:txBody>
      </p:sp>
      <p:sp>
        <p:nvSpPr>
          <p:cNvPr id="18" name="Rounded Rectangle 17"/>
          <p:cNvSpPr/>
          <p:nvPr/>
        </p:nvSpPr>
        <p:spPr>
          <a:xfrm>
            <a:off x="2736815" y="2514600"/>
            <a:ext cx="1983322" cy="2194560"/>
          </a:xfrm>
          <a:prstGeom prst="roundRect">
            <a:avLst>
              <a:gd name="adj" fmla="val 9313"/>
            </a:avLst>
          </a:prstGeom>
          <a:noFill/>
          <a:ln w="12700">
            <a:solidFill>
              <a:srgbClr val="1F1F1F"/>
            </a:solidFill>
          </a:ln>
        </p:spPr>
        <p:txBody>
          <a:bodyPr rtlCol="0" anchor="ctr"/>
          <a:lstStyle/>
          <a:p>
            <a:pPr algn="ctr"/>
          </a:p>
        </p:txBody>
      </p:sp>
      <p:sp>
        <p:nvSpPr>
          <p:cNvPr id="19" name="TextBox 18"/>
          <p:cNvSpPr txBox="1"/>
          <p:nvPr/>
        </p:nvSpPr>
        <p:spPr>
          <a:xfrm>
            <a:off x="2883119" y="2679192"/>
            <a:ext cx="1690714" cy="409194"/>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#3 </a:t>
            </a:r>
            <a:r>
              <a:rPr sz="1100" b="0" lang="nl-NL">
                <a:solidFill>
                  <a:srgbClr val="5F5F5F"/>
                </a:solidFill>
                <a:latin typeface="Roboto"/>
              </a:rPr>
              <a:t>grilling</a:t>
            </a:r>
          </a:p>
          <a:p>
            <a:pPr algn="l">
              <a:lnSpc>
                <a:spcPct val="112000"/>
              </a:lnSpc>
            </a:pPr>
            <a:r>
              <a:rPr sz="1050" b="0" lang="nl-NL">
                <a:solidFill>
                  <a:srgbClr val="1F1F1F"/>
                </a:solidFill>
                <a:latin typeface="Roboto"/>
              </a:rPr>
              <a:t>Status van een Lead</a:t>
            </a:r>
          </a:p>
        </p:txBody>
      </p:sp>
      <p:cxnSp>
        <p:nvCxnSpPr>
          <p:cNvPr id="20" name="Connector 19"/>
          <p:cNvCxnSpPr/>
          <p:nvPr/>
        </p:nvCxnSpPr>
        <p:spPr>
          <a:xfrm>
            <a:off x="2883119" y="3088386"/>
            <a:ext cx="1690715" cy="0"/>
          </a:xfrm>
          <a:prstGeom prst="line">
            <a:avLst/>
          </a:prstGeom>
          <a:ln w="9525">
            <a:solidFill>
              <a:srgbClr val="D6D6D6"/>
            </a:solidFill>
          </a:ln>
        </p:spPr>
      </p:cxnSp>
      <p:sp>
        <p:nvSpPr>
          <p:cNvPr id="21" name="TextBox 20"/>
          <p:cNvSpPr txBox="1"/>
          <p:nvPr/>
        </p:nvSpPr>
        <p:spPr>
          <a:xfrm>
            <a:off x="2883119" y="3124962"/>
            <a:ext cx="1690714" cy="409194"/>
          </a:xfrm>
          <a:prstGeom prst="rect">
            <a:avLst/>
          </a:prstGeom>
          <a:noFill/>
        </p:spPr>
        <p:txBody>
          <a:bodyPr wrap="square" lIns="0" rIns="0" tIns="0" bIns="0" anchor="t">
            <a:spAutoFit/>
          </a:bodyPr>
          <a:lstStyle/>
          <a:p>
            <a:pPr algn="l">
              <a:lnSpc>
                <a:spcPct val="112000"/>
              </a:lnSpc>
            </a:pPr>
            <a:r>
              <a:rPr sz="1100" b="0" lang="nl-NL">
                <a:solidFill>
                  <a:srgbClr val="1F1F1F"/>
                </a:solidFill>
                <a:latin typeface="Montserrat SemiBold"/>
              </a:rPr>
              <a:t>#7 </a:t>
            </a:r>
            <a:r>
              <a:rPr sz="1100" b="0" lang="nl-NL">
                <a:solidFill>
                  <a:srgbClr val="5F5F5F"/>
                </a:solidFill>
                <a:latin typeface="Roboto"/>
              </a:rPr>
              <a:t>prototype</a:t>
            </a:r>
          </a:p>
          <a:p>
            <a:pPr algn="l">
              <a:lnSpc>
                <a:spcPct val="112000"/>
              </a:lnSpc>
            </a:pPr>
            <a:r>
              <a:rPr sz="1050" b="0" lang="nl-NL">
                <a:solidFill>
                  <a:srgbClr val="5F5F5F"/>
                </a:solidFill>
                <a:latin typeface="Roboto"/>
              </a:rPr>
              <a:t>Het pipelinebord</a:t>
            </a:r>
          </a:p>
        </p:txBody>
      </p:sp>
      <p:cxnSp>
        <p:nvCxnSpPr>
          <p:cNvPr id="22" name="Connector 21"/>
          <p:cNvCxnSpPr/>
          <p:nvPr/>
        </p:nvCxnSpPr>
        <p:spPr>
          <a:xfrm>
            <a:off x="2883119" y="3534156"/>
            <a:ext cx="1690715" cy="0"/>
          </a:xfrm>
          <a:prstGeom prst="line">
            <a:avLst/>
          </a:prstGeom>
          <a:ln w="9525">
            <a:solidFill>
              <a:srgbClr val="D6D6D6"/>
            </a:solidFill>
          </a:ln>
        </p:spPr>
      </p:cxnSp>
      <p:sp>
        <p:nvSpPr>
          <p:cNvPr id="23" name="TextBox 22"/>
          <p:cNvSpPr txBox="1"/>
          <p:nvPr/>
        </p:nvSpPr>
        <p:spPr>
          <a:xfrm>
            <a:off x="2883119" y="3570732"/>
            <a:ext cx="1690714" cy="409194"/>
          </a:xfrm>
          <a:prstGeom prst="rect">
            <a:avLst/>
          </a:prstGeom>
          <a:noFill/>
        </p:spPr>
        <p:txBody>
          <a:bodyPr wrap="square" lIns="0" rIns="0" tIns="0" bIns="0" anchor="t">
            <a:spAutoFit/>
          </a:bodyPr>
          <a:lstStyle/>
          <a:p>
            <a:pPr algn="l">
              <a:lnSpc>
                <a:spcPct val="112000"/>
              </a:lnSpc>
            </a:pPr>
            <a:r>
              <a:rPr sz="1100" b="0" lang="nl-NL">
                <a:solidFill>
                  <a:srgbClr val="1F1F1F"/>
                </a:solidFill>
                <a:latin typeface="Montserrat SemiBold"/>
              </a:rPr>
              <a:t>#8 </a:t>
            </a:r>
            <a:r>
              <a:rPr sz="1100" b="0" lang="nl-NL">
                <a:solidFill>
                  <a:srgbClr val="5F5F5F"/>
                </a:solidFill>
                <a:latin typeface="Roboto"/>
              </a:rPr>
              <a:t>research</a:t>
            </a:r>
          </a:p>
          <a:p>
            <a:pPr algn="l">
              <a:lnSpc>
                <a:spcPct val="112000"/>
              </a:lnSpc>
            </a:pPr>
            <a:r>
              <a:rPr sz="1050" b="0" lang="nl-NL">
                <a:solidFill>
                  <a:srgbClr val="5F5F5F"/>
                </a:solidFill>
                <a:latin typeface="Roboto"/>
              </a:rPr>
              <a:t>Dataverse-security</a:t>
            </a:r>
          </a:p>
        </p:txBody>
      </p:sp>
      <p:cxnSp>
        <p:nvCxnSpPr>
          <p:cNvPr id="24" name="Connector 23"/>
          <p:cNvCxnSpPr/>
          <p:nvPr/>
        </p:nvCxnSpPr>
        <p:spPr>
          <a:xfrm>
            <a:off x="2883119" y="3979926"/>
            <a:ext cx="1690715" cy="0"/>
          </a:xfrm>
          <a:prstGeom prst="line">
            <a:avLst/>
          </a:prstGeom>
          <a:ln w="9525">
            <a:solidFill>
              <a:srgbClr val="D6D6D6"/>
            </a:solidFill>
          </a:ln>
        </p:spPr>
      </p:cxnSp>
      <p:sp>
        <p:nvSpPr>
          <p:cNvPr id="25" name="TextBox 24"/>
          <p:cNvSpPr txBox="1"/>
          <p:nvPr/>
        </p:nvSpPr>
        <p:spPr>
          <a:xfrm>
            <a:off x="2883119" y="4016502"/>
            <a:ext cx="1690714" cy="409194"/>
          </a:xfrm>
          <a:prstGeom prst="rect">
            <a:avLst/>
          </a:prstGeom>
          <a:noFill/>
        </p:spPr>
        <p:txBody>
          <a:bodyPr wrap="square" lIns="0" rIns="0" tIns="0" bIns="0" anchor="t">
            <a:spAutoFit/>
          </a:bodyPr>
          <a:lstStyle/>
          <a:p>
            <a:pPr algn="l">
              <a:lnSpc>
                <a:spcPct val="112000"/>
              </a:lnSpc>
            </a:pPr>
            <a:r>
              <a:rPr sz="1100" b="0" lang="nl-NL">
                <a:solidFill>
                  <a:srgbClr val="1F1F1F"/>
                </a:solidFill>
                <a:latin typeface="Montserrat SemiBold"/>
              </a:rPr>
              <a:t>#12 </a:t>
            </a:r>
            <a:r>
              <a:rPr sz="1100" b="0" lang="nl-NL">
                <a:solidFill>
                  <a:srgbClr val="5F5F5F"/>
                </a:solidFill>
                <a:latin typeface="Roboto"/>
              </a:rPr>
              <a:t>task</a:t>
            </a:r>
          </a:p>
          <a:p>
            <a:pPr algn="l">
              <a:lnSpc>
                <a:spcPct val="112000"/>
              </a:lnSpc>
            </a:pPr>
            <a:r>
              <a:rPr sz="1050" b="0" lang="nl-NL">
                <a:solidFill>
                  <a:srgbClr val="5F5F5F"/>
                </a:solidFill>
                <a:latin typeface="Roboto"/>
              </a:rPr>
              <a:t>Check in de omgeving</a:t>
            </a:r>
          </a:p>
        </p:txBody>
      </p:sp>
      <p:sp>
        <p:nvSpPr>
          <p:cNvPr id="26" name="TextBox 25"/>
          <p:cNvSpPr txBox="1"/>
          <p:nvPr/>
        </p:nvSpPr>
        <p:spPr>
          <a:xfrm>
            <a:off x="2883119" y="4398264"/>
            <a:ext cx="1690714" cy="22860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+ 10 andere, 14 in totaal</a:t>
            </a:r>
          </a:p>
        </p:txBody>
      </p:sp>
      <p:sp>
        <p:nvSpPr>
          <p:cNvPr id="27" name="Rounded Rectangle 26"/>
          <p:cNvSpPr/>
          <p:nvPr/>
        </p:nvSpPr>
        <p:spPr>
          <a:xfrm>
            <a:off x="5104186" y="2514600"/>
            <a:ext cx="1983322" cy="2194560"/>
          </a:xfrm>
          <a:prstGeom prst="roundRect">
            <a:avLst>
              <a:gd name="adj" fmla="val 9313"/>
            </a:avLst>
          </a:prstGeom>
          <a:noFill/>
          <a:ln w="12700">
            <a:solidFill>
              <a:srgbClr val="1F1F1F"/>
            </a:solidFill>
          </a:ln>
        </p:spPr>
        <p:txBody>
          <a:bodyPr rtlCol="0" anchor="ctr"/>
          <a:lstStyle/>
          <a:p>
            <a:pPr algn="ctr"/>
          </a:p>
        </p:txBody>
      </p:sp>
      <p:sp>
        <p:nvSpPr>
          <p:cNvPr id="28" name="TextBox 27"/>
          <p:cNvSpPr txBox="1"/>
          <p:nvPr/>
        </p:nvSpPr>
        <p:spPr>
          <a:xfrm>
            <a:off x="5250490" y="2631643"/>
            <a:ext cx="1690714" cy="196047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#23  Spec: v1 sales app</a:t>
            </a:r>
          </a:p>
          <a:p>
            <a:pPr algn="l">
              <a:lnSpc>
                <a:spcPct val="112000"/>
              </a:lnSpc>
              <a:spcBef>
                <a:spcPts val="300"/>
              </a:spcBef>
            </a:pPr>
            <a:r>
              <a:rPr sz="1100" b="0" lang="nl-NL">
                <a:solidFill>
                  <a:srgbClr val="5F5F5F"/>
                </a:solidFill>
                <a:latin typeface="Roboto"/>
              </a:rPr>
              <a:t>Probleem, oplossing en user stories, geschreven uit de 14 gesloten beslispunten.</a:t>
            </a:r>
          </a:p>
        </p:txBody>
      </p:sp>
      <p:sp>
        <p:nvSpPr>
          <p:cNvPr id="29" name="Rounded Rectangle 28"/>
          <p:cNvSpPr/>
          <p:nvPr/>
        </p:nvSpPr>
        <p:spPr>
          <a:xfrm>
            <a:off x="7471556" y="2514600"/>
            <a:ext cx="1983322" cy="2194560"/>
          </a:xfrm>
          <a:prstGeom prst="roundRect">
            <a:avLst>
              <a:gd name="adj" fmla="val 9313"/>
            </a:avLst>
          </a:prstGeom>
          <a:noFill/>
          <a:ln w="12700">
            <a:solidFill>
              <a:srgbClr val="1F1F1F"/>
            </a:solidFill>
          </a:ln>
        </p:spPr>
        <p:txBody>
          <a:bodyPr rtlCol="0" anchor="ctr"/>
          <a:lstStyle/>
          <a:p>
            <a:pPr algn="ctr"/>
          </a:p>
        </p:txBody>
      </p:sp>
      <p:sp>
        <p:nvSpPr>
          <p:cNvPr id="30" name="TextBox 29"/>
          <p:cNvSpPr txBox="1"/>
          <p:nvPr/>
        </p:nvSpPr>
        <p:spPr>
          <a:xfrm>
            <a:off x="7617860" y="2631643"/>
            <a:ext cx="1690714" cy="196047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#31  Build: Qualify</a:t>
            </a:r>
          </a:p>
          <a:p>
            <a:pPr algn="l">
              <a:lnSpc>
                <a:spcPct val="112000"/>
              </a:lnSpc>
              <a:spcBef>
                <a:spcPts val="300"/>
              </a:spcBef>
            </a:pPr>
            <a:r>
              <a:rPr sz="1100" b="0" lang="nl-NL">
                <a:solidFill>
                  <a:srgbClr val="5F5F5F"/>
                </a:solidFill>
                <a:latin typeface="Roboto"/>
              </a:rPr>
              <a:t>Eén van de 12 bouwtickets (#24 t/m #35). Met wat te bouwen en acceptatiecriteria.</a:t>
            </a:r>
          </a:p>
        </p:txBody>
      </p:sp>
      <p:sp>
        <p:nvSpPr>
          <p:cNvPr id="31" name="Rounded Rectangle 30"/>
          <p:cNvSpPr/>
          <p:nvPr/>
        </p:nvSpPr>
        <p:spPr>
          <a:xfrm>
            <a:off x="9838927" y="2514600"/>
            <a:ext cx="1983322" cy="2194560"/>
          </a:xfrm>
          <a:prstGeom prst="roundRect">
            <a:avLst>
              <a:gd name="adj" fmla="val 9313"/>
            </a:avLst>
          </a:prstGeom>
          <a:noFill/>
          <a:ln w="19050">
            <a:solidFill>
              <a:srgbClr val="C514B4"/>
            </a:solidFill>
          </a:ln>
        </p:spPr>
        <p:txBody>
          <a:bodyPr rtlCol="0" anchor="ctr"/>
          <a:lstStyle/>
          <a:p>
            <a:pPr algn="ctr"/>
          </a:p>
        </p:txBody>
      </p:sp>
      <p:sp>
        <p:nvSpPr>
          <p:cNvPr id="32" name="TextBox 31"/>
          <p:cNvSpPr txBox="1"/>
          <p:nvPr/>
        </p:nvSpPr>
        <p:spPr>
          <a:xfrm>
            <a:off x="9985231" y="2631643"/>
            <a:ext cx="1690714" cy="196047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PR #49  Qualify</a:t>
            </a:r>
          </a:p>
          <a:p>
            <a:pPr algn="l">
              <a:lnSpc>
                <a:spcPct val="112000"/>
              </a:lnSpc>
              <a:spcBef>
                <a:spcPts val="300"/>
              </a:spcBef>
            </a:pPr>
            <a:r>
              <a:rPr sz="1100" b="0" lang="nl-NL">
                <a:solidFill>
                  <a:srgbClr val="5F5F5F"/>
                </a:solidFill>
                <a:latin typeface="Roboto"/>
              </a:rPr>
              <a:t>Dialoog, Dataverse-gateway en Lead-actie. Tests groen, gemerged.</a:t>
            </a:r>
          </a:p>
        </p:txBody>
      </p:sp>
      <p:cxnSp>
        <p:nvCxnSpPr>
          <p:cNvPr id="33" name="Connector 32"/>
          <p:cNvCxnSpPr/>
          <p:nvPr/>
        </p:nvCxnSpPr>
        <p:spPr>
          <a:xfrm>
            <a:off x="2407631" y="3611880"/>
            <a:ext cx="274320" cy="0"/>
          </a:xfrm>
          <a:prstGeom prst="line">
            <a:avLst/>
          </a:prstGeom>
          <a:ln w="12700">
            <a:solidFill>
              <a:srgbClr val="5F5F5F"/>
            </a:solidFill>
            <a:tailEnd type="triangle" w="med" len="med"/>
          </a:ln>
        </p:spPr>
      </p:cxnSp>
      <p:cxnSp>
        <p:nvCxnSpPr>
          <p:cNvPr id="34" name="Connector 33"/>
          <p:cNvCxnSpPr/>
          <p:nvPr/>
        </p:nvCxnSpPr>
        <p:spPr>
          <a:xfrm>
            <a:off x="4775002" y="3611880"/>
            <a:ext cx="274320" cy="0"/>
          </a:xfrm>
          <a:prstGeom prst="line">
            <a:avLst/>
          </a:prstGeom>
          <a:ln w="12700">
            <a:solidFill>
              <a:srgbClr val="5F5F5F"/>
            </a:solidFill>
            <a:tailEnd type="triangle" w="med" len="med"/>
          </a:ln>
        </p:spPr>
      </p:cxnSp>
      <p:cxnSp>
        <p:nvCxnSpPr>
          <p:cNvPr id="35" name="Connector 34"/>
          <p:cNvCxnSpPr/>
          <p:nvPr/>
        </p:nvCxnSpPr>
        <p:spPr>
          <a:xfrm>
            <a:off x="7142372" y="3611880"/>
            <a:ext cx="274320" cy="0"/>
          </a:xfrm>
          <a:prstGeom prst="line">
            <a:avLst/>
          </a:prstGeom>
          <a:ln w="12700">
            <a:solidFill>
              <a:srgbClr val="5F5F5F"/>
            </a:solidFill>
            <a:tailEnd type="triangle" w="med" len="med"/>
          </a:ln>
        </p:spPr>
      </p:cxnSp>
      <p:cxnSp>
        <p:nvCxnSpPr>
          <p:cNvPr id="36" name="Connector 35"/>
          <p:cNvCxnSpPr/>
          <p:nvPr/>
        </p:nvCxnSpPr>
        <p:spPr>
          <a:xfrm>
            <a:off x="9509743" y="3611880"/>
            <a:ext cx="274320" cy="0"/>
          </a:xfrm>
          <a:prstGeom prst="line">
            <a:avLst/>
          </a:prstGeom>
          <a:ln w="12700">
            <a:solidFill>
              <a:srgbClr val="5F5F5F"/>
            </a:solidFill>
            <a:tailEnd type="triangle" w="med" len="med"/>
          </a:ln>
        </p:spPr>
      </p:cxnSp>
      <p:cxnSp>
        <p:nvCxnSpPr>
          <p:cNvPr id="37" name="Connector 36"/>
          <p:cNvCxnSpPr/>
          <p:nvPr/>
        </p:nvCxnSpPr>
        <p:spPr>
          <a:xfrm>
            <a:off x="369445" y="4910328"/>
            <a:ext cx="11452804" cy="0"/>
          </a:xfrm>
          <a:prstGeom prst="line">
            <a:avLst/>
          </a:prstGeom>
          <a:ln w="9525">
            <a:solidFill>
              <a:srgbClr val="1F1F1F"/>
            </a:solidFill>
          </a:ln>
        </p:spPr>
      </p:cxnSp>
      <p:sp>
        <p:nvSpPr>
          <p:cNvPr id="38" name="TextBox 37"/>
          <p:cNvSpPr txBox="1"/>
          <p:nvPr/>
        </p:nvSpPr>
        <p:spPr>
          <a:xfrm>
            <a:off x="369445" y="4983480"/>
            <a:ext cx="11452804"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Montserrat SemiBold"/>
              </a:rPr>
              <a:t>HOE HET AAN ELKAAR VASTZIT</a:t>
            </a:r>
          </a:p>
        </p:txBody>
      </p:sp>
      <p:sp>
        <p:nvSpPr>
          <p:cNvPr id="39" name="TextBox 38"/>
          <p:cNvSpPr txBox="1"/>
          <p:nvPr/>
        </p:nvSpPr>
        <p:spPr>
          <a:xfrm>
            <a:off x="369445" y="5239512"/>
            <a:ext cx="1983322" cy="822960"/>
          </a:xfrm>
          <a:prstGeom prst="rect">
            <a:avLst/>
          </a:prstGeom>
          <a:noFill/>
        </p:spPr>
        <p:txBody>
          <a:bodyPr wrap="square" lIns="0" rIns="0" tIns="0" bIns="0" anchor="t">
            <a:spAutoFit/>
          </a:bodyPr>
          <a:lstStyle/>
          <a:p>
            <a:pPr algn="l">
              <a:lnSpc>
                <a:spcPct val="112000"/>
              </a:lnSpc>
            </a:pPr>
            <a:r>
              <a:rPr sz="1150" b="0" lang="nl-NL">
                <a:solidFill>
                  <a:srgbClr val="1F1F1F"/>
                </a:solidFill>
                <a:latin typeface="Roboto"/>
              </a:rPr>
              <a:t>Elk beslispunt is een sub-issue van #2</a:t>
            </a:r>
          </a:p>
        </p:txBody>
      </p:sp>
      <p:sp>
        <p:nvSpPr>
          <p:cNvPr id="40" name="TextBox 39"/>
          <p:cNvSpPr txBox="1"/>
          <p:nvPr/>
        </p:nvSpPr>
        <p:spPr>
          <a:xfrm>
            <a:off x="2736815" y="5239512"/>
            <a:ext cx="1983322" cy="822960"/>
          </a:xfrm>
          <a:prstGeom prst="rect">
            <a:avLst/>
          </a:prstGeom>
          <a:noFill/>
        </p:spPr>
        <p:txBody>
          <a:bodyPr wrap="square" lIns="0" rIns="0" tIns="0" bIns="0" anchor="t">
            <a:spAutoFit/>
          </a:bodyPr>
          <a:lstStyle/>
          <a:p>
            <a:pPr algn="l">
              <a:lnSpc>
                <a:spcPct val="112000"/>
              </a:lnSpc>
            </a:pPr>
            <a:r>
              <a:rPr sz="1150" b="0" lang="nl-NL">
                <a:solidFill>
                  <a:srgbClr val="1F1F1F"/>
                </a:solidFill>
                <a:latin typeface="Roboto"/>
              </a:rPr>
              <a:t>Besluit als comment in #3, woordenlijst bijgewerkt</a:t>
            </a:r>
          </a:p>
        </p:txBody>
      </p:sp>
      <p:sp>
        <p:nvSpPr>
          <p:cNvPr id="41" name="TextBox 40"/>
          <p:cNvSpPr txBox="1"/>
          <p:nvPr/>
        </p:nvSpPr>
        <p:spPr>
          <a:xfrm>
            <a:off x="5104186" y="5239512"/>
            <a:ext cx="1983322" cy="822960"/>
          </a:xfrm>
          <a:prstGeom prst="rect">
            <a:avLst/>
          </a:prstGeom>
          <a:noFill/>
        </p:spPr>
        <p:txBody>
          <a:bodyPr wrap="square" lIns="0" rIns="0" tIns="0" bIns="0" anchor="t">
            <a:spAutoFit/>
          </a:bodyPr>
          <a:lstStyle/>
          <a:p>
            <a:pPr algn="l">
              <a:lnSpc>
                <a:spcPct val="112000"/>
              </a:lnSpc>
            </a:pPr>
            <a:r>
              <a:rPr sz="1150" b="0" lang="nl-NL">
                <a:solidFill>
                  <a:srgbClr val="1F1F1F"/>
                </a:solidFill>
                <a:latin typeface="Roboto"/>
              </a:rPr>
              <a:t>De spec verwijst terug: "from the Lead lifecycle decision #3"</a:t>
            </a:r>
          </a:p>
        </p:txBody>
      </p:sp>
      <p:sp>
        <p:nvSpPr>
          <p:cNvPr id="42" name="TextBox 41"/>
          <p:cNvSpPr txBox="1"/>
          <p:nvPr/>
        </p:nvSpPr>
        <p:spPr>
          <a:xfrm>
            <a:off x="7471556" y="5239512"/>
            <a:ext cx="1983322" cy="822960"/>
          </a:xfrm>
          <a:prstGeom prst="rect">
            <a:avLst/>
          </a:prstGeom>
          <a:noFill/>
        </p:spPr>
        <p:txBody>
          <a:bodyPr wrap="square" lIns="0" rIns="0" tIns="0" bIns="0" anchor="t">
            <a:spAutoFit/>
          </a:bodyPr>
          <a:lstStyle/>
          <a:p>
            <a:pPr algn="l">
              <a:lnSpc>
                <a:spcPct val="112000"/>
              </a:lnSpc>
            </a:pPr>
            <a:r>
              <a:rPr sz="1150" b="0" lang="nl-NL">
                <a:solidFill>
                  <a:srgbClr val="1F1F1F"/>
                </a:solidFill>
                <a:latin typeface="Roboto"/>
              </a:rPr>
              <a:t>"Part of #23": bouwticket is sub-issue van de spec</a:t>
            </a:r>
          </a:p>
        </p:txBody>
      </p:sp>
      <p:sp>
        <p:nvSpPr>
          <p:cNvPr id="43" name="TextBox 42"/>
          <p:cNvSpPr txBox="1"/>
          <p:nvPr/>
        </p:nvSpPr>
        <p:spPr>
          <a:xfrm>
            <a:off x="9838927" y="5239512"/>
            <a:ext cx="1983322" cy="822960"/>
          </a:xfrm>
          <a:prstGeom prst="rect">
            <a:avLst/>
          </a:prstGeom>
          <a:noFill/>
        </p:spPr>
        <p:txBody>
          <a:bodyPr wrap="square" lIns="0" rIns="0" tIns="0" bIns="0" anchor="t">
            <a:spAutoFit/>
          </a:bodyPr>
          <a:lstStyle/>
          <a:p>
            <a:pPr algn="l">
              <a:lnSpc>
                <a:spcPct val="112000"/>
              </a:lnSpc>
            </a:pPr>
            <a:r>
              <a:rPr sz="1150" b="0" lang="nl-NL">
                <a:solidFill>
                  <a:srgbClr val="1F1F1F"/>
                </a:solidFill>
                <a:latin typeface="Roboto"/>
              </a:rPr>
              <a:t>De PR sluit #31 bij het mergen</a:t>
            </a:r>
          </a:p>
        </p:txBody>
      </p:sp>
      <p:sp>
        <p:nvSpPr>
          <p:cNvPr id="44" name="TextBox 43"/>
          <p:cNvSpPr txBox="1"/>
          <p:nvPr/>
        </p:nvSpPr>
        <p:spPr>
          <a:xfrm>
            <a:off x="369445" y="5894194"/>
            <a:ext cx="11452804"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Voorbeeld uit v1, Bramvdw94/power-platform-sales-app. Skillnamen uit github.com/mattpocock/skills.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HET PROCES IN CIJFERS</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Drie keer de cirkel rond</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13</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3694453" cy="0"/>
          </a:xfrm>
          <a:prstGeom prst="line">
            <a:avLst/>
          </a:prstGeom>
          <a:ln w="9525">
            <a:solidFill>
              <a:srgbClr val="1F1F1F"/>
            </a:solidFill>
          </a:ln>
        </p:spPr>
      </p:cxnSp>
      <p:sp>
        <p:nvSpPr>
          <p:cNvPr id="7" name="TextBox 6"/>
          <p:cNvSpPr txBox="1"/>
          <p:nvPr/>
        </p:nvSpPr>
        <p:spPr>
          <a:xfrm>
            <a:off x="369445" y="1892807"/>
            <a:ext cx="3694453" cy="457200"/>
          </a:xfrm>
          <a:prstGeom prst="rect">
            <a:avLst/>
          </a:prstGeom>
          <a:noFill/>
        </p:spPr>
        <p:txBody>
          <a:bodyPr wrap="square" lIns="0" rIns="0" tIns="0" bIns="0" anchor="t">
            <a:spAutoFit/>
          </a:bodyPr>
          <a:lstStyle/>
          <a:p>
            <a:pPr algn="l">
              <a:lnSpc>
                <a:spcPct val="112000"/>
              </a:lnSpc>
            </a:pPr>
            <a:r>
              <a:rPr sz="2800" b="0" lang="nl-NL">
                <a:solidFill>
                  <a:srgbClr val="1F1F1F"/>
                </a:solidFill>
                <a:latin typeface="Montserrat"/>
              </a:rPr>
              <a:t>v1</a:t>
            </a:r>
          </a:p>
        </p:txBody>
      </p:sp>
      <p:sp>
        <p:nvSpPr>
          <p:cNvPr id="8" name="TextBox 7"/>
          <p:cNvSpPr txBox="1"/>
          <p:nvPr/>
        </p:nvSpPr>
        <p:spPr>
          <a:xfrm>
            <a:off x="369445" y="2404872"/>
            <a:ext cx="3694453"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Montserrat SemiBold"/>
              </a:rPr>
              <a:t>GEBOUWD EN GEDEPLOYED</a:t>
            </a:r>
          </a:p>
        </p:txBody>
      </p:sp>
      <p:cxnSp>
        <p:nvCxnSpPr>
          <p:cNvPr id="9" name="Connector 8"/>
          <p:cNvCxnSpPr/>
          <p:nvPr/>
        </p:nvCxnSpPr>
        <p:spPr>
          <a:xfrm>
            <a:off x="369445" y="2807208"/>
            <a:ext cx="3694453" cy="0"/>
          </a:xfrm>
          <a:prstGeom prst="line">
            <a:avLst/>
          </a:prstGeom>
          <a:ln w="9525">
            <a:solidFill>
              <a:srgbClr val="D6D6D6"/>
            </a:solidFill>
          </a:ln>
        </p:spPr>
      </p:cxnSp>
      <p:sp>
        <p:nvSpPr>
          <p:cNvPr id="10" name="TextBox 9"/>
          <p:cNvSpPr txBox="1"/>
          <p:nvPr/>
        </p:nvSpPr>
        <p:spPr>
          <a:xfrm>
            <a:off x="369445" y="2898648"/>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14</a:t>
            </a:r>
          </a:p>
        </p:txBody>
      </p:sp>
      <p:sp>
        <p:nvSpPr>
          <p:cNvPr id="11" name="TextBox 10"/>
          <p:cNvSpPr txBox="1"/>
          <p:nvPr/>
        </p:nvSpPr>
        <p:spPr>
          <a:xfrm>
            <a:off x="369445" y="3648456"/>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beslispunten op de kaart</a:t>
            </a:r>
          </a:p>
        </p:txBody>
      </p:sp>
      <p:cxnSp>
        <p:nvCxnSpPr>
          <p:cNvPr id="12" name="Connector 11"/>
          <p:cNvCxnSpPr/>
          <p:nvPr/>
        </p:nvCxnSpPr>
        <p:spPr>
          <a:xfrm>
            <a:off x="369445" y="4069080"/>
            <a:ext cx="3694453" cy="0"/>
          </a:xfrm>
          <a:prstGeom prst="line">
            <a:avLst/>
          </a:prstGeom>
          <a:ln w="9525">
            <a:solidFill>
              <a:srgbClr val="D6D6D6"/>
            </a:solidFill>
          </a:ln>
        </p:spPr>
      </p:cxnSp>
      <p:sp>
        <p:nvSpPr>
          <p:cNvPr id="13" name="TextBox 12"/>
          <p:cNvSpPr txBox="1"/>
          <p:nvPr/>
        </p:nvSpPr>
        <p:spPr>
          <a:xfrm>
            <a:off x="369445" y="4160520"/>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12</a:t>
            </a:r>
          </a:p>
        </p:txBody>
      </p:sp>
      <p:sp>
        <p:nvSpPr>
          <p:cNvPr id="14" name="TextBox 13"/>
          <p:cNvSpPr txBox="1"/>
          <p:nvPr/>
        </p:nvSpPr>
        <p:spPr>
          <a:xfrm>
            <a:off x="369445" y="4910328"/>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bouwtickets</a:t>
            </a:r>
          </a:p>
        </p:txBody>
      </p:sp>
      <p:cxnSp>
        <p:nvCxnSpPr>
          <p:cNvPr id="15" name="Connector 14"/>
          <p:cNvCxnSpPr/>
          <p:nvPr/>
        </p:nvCxnSpPr>
        <p:spPr>
          <a:xfrm>
            <a:off x="369445" y="5330952"/>
            <a:ext cx="3694453" cy="0"/>
          </a:xfrm>
          <a:prstGeom prst="line">
            <a:avLst/>
          </a:prstGeom>
          <a:ln w="9525">
            <a:solidFill>
              <a:srgbClr val="D6D6D6"/>
            </a:solidFill>
          </a:ln>
        </p:spPr>
      </p:cxnSp>
      <p:sp>
        <p:nvSpPr>
          <p:cNvPr id="16" name="TextBox 15"/>
          <p:cNvSpPr txBox="1"/>
          <p:nvPr/>
        </p:nvSpPr>
        <p:spPr>
          <a:xfrm>
            <a:off x="369445" y="5440680"/>
            <a:ext cx="3694453" cy="274320"/>
          </a:xfrm>
          <a:prstGeom prst="rect">
            <a:avLst/>
          </a:prstGeom>
          <a:noFill/>
        </p:spPr>
        <p:txBody>
          <a:bodyPr wrap="square" lIns="0" rIns="0" tIns="0" bIns="0" anchor="t">
            <a:spAutoFit/>
          </a:bodyPr>
          <a:lstStyle/>
          <a:p>
            <a:pPr algn="l">
              <a:lnSpc>
                <a:spcPct val="112000"/>
              </a:lnSpc>
            </a:pPr>
            <a:r>
              <a:rPr sz="1200" b="0" lang="nl-NL">
                <a:solidFill>
                  <a:srgbClr val="1F1F1F"/>
                </a:solidFill>
                <a:latin typeface="Roboto"/>
              </a:rPr>
              <a:t>Kaart #2  ·  spec #23</a:t>
            </a:r>
          </a:p>
        </p:txBody>
      </p:sp>
      <p:cxnSp>
        <p:nvCxnSpPr>
          <p:cNvPr id="17" name="Connector 16"/>
          <p:cNvCxnSpPr/>
          <p:nvPr/>
        </p:nvCxnSpPr>
        <p:spPr>
          <a:xfrm>
            <a:off x="4248621" y="1783080"/>
            <a:ext cx="3694453" cy="0"/>
          </a:xfrm>
          <a:prstGeom prst="line">
            <a:avLst/>
          </a:prstGeom>
          <a:ln w="9525">
            <a:solidFill>
              <a:srgbClr val="1F1F1F"/>
            </a:solidFill>
          </a:ln>
        </p:spPr>
      </p:cxnSp>
      <p:sp>
        <p:nvSpPr>
          <p:cNvPr id="18" name="TextBox 17"/>
          <p:cNvSpPr txBox="1"/>
          <p:nvPr/>
        </p:nvSpPr>
        <p:spPr>
          <a:xfrm>
            <a:off x="4248621" y="1892807"/>
            <a:ext cx="3694453" cy="457200"/>
          </a:xfrm>
          <a:prstGeom prst="rect">
            <a:avLst/>
          </a:prstGeom>
          <a:noFill/>
        </p:spPr>
        <p:txBody>
          <a:bodyPr wrap="square" lIns="0" rIns="0" tIns="0" bIns="0" anchor="t">
            <a:spAutoFit/>
          </a:bodyPr>
          <a:lstStyle/>
          <a:p>
            <a:pPr algn="l">
              <a:lnSpc>
                <a:spcPct val="112000"/>
              </a:lnSpc>
            </a:pPr>
            <a:r>
              <a:rPr sz="2800" b="0" lang="nl-NL">
                <a:solidFill>
                  <a:srgbClr val="1F1F1F"/>
                </a:solidFill>
                <a:latin typeface="Montserrat"/>
              </a:rPr>
              <a:t>v2</a:t>
            </a:r>
          </a:p>
        </p:txBody>
      </p:sp>
      <p:sp>
        <p:nvSpPr>
          <p:cNvPr id="19" name="TextBox 18"/>
          <p:cNvSpPr txBox="1"/>
          <p:nvPr/>
        </p:nvSpPr>
        <p:spPr>
          <a:xfrm>
            <a:off x="4248621" y="2404872"/>
            <a:ext cx="3694453"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Montserrat SemiBold"/>
              </a:rPr>
              <a:t>GEBOUWD EN GEDEPLOYED</a:t>
            </a:r>
          </a:p>
        </p:txBody>
      </p:sp>
      <p:cxnSp>
        <p:nvCxnSpPr>
          <p:cNvPr id="20" name="Connector 19"/>
          <p:cNvCxnSpPr/>
          <p:nvPr/>
        </p:nvCxnSpPr>
        <p:spPr>
          <a:xfrm>
            <a:off x="4248621" y="2807208"/>
            <a:ext cx="3694453" cy="0"/>
          </a:xfrm>
          <a:prstGeom prst="line">
            <a:avLst/>
          </a:prstGeom>
          <a:ln w="9525">
            <a:solidFill>
              <a:srgbClr val="D6D6D6"/>
            </a:solidFill>
          </a:ln>
        </p:spPr>
      </p:cxnSp>
      <p:sp>
        <p:nvSpPr>
          <p:cNvPr id="21" name="TextBox 20"/>
          <p:cNvSpPr txBox="1"/>
          <p:nvPr/>
        </p:nvSpPr>
        <p:spPr>
          <a:xfrm>
            <a:off x="4248621" y="2898648"/>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19</a:t>
            </a:r>
          </a:p>
        </p:txBody>
      </p:sp>
      <p:sp>
        <p:nvSpPr>
          <p:cNvPr id="22" name="TextBox 21"/>
          <p:cNvSpPr txBox="1"/>
          <p:nvPr/>
        </p:nvSpPr>
        <p:spPr>
          <a:xfrm>
            <a:off x="4248621" y="3648456"/>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beslispunten op de kaart</a:t>
            </a:r>
          </a:p>
        </p:txBody>
      </p:sp>
      <p:cxnSp>
        <p:nvCxnSpPr>
          <p:cNvPr id="23" name="Connector 22"/>
          <p:cNvCxnSpPr/>
          <p:nvPr/>
        </p:nvCxnSpPr>
        <p:spPr>
          <a:xfrm>
            <a:off x="4248621" y="4069080"/>
            <a:ext cx="3694453" cy="0"/>
          </a:xfrm>
          <a:prstGeom prst="line">
            <a:avLst/>
          </a:prstGeom>
          <a:ln w="9525">
            <a:solidFill>
              <a:srgbClr val="D6D6D6"/>
            </a:solidFill>
          </a:ln>
        </p:spPr>
      </p:cxnSp>
      <p:sp>
        <p:nvSpPr>
          <p:cNvPr id="24" name="TextBox 23"/>
          <p:cNvSpPr txBox="1"/>
          <p:nvPr/>
        </p:nvSpPr>
        <p:spPr>
          <a:xfrm>
            <a:off x="4248621" y="4160520"/>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16</a:t>
            </a:r>
          </a:p>
        </p:txBody>
      </p:sp>
      <p:sp>
        <p:nvSpPr>
          <p:cNvPr id="25" name="TextBox 24"/>
          <p:cNvSpPr txBox="1"/>
          <p:nvPr/>
        </p:nvSpPr>
        <p:spPr>
          <a:xfrm>
            <a:off x="4248621" y="4910328"/>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bouwtickets</a:t>
            </a:r>
          </a:p>
        </p:txBody>
      </p:sp>
      <p:cxnSp>
        <p:nvCxnSpPr>
          <p:cNvPr id="26" name="Connector 25"/>
          <p:cNvCxnSpPr/>
          <p:nvPr/>
        </p:nvCxnSpPr>
        <p:spPr>
          <a:xfrm>
            <a:off x="4248621" y="5330952"/>
            <a:ext cx="3694453" cy="0"/>
          </a:xfrm>
          <a:prstGeom prst="line">
            <a:avLst/>
          </a:prstGeom>
          <a:ln w="9525">
            <a:solidFill>
              <a:srgbClr val="D6D6D6"/>
            </a:solidFill>
          </a:ln>
        </p:spPr>
      </p:cxnSp>
      <p:sp>
        <p:nvSpPr>
          <p:cNvPr id="27" name="TextBox 26"/>
          <p:cNvSpPr txBox="1"/>
          <p:nvPr/>
        </p:nvSpPr>
        <p:spPr>
          <a:xfrm>
            <a:off x="4248621" y="5440680"/>
            <a:ext cx="3694453" cy="274320"/>
          </a:xfrm>
          <a:prstGeom prst="rect">
            <a:avLst/>
          </a:prstGeom>
          <a:noFill/>
        </p:spPr>
        <p:txBody>
          <a:bodyPr wrap="square" lIns="0" rIns="0" tIns="0" bIns="0" anchor="t">
            <a:spAutoFit/>
          </a:bodyPr>
          <a:lstStyle/>
          <a:p>
            <a:pPr algn="l">
              <a:lnSpc>
                <a:spcPct val="112000"/>
              </a:lnSpc>
            </a:pPr>
            <a:r>
              <a:rPr sz="1200" b="0" lang="nl-NL">
                <a:solidFill>
                  <a:srgbClr val="1F1F1F"/>
                </a:solidFill>
                <a:latin typeface="Roboto"/>
              </a:rPr>
              <a:t>Kaart #58  ·  spec #91</a:t>
            </a:r>
          </a:p>
        </p:txBody>
      </p:sp>
      <p:cxnSp>
        <p:nvCxnSpPr>
          <p:cNvPr id="28" name="Connector 27"/>
          <p:cNvCxnSpPr/>
          <p:nvPr/>
        </p:nvCxnSpPr>
        <p:spPr>
          <a:xfrm>
            <a:off x="8127796" y="1783080"/>
            <a:ext cx="3694453" cy="0"/>
          </a:xfrm>
          <a:prstGeom prst="line">
            <a:avLst/>
          </a:prstGeom>
          <a:ln w="9525">
            <a:solidFill>
              <a:srgbClr val="1F1F1F"/>
            </a:solidFill>
          </a:ln>
        </p:spPr>
      </p:cxnSp>
      <p:sp>
        <p:nvSpPr>
          <p:cNvPr id="29" name="TextBox 28"/>
          <p:cNvSpPr txBox="1"/>
          <p:nvPr/>
        </p:nvSpPr>
        <p:spPr>
          <a:xfrm>
            <a:off x="8127796" y="1892807"/>
            <a:ext cx="3694453" cy="457200"/>
          </a:xfrm>
          <a:prstGeom prst="rect">
            <a:avLst/>
          </a:prstGeom>
          <a:noFill/>
        </p:spPr>
        <p:txBody>
          <a:bodyPr wrap="square" lIns="0" rIns="0" tIns="0" bIns="0" anchor="t">
            <a:spAutoFit/>
          </a:bodyPr>
          <a:lstStyle/>
          <a:p>
            <a:pPr algn="l">
              <a:lnSpc>
                <a:spcPct val="112000"/>
              </a:lnSpc>
            </a:pPr>
            <a:r>
              <a:rPr sz="2800" b="0" lang="nl-NL">
                <a:solidFill>
                  <a:srgbClr val="1F1F1F"/>
                </a:solidFill>
                <a:latin typeface="Montserrat"/>
              </a:rPr>
              <a:t>v3</a:t>
            </a:r>
          </a:p>
        </p:txBody>
      </p:sp>
      <p:sp>
        <p:nvSpPr>
          <p:cNvPr id="30" name="TextBox 29"/>
          <p:cNvSpPr txBox="1"/>
          <p:nvPr/>
        </p:nvSpPr>
        <p:spPr>
          <a:xfrm>
            <a:off x="8127796" y="2404872"/>
            <a:ext cx="3694453"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SPEC KLAAR, BOUW GEPLAND</a:t>
            </a:r>
          </a:p>
        </p:txBody>
      </p:sp>
      <p:cxnSp>
        <p:nvCxnSpPr>
          <p:cNvPr id="31" name="Connector 30"/>
          <p:cNvCxnSpPr/>
          <p:nvPr/>
        </p:nvCxnSpPr>
        <p:spPr>
          <a:xfrm>
            <a:off x="8127796" y="2807208"/>
            <a:ext cx="3694453" cy="0"/>
          </a:xfrm>
          <a:prstGeom prst="line">
            <a:avLst/>
          </a:prstGeom>
          <a:ln w="9525">
            <a:solidFill>
              <a:srgbClr val="D6D6D6"/>
            </a:solidFill>
          </a:ln>
        </p:spPr>
      </p:cxnSp>
      <p:sp>
        <p:nvSpPr>
          <p:cNvPr id="32" name="TextBox 31"/>
          <p:cNvSpPr txBox="1"/>
          <p:nvPr/>
        </p:nvSpPr>
        <p:spPr>
          <a:xfrm>
            <a:off x="8127796" y="2898648"/>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24</a:t>
            </a:r>
          </a:p>
        </p:txBody>
      </p:sp>
      <p:sp>
        <p:nvSpPr>
          <p:cNvPr id="33" name="TextBox 32"/>
          <p:cNvSpPr txBox="1"/>
          <p:nvPr/>
        </p:nvSpPr>
        <p:spPr>
          <a:xfrm>
            <a:off x="8127796" y="3648456"/>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beslispunten op de kaart</a:t>
            </a:r>
          </a:p>
        </p:txBody>
      </p:sp>
      <p:cxnSp>
        <p:nvCxnSpPr>
          <p:cNvPr id="34" name="Connector 33"/>
          <p:cNvCxnSpPr/>
          <p:nvPr/>
        </p:nvCxnSpPr>
        <p:spPr>
          <a:xfrm>
            <a:off x="8127796" y="4069080"/>
            <a:ext cx="3694453" cy="0"/>
          </a:xfrm>
          <a:prstGeom prst="line">
            <a:avLst/>
          </a:prstGeom>
          <a:ln w="9525">
            <a:solidFill>
              <a:srgbClr val="D6D6D6"/>
            </a:solidFill>
          </a:ln>
        </p:spPr>
      </p:cxnSp>
      <p:sp>
        <p:nvSpPr>
          <p:cNvPr id="35" name="TextBox 34"/>
          <p:cNvSpPr txBox="1"/>
          <p:nvPr/>
        </p:nvSpPr>
        <p:spPr>
          <a:xfrm>
            <a:off x="8127796" y="4160520"/>
            <a:ext cx="3694453" cy="731520"/>
          </a:xfrm>
          <a:prstGeom prst="rect">
            <a:avLst/>
          </a:prstGeom>
          <a:noFill/>
        </p:spPr>
        <p:txBody>
          <a:bodyPr wrap="square" lIns="0" rIns="0" tIns="0" bIns="0" anchor="t">
            <a:spAutoFit/>
          </a:bodyPr>
          <a:lstStyle/>
          <a:p>
            <a:pPr algn="l">
              <a:lnSpc>
                <a:spcPct val="100000"/>
              </a:lnSpc>
            </a:pPr>
            <a:r>
              <a:rPr sz="4400" b="0" lang="nl-NL">
                <a:solidFill>
                  <a:srgbClr val="000000"/>
                </a:solidFill>
                <a:latin typeface="Montserrat"/>
              </a:rPr>
              <a:t>32</a:t>
            </a:r>
          </a:p>
        </p:txBody>
      </p:sp>
      <p:sp>
        <p:nvSpPr>
          <p:cNvPr id="36" name="TextBox 35"/>
          <p:cNvSpPr txBox="1"/>
          <p:nvPr/>
        </p:nvSpPr>
        <p:spPr>
          <a:xfrm>
            <a:off x="8127796" y="4910328"/>
            <a:ext cx="3694453" cy="2743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bouwtickets</a:t>
            </a:r>
          </a:p>
        </p:txBody>
      </p:sp>
      <p:cxnSp>
        <p:nvCxnSpPr>
          <p:cNvPr id="37" name="Connector 36"/>
          <p:cNvCxnSpPr/>
          <p:nvPr/>
        </p:nvCxnSpPr>
        <p:spPr>
          <a:xfrm>
            <a:off x="8127796" y="5330952"/>
            <a:ext cx="3694453" cy="0"/>
          </a:xfrm>
          <a:prstGeom prst="line">
            <a:avLst/>
          </a:prstGeom>
          <a:ln w="9525">
            <a:solidFill>
              <a:srgbClr val="D6D6D6"/>
            </a:solidFill>
          </a:ln>
        </p:spPr>
      </p:cxnSp>
      <p:sp>
        <p:nvSpPr>
          <p:cNvPr id="38" name="TextBox 37"/>
          <p:cNvSpPr txBox="1"/>
          <p:nvPr/>
        </p:nvSpPr>
        <p:spPr>
          <a:xfrm>
            <a:off x="8127796" y="5440680"/>
            <a:ext cx="3694453" cy="274320"/>
          </a:xfrm>
          <a:prstGeom prst="rect">
            <a:avLst/>
          </a:prstGeom>
          <a:noFill/>
        </p:spPr>
        <p:txBody>
          <a:bodyPr wrap="square" lIns="0" rIns="0" tIns="0" bIns="0" anchor="t">
            <a:spAutoFit/>
          </a:bodyPr>
          <a:lstStyle/>
          <a:p>
            <a:pPr algn="l">
              <a:lnSpc>
                <a:spcPct val="112000"/>
              </a:lnSpc>
            </a:pPr>
            <a:r>
              <a:rPr sz="1200" b="0" lang="nl-NL">
                <a:solidFill>
                  <a:srgbClr val="1F1F1F"/>
                </a:solidFill>
                <a:latin typeface="Roboto"/>
              </a:rPr>
              <a:t>Kaart #131  ·  spec #168</a:t>
            </a:r>
          </a:p>
        </p:txBody>
      </p:sp>
      <p:sp>
        <p:nvSpPr>
          <p:cNvPr id="39" name="TextBox 38"/>
          <p:cNvSpPr txBox="1"/>
          <p:nvPr/>
        </p:nvSpPr>
        <p:spPr>
          <a:xfrm>
            <a:off x="369445" y="5894194"/>
            <a:ext cx="11452804"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Bron: GitHub Issues in Bramvdw94/power-platform-sales-app (125 issues), oktober 2026. Beslispunten = onderzoek, uitvraag, prototype en taak.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WERKWIJZE</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Het Matt Pocock-proces in het kort</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14</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6280570" cy="0"/>
          </a:xfrm>
          <a:prstGeom prst="line">
            <a:avLst/>
          </a:prstGeom>
          <a:ln w="9525">
            <a:solidFill>
              <a:srgbClr val="1F1F1F"/>
            </a:solidFill>
          </a:ln>
        </p:spPr>
      </p:cxnSp>
      <p:sp>
        <p:nvSpPr>
          <p:cNvPr id="7" name="TextBox 6"/>
          <p:cNvSpPr txBox="1"/>
          <p:nvPr/>
        </p:nvSpPr>
        <p:spPr>
          <a:xfrm>
            <a:off x="369445" y="1892807"/>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01</a:t>
            </a:r>
          </a:p>
        </p:txBody>
      </p:sp>
      <p:sp>
        <p:nvSpPr>
          <p:cNvPr id="8" name="TextBox 7"/>
          <p:cNvSpPr txBox="1"/>
          <p:nvPr/>
        </p:nvSpPr>
        <p:spPr>
          <a:xfrm>
            <a:off x="963805" y="1892807"/>
            <a:ext cx="5686210" cy="676656"/>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Eerst begrijpen</a:t>
            </a:r>
          </a:p>
          <a:p>
            <a:pPr algn="l">
              <a:lnSpc>
                <a:spcPct val="112000"/>
              </a:lnSpc>
              <a:spcBef>
                <a:spcPts val="200"/>
              </a:spcBef>
            </a:pPr>
            <a:r>
              <a:rPr sz="1250" b="0" lang="nl-NL">
                <a:solidFill>
                  <a:srgbClr val="5F5F5F"/>
                </a:solidFill>
                <a:latin typeface="Roboto"/>
              </a:rPr>
              <a:t>Research en grilling</a:t>
            </a:r>
          </a:p>
        </p:txBody>
      </p:sp>
      <p:cxnSp>
        <p:nvCxnSpPr>
          <p:cNvPr id="9" name="Connector 8"/>
          <p:cNvCxnSpPr/>
          <p:nvPr/>
        </p:nvCxnSpPr>
        <p:spPr>
          <a:xfrm>
            <a:off x="369445" y="2587752"/>
            <a:ext cx="6280570" cy="0"/>
          </a:xfrm>
          <a:prstGeom prst="line">
            <a:avLst/>
          </a:prstGeom>
          <a:ln w="9525">
            <a:solidFill>
              <a:srgbClr val="D6D6D6"/>
            </a:solidFill>
          </a:ln>
        </p:spPr>
      </p:cxnSp>
      <p:sp>
        <p:nvSpPr>
          <p:cNvPr id="10" name="TextBox 9"/>
          <p:cNvSpPr txBox="1"/>
          <p:nvPr/>
        </p:nvSpPr>
        <p:spPr>
          <a:xfrm>
            <a:off x="369445" y="2697480"/>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02</a:t>
            </a:r>
          </a:p>
        </p:txBody>
      </p:sp>
      <p:sp>
        <p:nvSpPr>
          <p:cNvPr id="11" name="TextBox 10"/>
          <p:cNvSpPr txBox="1"/>
          <p:nvPr/>
        </p:nvSpPr>
        <p:spPr>
          <a:xfrm>
            <a:off x="963805" y="2697480"/>
            <a:ext cx="5686210" cy="676656"/>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Dan zien</a:t>
            </a:r>
          </a:p>
          <a:p>
            <a:pPr algn="l">
              <a:lnSpc>
                <a:spcPct val="112000"/>
              </a:lnSpc>
              <a:spcBef>
                <a:spcPts val="200"/>
              </a:spcBef>
            </a:pPr>
            <a:r>
              <a:rPr sz="1250" b="0" lang="nl-NL">
                <a:solidFill>
                  <a:srgbClr val="5F5F5F"/>
                </a:solidFill>
                <a:latin typeface="Roboto"/>
              </a:rPr>
              <a:t>Prototype</a:t>
            </a:r>
          </a:p>
        </p:txBody>
      </p:sp>
      <p:cxnSp>
        <p:nvCxnSpPr>
          <p:cNvPr id="12" name="Connector 11"/>
          <p:cNvCxnSpPr/>
          <p:nvPr/>
        </p:nvCxnSpPr>
        <p:spPr>
          <a:xfrm>
            <a:off x="369445" y="3392424"/>
            <a:ext cx="6280570" cy="0"/>
          </a:xfrm>
          <a:prstGeom prst="line">
            <a:avLst/>
          </a:prstGeom>
          <a:ln w="9525">
            <a:solidFill>
              <a:srgbClr val="D6D6D6"/>
            </a:solidFill>
          </a:ln>
        </p:spPr>
      </p:cxnSp>
      <p:sp>
        <p:nvSpPr>
          <p:cNvPr id="13" name="TextBox 12"/>
          <p:cNvSpPr txBox="1"/>
          <p:nvPr/>
        </p:nvSpPr>
        <p:spPr>
          <a:xfrm>
            <a:off x="369445" y="3502152"/>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03</a:t>
            </a:r>
          </a:p>
        </p:txBody>
      </p:sp>
      <p:sp>
        <p:nvSpPr>
          <p:cNvPr id="14" name="TextBox 13"/>
          <p:cNvSpPr txBox="1"/>
          <p:nvPr/>
        </p:nvSpPr>
        <p:spPr>
          <a:xfrm>
            <a:off x="963805" y="3502152"/>
            <a:ext cx="5686210" cy="676656"/>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Dan vastleggen</a:t>
            </a:r>
          </a:p>
          <a:p>
            <a:pPr algn="l">
              <a:lnSpc>
                <a:spcPct val="112000"/>
              </a:lnSpc>
              <a:spcBef>
                <a:spcPts val="200"/>
              </a:spcBef>
            </a:pPr>
            <a:r>
              <a:rPr sz="1250" b="0" lang="nl-NL">
                <a:solidFill>
                  <a:srgbClr val="5F5F5F"/>
                </a:solidFill>
                <a:latin typeface="Roboto"/>
              </a:rPr>
              <a:t>Spec en issues</a:t>
            </a:r>
          </a:p>
        </p:txBody>
      </p:sp>
      <p:cxnSp>
        <p:nvCxnSpPr>
          <p:cNvPr id="15" name="Connector 14"/>
          <p:cNvCxnSpPr/>
          <p:nvPr/>
        </p:nvCxnSpPr>
        <p:spPr>
          <a:xfrm>
            <a:off x="369445" y="4197096"/>
            <a:ext cx="6280570" cy="0"/>
          </a:xfrm>
          <a:prstGeom prst="line">
            <a:avLst/>
          </a:prstGeom>
          <a:ln w="9525">
            <a:solidFill>
              <a:srgbClr val="D6D6D6"/>
            </a:solidFill>
          </a:ln>
        </p:spPr>
      </p:cxnSp>
      <p:sp>
        <p:nvSpPr>
          <p:cNvPr id="16" name="TextBox 15"/>
          <p:cNvSpPr txBox="1"/>
          <p:nvPr/>
        </p:nvSpPr>
        <p:spPr>
          <a:xfrm>
            <a:off x="369445" y="4306824"/>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04</a:t>
            </a:r>
          </a:p>
        </p:txBody>
      </p:sp>
      <p:sp>
        <p:nvSpPr>
          <p:cNvPr id="17" name="TextBox 16"/>
          <p:cNvSpPr txBox="1"/>
          <p:nvPr/>
        </p:nvSpPr>
        <p:spPr>
          <a:xfrm>
            <a:off x="963805" y="4306824"/>
            <a:ext cx="5686210" cy="676656"/>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Dan bouwen</a:t>
            </a:r>
          </a:p>
          <a:p>
            <a:pPr algn="l">
              <a:lnSpc>
                <a:spcPct val="112000"/>
              </a:lnSpc>
              <a:spcBef>
                <a:spcPts val="200"/>
              </a:spcBef>
            </a:pPr>
            <a:r>
              <a:rPr sz="1250" b="0" lang="nl-NL">
                <a:solidFill>
                  <a:srgbClr val="5F5F5F"/>
                </a:solidFill>
                <a:latin typeface="Roboto"/>
              </a:rPr>
              <a:t>Tests eerst (TDD), kleine stappen</a:t>
            </a:r>
          </a:p>
        </p:txBody>
      </p:sp>
      <p:cxnSp>
        <p:nvCxnSpPr>
          <p:cNvPr id="18" name="Connector 17"/>
          <p:cNvCxnSpPr/>
          <p:nvPr/>
        </p:nvCxnSpPr>
        <p:spPr>
          <a:xfrm>
            <a:off x="369445" y="5001768"/>
            <a:ext cx="6280570" cy="0"/>
          </a:xfrm>
          <a:prstGeom prst="line">
            <a:avLst/>
          </a:prstGeom>
          <a:ln w="9525">
            <a:solidFill>
              <a:srgbClr val="D6D6D6"/>
            </a:solidFill>
          </a:ln>
        </p:spPr>
      </p:cxnSp>
      <p:sp>
        <p:nvSpPr>
          <p:cNvPr id="19" name="TextBox 18"/>
          <p:cNvSpPr txBox="1"/>
          <p:nvPr/>
        </p:nvSpPr>
        <p:spPr>
          <a:xfrm>
            <a:off x="369445" y="5111496"/>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05</a:t>
            </a:r>
          </a:p>
        </p:txBody>
      </p:sp>
      <p:sp>
        <p:nvSpPr>
          <p:cNvPr id="20" name="TextBox 19"/>
          <p:cNvSpPr txBox="1"/>
          <p:nvPr/>
        </p:nvSpPr>
        <p:spPr>
          <a:xfrm>
            <a:off x="963805" y="5111496"/>
            <a:ext cx="5686210" cy="676656"/>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Vaste taal</a:t>
            </a:r>
          </a:p>
          <a:p>
            <a:pPr algn="l">
              <a:lnSpc>
                <a:spcPct val="112000"/>
              </a:lnSpc>
              <a:spcBef>
                <a:spcPts val="200"/>
              </a:spcBef>
            </a:pPr>
            <a:r>
              <a:rPr sz="1250" b="0" lang="nl-NL">
                <a:solidFill>
                  <a:srgbClr val="5F5F5F"/>
                </a:solidFill>
                <a:latin typeface="Roboto"/>
              </a:rPr>
              <a:t>GLOSSARY.md en ADR's</a:t>
            </a:r>
          </a:p>
        </p:txBody>
      </p:sp>
      <p:sp>
        <p:nvSpPr>
          <p:cNvPr id="21" name="Rounded Rectangle 20"/>
          <p:cNvSpPr/>
          <p:nvPr/>
        </p:nvSpPr>
        <p:spPr>
          <a:xfrm>
            <a:off x="7017618" y="1783080"/>
            <a:ext cx="4804631" cy="4293994"/>
          </a:xfrm>
          <a:prstGeom prst="roundRect">
            <a:avLst>
              <a:gd name="adj" fmla="val 4301"/>
            </a:avLst>
          </a:prstGeom>
          <a:solidFill>
            <a:srgbClr val="F8F8F8"/>
          </a:solidFill>
          <a:ln>
            <a:noFill/>
          </a:ln>
        </p:spPr>
        <p:txBody>
          <a:bodyPr rtlCol="0" anchor="ctr"/>
          <a:lstStyle/>
          <a:p>
            <a:pPr algn="ctr"/>
          </a:p>
        </p:txBody>
      </p:sp>
      <p:sp>
        <p:nvSpPr>
          <p:cNvPr id="22" name="TextBox 21"/>
          <p:cNvSpPr txBox="1"/>
          <p:nvPr/>
        </p:nvSpPr>
        <p:spPr>
          <a:xfrm>
            <a:off x="7246218" y="1965960"/>
            <a:ext cx="4347431"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Vastgelegd in de repo</a:t>
            </a:r>
          </a:p>
        </p:txBody>
      </p:sp>
      <p:cxnSp>
        <p:nvCxnSpPr>
          <p:cNvPr id="23" name="Connector 22"/>
          <p:cNvCxnSpPr/>
          <p:nvPr/>
        </p:nvCxnSpPr>
        <p:spPr>
          <a:xfrm>
            <a:off x="7246218" y="2468880"/>
            <a:ext cx="4347431" cy="0"/>
          </a:xfrm>
          <a:prstGeom prst="line">
            <a:avLst/>
          </a:prstGeom>
          <a:ln w="9525">
            <a:solidFill>
              <a:srgbClr val="1F1F1F"/>
            </a:solidFill>
          </a:ln>
        </p:spPr>
      </p:cxnSp>
      <p:sp>
        <p:nvSpPr>
          <p:cNvPr id="24" name="TextBox 23"/>
          <p:cNvSpPr txBox="1"/>
          <p:nvPr/>
        </p:nvSpPr>
        <p:spPr>
          <a:xfrm>
            <a:off x="7246218" y="2578608"/>
            <a:ext cx="4347431" cy="676656"/>
          </a:xfrm>
          <a:prstGeom prst="rect">
            <a:avLst/>
          </a:prstGeom>
          <a:noFill/>
        </p:spPr>
        <p:txBody>
          <a:bodyPr wrap="square" lIns="0" rIns="0" tIns="0" bIns="0" anchor="t">
            <a:spAutoFit/>
          </a:bodyPr>
          <a:lstStyle/>
          <a:p>
            <a:pPr algn="l">
              <a:lnSpc>
                <a:spcPct val="112000"/>
              </a:lnSpc>
            </a:pPr>
            <a:r>
              <a:rPr sz="1400" b="0" lang="nl-NL">
                <a:solidFill>
                  <a:srgbClr val="1F1F1F"/>
                </a:solidFill>
                <a:latin typeface="Roboto Medium"/>
              </a:rPr>
              <a:t>GLOSSARY.md</a:t>
            </a:r>
          </a:p>
          <a:p>
            <a:pPr algn="l">
              <a:lnSpc>
                <a:spcPct val="112000"/>
              </a:lnSpc>
              <a:spcBef>
                <a:spcPts val="200"/>
              </a:spcBef>
            </a:pPr>
            <a:r>
              <a:rPr sz="1250" b="0" lang="nl-NL">
                <a:solidFill>
                  <a:srgbClr val="5F5F5F"/>
                </a:solidFill>
                <a:latin typeface="Roboto"/>
              </a:rPr>
              <a:t>"Opportunity", niet "Deal" of "Sale"</a:t>
            </a:r>
          </a:p>
        </p:txBody>
      </p:sp>
      <p:cxnSp>
        <p:nvCxnSpPr>
          <p:cNvPr id="25" name="Connector 24"/>
          <p:cNvCxnSpPr/>
          <p:nvPr/>
        </p:nvCxnSpPr>
        <p:spPr>
          <a:xfrm>
            <a:off x="7246218" y="3273552"/>
            <a:ext cx="4347431" cy="0"/>
          </a:xfrm>
          <a:prstGeom prst="line">
            <a:avLst/>
          </a:prstGeom>
          <a:ln w="9525">
            <a:solidFill>
              <a:srgbClr val="D6D6D6"/>
            </a:solidFill>
          </a:ln>
        </p:spPr>
      </p:cxnSp>
      <p:sp>
        <p:nvSpPr>
          <p:cNvPr id="26" name="TextBox 25"/>
          <p:cNvSpPr txBox="1"/>
          <p:nvPr/>
        </p:nvSpPr>
        <p:spPr>
          <a:xfrm>
            <a:off x="7246218" y="3383280"/>
            <a:ext cx="4347431" cy="676656"/>
          </a:xfrm>
          <a:prstGeom prst="rect">
            <a:avLst/>
          </a:prstGeom>
          <a:noFill/>
        </p:spPr>
        <p:txBody>
          <a:bodyPr wrap="square" lIns="0" rIns="0" tIns="0" bIns="0" anchor="t">
            <a:spAutoFit/>
          </a:bodyPr>
          <a:lstStyle/>
          <a:p>
            <a:pPr algn="l">
              <a:lnSpc>
                <a:spcPct val="112000"/>
              </a:lnSpc>
            </a:pPr>
            <a:r>
              <a:rPr sz="1400" b="0" lang="nl-NL">
                <a:solidFill>
                  <a:srgbClr val="1F1F1F"/>
                </a:solidFill>
                <a:latin typeface="Roboto Medium"/>
              </a:rPr>
              <a:t>ADR 0001</a:t>
            </a:r>
          </a:p>
          <a:p>
            <a:pPr algn="l">
              <a:lnSpc>
                <a:spcPct val="112000"/>
              </a:lnSpc>
              <a:spcBef>
                <a:spcPts val="200"/>
              </a:spcBef>
            </a:pPr>
            <a:r>
              <a:rPr sz="1250" b="0" lang="nl-NL">
                <a:solidFill>
                  <a:srgbClr val="5F5F5F"/>
                </a:solidFill>
                <a:latin typeface="Roboto"/>
              </a:rPr>
              <a:t>Process engine: plug-in plus app-evaluatie</a:t>
            </a:r>
          </a:p>
        </p:txBody>
      </p:sp>
      <p:cxnSp>
        <p:nvCxnSpPr>
          <p:cNvPr id="27" name="Connector 26"/>
          <p:cNvCxnSpPr/>
          <p:nvPr/>
        </p:nvCxnSpPr>
        <p:spPr>
          <a:xfrm>
            <a:off x="7246218" y="4078224"/>
            <a:ext cx="4347431" cy="0"/>
          </a:xfrm>
          <a:prstGeom prst="line">
            <a:avLst/>
          </a:prstGeom>
          <a:ln w="9525">
            <a:solidFill>
              <a:srgbClr val="D6D6D6"/>
            </a:solidFill>
          </a:ln>
        </p:spPr>
      </p:cxnSp>
      <p:sp>
        <p:nvSpPr>
          <p:cNvPr id="28" name="TextBox 27"/>
          <p:cNvSpPr txBox="1"/>
          <p:nvPr/>
        </p:nvSpPr>
        <p:spPr>
          <a:xfrm>
            <a:off x="7246218" y="4187952"/>
            <a:ext cx="4347431" cy="676656"/>
          </a:xfrm>
          <a:prstGeom prst="rect">
            <a:avLst/>
          </a:prstGeom>
          <a:noFill/>
        </p:spPr>
        <p:txBody>
          <a:bodyPr wrap="square" lIns="0" rIns="0" tIns="0" bIns="0" anchor="t">
            <a:spAutoFit/>
          </a:bodyPr>
          <a:lstStyle/>
          <a:p>
            <a:pPr algn="l">
              <a:lnSpc>
                <a:spcPct val="112000"/>
              </a:lnSpc>
            </a:pPr>
            <a:r>
              <a:rPr sz="1400" b="0" lang="nl-NL">
                <a:solidFill>
                  <a:srgbClr val="1F1F1F"/>
                </a:solidFill>
                <a:latin typeface="Roboto Medium"/>
              </a:rPr>
              <a:t>ADR 0002</a:t>
            </a:r>
          </a:p>
          <a:p>
            <a:pPr algn="l">
              <a:lnSpc>
                <a:spcPct val="112000"/>
              </a:lnSpc>
              <a:spcBef>
                <a:spcPts val="200"/>
              </a:spcBef>
            </a:pPr>
            <a:r>
              <a:rPr sz="1250" b="0" lang="nl-NL">
                <a:solidFill>
                  <a:srgbClr val="5F5F5F"/>
                </a:solidFill>
                <a:latin typeface="Roboto"/>
              </a:rPr>
              <a:t>Decision rules roepen Jev aan na het opslaan</a:t>
            </a:r>
          </a:p>
        </p:txBody>
      </p:sp>
      <p:cxnSp>
        <p:nvCxnSpPr>
          <p:cNvPr id="29" name="Connector 28"/>
          <p:cNvCxnSpPr/>
          <p:nvPr/>
        </p:nvCxnSpPr>
        <p:spPr>
          <a:xfrm>
            <a:off x="7246218" y="4882896"/>
            <a:ext cx="4347431" cy="0"/>
          </a:xfrm>
          <a:prstGeom prst="line">
            <a:avLst/>
          </a:prstGeom>
          <a:ln w="9525">
            <a:solidFill>
              <a:srgbClr val="D6D6D6"/>
            </a:solidFill>
          </a:ln>
        </p:spPr>
      </p:cxnSp>
      <p:sp>
        <p:nvSpPr>
          <p:cNvPr id="30" name="TextBox 29"/>
          <p:cNvSpPr txBox="1"/>
          <p:nvPr/>
        </p:nvSpPr>
        <p:spPr>
          <a:xfrm>
            <a:off x="7246218" y="4992624"/>
            <a:ext cx="4347431" cy="676656"/>
          </a:xfrm>
          <a:prstGeom prst="rect">
            <a:avLst/>
          </a:prstGeom>
          <a:noFill/>
        </p:spPr>
        <p:txBody>
          <a:bodyPr wrap="square" lIns="0" rIns="0" tIns="0" bIns="0" anchor="t">
            <a:spAutoFit/>
          </a:bodyPr>
          <a:lstStyle/>
          <a:p>
            <a:pPr algn="l">
              <a:lnSpc>
                <a:spcPct val="112000"/>
              </a:lnSpc>
            </a:pPr>
            <a:r>
              <a:rPr sz="1400" b="0" lang="nl-NL">
                <a:solidFill>
                  <a:srgbClr val="1F1F1F"/>
                </a:solidFill>
                <a:latin typeface="Roboto Medium"/>
              </a:rPr>
              <a:t>ADR 0003</a:t>
            </a:r>
          </a:p>
          <a:p>
            <a:pPr algn="l">
              <a:lnSpc>
                <a:spcPct val="112000"/>
              </a:lnSpc>
              <a:spcBef>
                <a:spcPts val="200"/>
              </a:spcBef>
            </a:pPr>
            <a:r>
              <a:rPr sz="1250" b="0" lang="nl-NL">
                <a:solidFill>
                  <a:srgbClr val="5F5F5F"/>
                </a:solidFill>
                <a:latin typeface="Roboto"/>
              </a:rPr>
              <a:t>Approvals in een eigen tabel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KWALITEIT</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Codekwaliteit en tests, een gevolg van dit proces</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15</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Rounded Rectangle 5"/>
          <p:cNvSpPr/>
          <p:nvPr/>
        </p:nvSpPr>
        <p:spPr>
          <a:xfrm>
            <a:off x="369445" y="2194560"/>
            <a:ext cx="3017520" cy="1005840"/>
          </a:xfrm>
          <a:prstGeom prst="roundRect">
            <a:avLst>
              <a:gd name="adj" fmla="val 18365"/>
            </a:avLst>
          </a:prstGeom>
          <a:noFill/>
          <a:ln w="12700">
            <a:solidFill>
              <a:srgbClr val="1F1F1F"/>
            </a:solidFill>
          </a:ln>
        </p:spPr>
        <p:txBody>
          <a:bodyPr rtlCol="0" anchor="ctr"/>
          <a:lstStyle/>
          <a:p>
            <a:pPr algn="ctr"/>
          </a:p>
        </p:txBody>
      </p:sp>
      <p:sp>
        <p:nvSpPr>
          <p:cNvPr id="7" name="TextBox 6"/>
          <p:cNvSpPr txBox="1"/>
          <p:nvPr/>
        </p:nvSpPr>
        <p:spPr>
          <a:xfrm>
            <a:off x="515749" y="2311603"/>
            <a:ext cx="2724912" cy="771753"/>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Code app</a:t>
            </a:r>
          </a:p>
          <a:p>
            <a:pPr algn="l">
              <a:lnSpc>
                <a:spcPct val="112000"/>
              </a:lnSpc>
              <a:spcBef>
                <a:spcPts val="300"/>
              </a:spcBef>
            </a:pPr>
            <a:r>
              <a:rPr sz="1100" b="0" lang="nl-NL">
                <a:solidFill>
                  <a:srgbClr val="5F5F5F"/>
                </a:solidFill>
                <a:latin typeface="Roboto"/>
              </a:rPr>
              <a:t>React en TypeScript. Pagina's getest via de gateway</a:t>
            </a:r>
          </a:p>
        </p:txBody>
      </p:sp>
      <p:sp>
        <p:nvSpPr>
          <p:cNvPr id="8" name="Rounded Rectangle 7"/>
          <p:cNvSpPr/>
          <p:nvPr/>
        </p:nvSpPr>
        <p:spPr>
          <a:xfrm>
            <a:off x="3935605" y="2194560"/>
            <a:ext cx="3017520" cy="1005840"/>
          </a:xfrm>
          <a:prstGeom prst="roundRect">
            <a:avLst>
              <a:gd name="adj" fmla="val 18365"/>
            </a:avLst>
          </a:prstGeom>
          <a:noFill/>
          <a:ln w="19050">
            <a:solidFill>
              <a:srgbClr val="C514B4"/>
            </a:solidFill>
          </a:ln>
        </p:spPr>
        <p:txBody>
          <a:bodyPr rtlCol="0" anchor="ctr"/>
          <a:lstStyle/>
          <a:p>
            <a:pPr algn="ctr"/>
          </a:p>
        </p:txBody>
      </p:sp>
      <p:sp>
        <p:nvSpPr>
          <p:cNvPr id="9" name="TextBox 8"/>
          <p:cNvSpPr txBox="1"/>
          <p:nvPr/>
        </p:nvSpPr>
        <p:spPr>
          <a:xfrm>
            <a:off x="4081909" y="2311603"/>
            <a:ext cx="2724912" cy="771753"/>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SalesGateway</a:t>
            </a:r>
          </a:p>
          <a:p>
            <a:pPr algn="l">
              <a:lnSpc>
                <a:spcPct val="112000"/>
              </a:lnSpc>
              <a:spcBef>
                <a:spcPts val="300"/>
              </a:spcBef>
            </a:pPr>
            <a:r>
              <a:rPr sz="1100" b="0" lang="nl-NL">
                <a:solidFill>
                  <a:srgbClr val="5F5F5F"/>
                </a:solidFill>
                <a:latin typeface="Roboto"/>
              </a:rPr>
              <a:t>Eén interface: de enige naad tussen app en data</a:t>
            </a:r>
          </a:p>
        </p:txBody>
      </p:sp>
      <p:sp>
        <p:nvSpPr>
          <p:cNvPr id="10" name="Rounded Rectangle 9"/>
          <p:cNvSpPr/>
          <p:nvPr/>
        </p:nvSpPr>
        <p:spPr>
          <a:xfrm>
            <a:off x="7638925" y="1783080"/>
            <a:ext cx="4183324" cy="868680"/>
          </a:xfrm>
          <a:prstGeom prst="roundRect">
            <a:avLst>
              <a:gd name="adj" fmla="val 21264"/>
            </a:avLst>
          </a:prstGeom>
          <a:noFill/>
          <a:ln w="12700">
            <a:solidFill>
              <a:srgbClr val="1F1F1F"/>
            </a:solidFill>
          </a:ln>
        </p:spPr>
        <p:txBody>
          <a:bodyPr rtlCol="0" anchor="ctr"/>
          <a:lstStyle/>
          <a:p>
            <a:pPr algn="ctr"/>
          </a:p>
        </p:txBody>
      </p:sp>
      <p:sp>
        <p:nvSpPr>
          <p:cNvPr id="11" name="TextBox 10"/>
          <p:cNvSpPr txBox="1"/>
          <p:nvPr/>
        </p:nvSpPr>
        <p:spPr>
          <a:xfrm>
            <a:off x="7785229" y="1900123"/>
            <a:ext cx="3890716" cy="634593"/>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In-memory twin</a:t>
            </a:r>
          </a:p>
          <a:p>
            <a:pPr algn="l">
              <a:lnSpc>
                <a:spcPct val="112000"/>
              </a:lnSpc>
              <a:spcBef>
                <a:spcPts val="300"/>
              </a:spcBef>
            </a:pPr>
            <a:r>
              <a:rPr sz="1100" b="0" lang="nl-NL">
                <a:solidFill>
                  <a:srgbClr val="5F5F5F"/>
                </a:solidFill>
                <a:latin typeface="Roboto"/>
              </a:rPr>
              <a:t>Snelle tests, en een demo-modus zonder omgeving</a:t>
            </a:r>
          </a:p>
        </p:txBody>
      </p:sp>
      <p:sp>
        <p:nvSpPr>
          <p:cNvPr id="12" name="Rounded Rectangle 11"/>
          <p:cNvSpPr/>
          <p:nvPr/>
        </p:nvSpPr>
        <p:spPr>
          <a:xfrm>
            <a:off x="7638925" y="2834639"/>
            <a:ext cx="4183324" cy="868680"/>
          </a:xfrm>
          <a:prstGeom prst="roundRect">
            <a:avLst>
              <a:gd name="adj" fmla="val 21264"/>
            </a:avLst>
          </a:prstGeom>
          <a:noFill/>
          <a:ln w="12700">
            <a:solidFill>
              <a:srgbClr val="1F1F1F"/>
            </a:solidFill>
          </a:ln>
        </p:spPr>
        <p:txBody>
          <a:bodyPr rtlCol="0" anchor="ctr"/>
          <a:lstStyle/>
          <a:p>
            <a:pPr algn="ctr"/>
          </a:p>
        </p:txBody>
      </p:sp>
      <p:sp>
        <p:nvSpPr>
          <p:cNvPr id="13" name="TextBox 12"/>
          <p:cNvSpPr txBox="1"/>
          <p:nvPr/>
        </p:nvSpPr>
        <p:spPr>
          <a:xfrm>
            <a:off x="7785229" y="2951683"/>
            <a:ext cx="3890716" cy="634593"/>
          </a:xfrm>
          <a:prstGeom prst="rect">
            <a:avLst/>
          </a:prstGeom>
          <a:noFill/>
        </p:spPr>
        <p:txBody>
          <a:bodyPr wrap="square" lIns="0" rIns="0" tIns="0" bIns="0" anchor="t">
            <a:spAutoFit/>
          </a:bodyPr>
          <a:lstStyle/>
          <a:p>
            <a:pPr algn="l">
              <a:lnSpc>
                <a:spcPct val="112000"/>
              </a:lnSpc>
            </a:pPr>
            <a:r>
              <a:rPr sz="1400" b="0" lang="nl-NL">
                <a:solidFill>
                  <a:srgbClr val="1F1F1F"/>
                </a:solidFill>
                <a:latin typeface="Montserrat SemiBold"/>
              </a:rPr>
              <a:t>Dataverse gateway</a:t>
            </a:r>
          </a:p>
          <a:p>
            <a:pPr algn="l">
              <a:lnSpc>
                <a:spcPct val="112000"/>
              </a:lnSpc>
              <a:spcBef>
                <a:spcPts val="300"/>
              </a:spcBef>
            </a:pPr>
            <a:r>
              <a:rPr sz="1100" b="0" lang="nl-NL">
                <a:solidFill>
                  <a:srgbClr val="5F5F5F"/>
                </a:solidFill>
                <a:latin typeface="Roboto"/>
              </a:rPr>
              <a:t>De echte omgeving, met plug-ins</a:t>
            </a:r>
          </a:p>
        </p:txBody>
      </p:sp>
      <p:cxnSp>
        <p:nvCxnSpPr>
          <p:cNvPr id="14" name="Connector 13"/>
          <p:cNvCxnSpPr/>
          <p:nvPr/>
        </p:nvCxnSpPr>
        <p:spPr>
          <a:xfrm>
            <a:off x="3441829" y="2697480"/>
            <a:ext cx="438912" cy="0"/>
          </a:xfrm>
          <a:prstGeom prst="line">
            <a:avLst/>
          </a:prstGeom>
          <a:ln w="12700">
            <a:solidFill>
              <a:srgbClr val="5F5F5F"/>
            </a:solidFill>
            <a:tailEnd type="triangle" w="med" len="med"/>
          </a:ln>
        </p:spPr>
      </p:cxnSp>
      <p:cxnSp>
        <p:nvCxnSpPr>
          <p:cNvPr id="15" name="Connector 14"/>
          <p:cNvCxnSpPr/>
          <p:nvPr/>
        </p:nvCxnSpPr>
        <p:spPr>
          <a:xfrm>
            <a:off x="6953125" y="2697480"/>
            <a:ext cx="320040" cy="0"/>
          </a:xfrm>
          <a:prstGeom prst="line">
            <a:avLst/>
          </a:prstGeom>
          <a:ln w="12700">
            <a:solidFill>
              <a:srgbClr val="5F5F5F"/>
            </a:solidFill>
          </a:ln>
        </p:spPr>
      </p:cxnSp>
      <p:cxnSp>
        <p:nvCxnSpPr>
          <p:cNvPr id="16" name="Connector 15"/>
          <p:cNvCxnSpPr/>
          <p:nvPr/>
        </p:nvCxnSpPr>
        <p:spPr>
          <a:xfrm>
            <a:off x="7273165" y="2217420"/>
            <a:ext cx="0" cy="1051559"/>
          </a:xfrm>
          <a:prstGeom prst="line">
            <a:avLst/>
          </a:prstGeom>
          <a:ln w="12700">
            <a:solidFill>
              <a:srgbClr val="5F5F5F"/>
            </a:solidFill>
          </a:ln>
        </p:spPr>
      </p:cxnSp>
      <p:cxnSp>
        <p:nvCxnSpPr>
          <p:cNvPr id="17" name="Connector 16"/>
          <p:cNvCxnSpPr/>
          <p:nvPr/>
        </p:nvCxnSpPr>
        <p:spPr>
          <a:xfrm>
            <a:off x="7273165" y="2217420"/>
            <a:ext cx="310896" cy="0"/>
          </a:xfrm>
          <a:prstGeom prst="line">
            <a:avLst/>
          </a:prstGeom>
          <a:ln w="12700">
            <a:solidFill>
              <a:srgbClr val="5F5F5F"/>
            </a:solidFill>
            <a:tailEnd type="triangle" w="med" len="med"/>
          </a:ln>
        </p:spPr>
      </p:cxnSp>
      <p:cxnSp>
        <p:nvCxnSpPr>
          <p:cNvPr id="18" name="Connector 17"/>
          <p:cNvCxnSpPr/>
          <p:nvPr/>
        </p:nvCxnSpPr>
        <p:spPr>
          <a:xfrm>
            <a:off x="7273165" y="3268979"/>
            <a:ext cx="310896" cy="0"/>
          </a:xfrm>
          <a:prstGeom prst="line">
            <a:avLst/>
          </a:prstGeom>
          <a:ln w="12700">
            <a:solidFill>
              <a:srgbClr val="5F5F5F"/>
            </a:solidFill>
            <a:tailEnd type="triangle" w="med" len="med"/>
          </a:ln>
        </p:spPr>
      </p:cxnSp>
      <p:cxnSp>
        <p:nvCxnSpPr>
          <p:cNvPr id="19" name="Connector 18"/>
          <p:cNvCxnSpPr/>
          <p:nvPr/>
        </p:nvCxnSpPr>
        <p:spPr>
          <a:xfrm>
            <a:off x="369445" y="3977639"/>
            <a:ext cx="3694453" cy="0"/>
          </a:xfrm>
          <a:prstGeom prst="line">
            <a:avLst/>
          </a:prstGeom>
          <a:ln w="9525">
            <a:solidFill>
              <a:srgbClr val="1F1F1F"/>
            </a:solidFill>
          </a:ln>
        </p:spPr>
      </p:cxnSp>
      <p:sp>
        <p:nvSpPr>
          <p:cNvPr id="20" name="TextBox 19"/>
          <p:cNvSpPr txBox="1"/>
          <p:nvPr/>
        </p:nvSpPr>
        <p:spPr>
          <a:xfrm>
            <a:off x="369445" y="4105655"/>
            <a:ext cx="3694453" cy="91440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Pure regels</a:t>
            </a:r>
          </a:p>
          <a:p>
            <a:pPr algn="l">
              <a:lnSpc>
                <a:spcPct val="112000"/>
              </a:lnSpc>
              <a:spcBef>
                <a:spcPts val="300"/>
              </a:spcBef>
            </a:pPr>
            <a:r>
              <a:rPr sz="1300" b="0" lang="nl-NL">
                <a:solidFill>
                  <a:srgbClr val="5F5F5F"/>
                </a:solidFill>
                <a:latin typeface="Roboto"/>
              </a:rPr>
              <a:t>In src/sales: fase, kans, close, forecast en offertetotalen</a:t>
            </a:r>
          </a:p>
        </p:txBody>
      </p:sp>
      <p:cxnSp>
        <p:nvCxnSpPr>
          <p:cNvPr id="21" name="Connector 20"/>
          <p:cNvCxnSpPr/>
          <p:nvPr/>
        </p:nvCxnSpPr>
        <p:spPr>
          <a:xfrm>
            <a:off x="4248621" y="3977639"/>
            <a:ext cx="3694453" cy="0"/>
          </a:xfrm>
          <a:prstGeom prst="line">
            <a:avLst/>
          </a:prstGeom>
          <a:ln w="9525">
            <a:solidFill>
              <a:srgbClr val="1F1F1F"/>
            </a:solidFill>
          </a:ln>
        </p:spPr>
      </p:cxnSp>
      <p:sp>
        <p:nvSpPr>
          <p:cNvPr id="22" name="TextBox 21"/>
          <p:cNvSpPr txBox="1"/>
          <p:nvPr/>
        </p:nvSpPr>
        <p:spPr>
          <a:xfrm>
            <a:off x="4248621" y="4105655"/>
            <a:ext cx="3694453" cy="91440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Gedeelde testcases</a:t>
            </a:r>
          </a:p>
          <a:p>
            <a:pPr algn="l">
              <a:lnSpc>
                <a:spcPct val="112000"/>
              </a:lnSpc>
              <a:spcBef>
                <a:spcPts val="300"/>
              </a:spcBef>
            </a:pPr>
            <a:r>
              <a:rPr sz="1300" b="0" lang="nl-NL">
                <a:solidFill>
                  <a:srgbClr val="5F5F5F"/>
                </a:solidFill>
                <a:latin typeface="Roboto"/>
              </a:rPr>
              <a:t>Dezelfde JSON-cases voor de TypeScript- en de C#-engine</a:t>
            </a:r>
          </a:p>
        </p:txBody>
      </p:sp>
      <p:cxnSp>
        <p:nvCxnSpPr>
          <p:cNvPr id="23" name="Connector 22"/>
          <p:cNvCxnSpPr/>
          <p:nvPr/>
        </p:nvCxnSpPr>
        <p:spPr>
          <a:xfrm>
            <a:off x="8127796" y="3977639"/>
            <a:ext cx="3694453" cy="0"/>
          </a:xfrm>
          <a:prstGeom prst="line">
            <a:avLst/>
          </a:prstGeom>
          <a:ln w="9525">
            <a:solidFill>
              <a:srgbClr val="1F1F1F"/>
            </a:solidFill>
          </a:ln>
        </p:spPr>
      </p:cxnSp>
      <p:sp>
        <p:nvSpPr>
          <p:cNvPr id="24" name="TextBox 23"/>
          <p:cNvSpPr txBox="1"/>
          <p:nvPr/>
        </p:nvSpPr>
        <p:spPr>
          <a:xfrm>
            <a:off x="8127796" y="4105655"/>
            <a:ext cx="3694453" cy="91440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Rechten getest</a:t>
            </a:r>
          </a:p>
          <a:p>
            <a:pPr algn="l">
              <a:lnSpc>
                <a:spcPct val="112000"/>
              </a:lnSpc>
              <a:spcBef>
                <a:spcPts val="300"/>
              </a:spcBef>
            </a:pPr>
            <a:r>
              <a:rPr sz="1300" b="0" lang="nl-NL">
                <a:solidFill>
                  <a:srgbClr val="5F5F5F"/>
                </a:solidFill>
                <a:latin typeface="Roboto"/>
              </a:rPr>
              <a:t>xUnit voor plug-ins, check-scripts als Megan, Adele en Diego</a:t>
            </a:r>
          </a:p>
        </p:txBody>
      </p:sp>
      <p:cxnSp>
        <p:nvCxnSpPr>
          <p:cNvPr id="25" name="Connector 24"/>
          <p:cNvCxnSpPr/>
          <p:nvPr/>
        </p:nvCxnSpPr>
        <p:spPr>
          <a:xfrm>
            <a:off x="369445" y="5257800"/>
            <a:ext cx="11452804" cy="0"/>
          </a:xfrm>
          <a:prstGeom prst="line">
            <a:avLst/>
          </a:prstGeom>
          <a:ln w="9525">
            <a:solidFill>
              <a:srgbClr val="D6D6D6"/>
            </a:solidFill>
          </a:ln>
        </p:spPr>
      </p:cxnSp>
      <p:sp>
        <p:nvSpPr>
          <p:cNvPr id="26" name="TextBox 25"/>
          <p:cNvSpPr txBox="1"/>
          <p:nvPr/>
        </p:nvSpPr>
        <p:spPr>
          <a:xfrm>
            <a:off x="369445" y="5376672"/>
            <a:ext cx="11452804" cy="365760"/>
          </a:xfrm>
          <a:prstGeom prst="rect">
            <a:avLst/>
          </a:prstGeom>
          <a:noFill/>
        </p:spPr>
        <p:txBody>
          <a:bodyPr wrap="square" lIns="0" rIns="0" tIns="0" bIns="0" anchor="t">
            <a:spAutoFit/>
          </a:bodyPr>
          <a:lstStyle/>
          <a:p>
            <a:pPr algn="l">
              <a:lnSpc>
                <a:spcPct val="112000"/>
              </a:lnSpc>
            </a:pPr>
            <a:r>
              <a:rPr sz="1300" b="0" lang="nl-NL">
                <a:solidFill>
                  <a:srgbClr val="1F1F1F"/>
                </a:solidFill>
                <a:latin typeface="Roboto Medium"/>
              </a:rPr>
              <a:t>CI bij elke pull request: </a:t>
            </a:r>
            <a:r>
              <a:rPr sz="1300" b="0" lang="nl-NL">
                <a:solidFill>
                  <a:srgbClr val="1F1F1F"/>
                </a:solidFill>
                <a:latin typeface="Roboto"/>
              </a:rPr>
              <a:t>lint, typecheck en tests.  Ruim 40 testbestanden voor de app, plus een apart testproject voor de plug-ins.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DE APP</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De app en de techniek</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16</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Rounded Rectangle 5"/>
          <p:cNvSpPr/>
          <p:nvPr/>
        </p:nvSpPr>
        <p:spPr>
          <a:xfrm>
            <a:off x="369445" y="1783080"/>
            <a:ext cx="2219742" cy="1234440"/>
          </a:xfrm>
          <a:prstGeom prst="roundRect">
            <a:avLst>
              <a:gd name="adj" fmla="val 14964"/>
            </a:avLst>
          </a:prstGeom>
          <a:noFill/>
          <a:ln w="12700">
            <a:solidFill>
              <a:srgbClr val="1F1F1F"/>
            </a:solidFill>
          </a:ln>
        </p:spPr>
        <p:txBody>
          <a:bodyPr rtlCol="0" anchor="ctr"/>
          <a:lstStyle/>
          <a:p>
            <a:pPr algn="ctr"/>
          </a:p>
        </p:txBody>
      </p:sp>
      <p:sp>
        <p:nvSpPr>
          <p:cNvPr id="7" name="TextBox 6"/>
          <p:cNvSpPr txBox="1"/>
          <p:nvPr/>
        </p:nvSpPr>
        <p:spPr>
          <a:xfrm>
            <a:off x="515749" y="1900123"/>
            <a:ext cx="1927134" cy="100035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Front-end</a:t>
            </a:r>
          </a:p>
          <a:p>
            <a:pPr algn="l">
              <a:lnSpc>
                <a:spcPct val="112000"/>
              </a:lnSpc>
              <a:spcBef>
                <a:spcPts val="300"/>
              </a:spcBef>
            </a:pPr>
            <a:r>
              <a:rPr sz="1150" b="0" lang="nl-NL">
                <a:solidFill>
                  <a:srgbClr val="5F5F5F"/>
                </a:solidFill>
                <a:latin typeface="Roboto"/>
              </a:rPr>
              <a:t>Power Apps code app: React, Vite, TypeScript, Tailwind</a:t>
            </a:r>
          </a:p>
        </p:txBody>
      </p:sp>
      <p:sp>
        <p:nvSpPr>
          <p:cNvPr id="8" name="Rounded Rectangle 7"/>
          <p:cNvSpPr/>
          <p:nvPr/>
        </p:nvSpPr>
        <p:spPr>
          <a:xfrm>
            <a:off x="369445" y="3429000"/>
            <a:ext cx="2219742" cy="960120"/>
          </a:xfrm>
          <a:prstGeom prst="roundRect">
            <a:avLst>
              <a:gd name="adj" fmla="val 19239"/>
            </a:avLst>
          </a:prstGeom>
          <a:noFill/>
          <a:ln w="12700">
            <a:solidFill>
              <a:srgbClr val="1F1F1F"/>
            </a:solidFill>
          </a:ln>
        </p:spPr>
        <p:txBody>
          <a:bodyPr rtlCol="0" anchor="ctr"/>
          <a:lstStyle/>
          <a:p>
            <a:pPr algn="ctr"/>
          </a:p>
        </p:txBody>
      </p:sp>
      <p:sp>
        <p:nvSpPr>
          <p:cNvPr id="9" name="TextBox 8"/>
          <p:cNvSpPr txBox="1"/>
          <p:nvPr/>
        </p:nvSpPr>
        <p:spPr>
          <a:xfrm>
            <a:off x="515749" y="3546043"/>
            <a:ext cx="1927134" cy="72603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Desktop én telefoon</a:t>
            </a:r>
          </a:p>
          <a:p>
            <a:pPr algn="l">
              <a:lnSpc>
                <a:spcPct val="112000"/>
              </a:lnSpc>
              <a:spcBef>
                <a:spcPts val="300"/>
              </a:spcBef>
            </a:pPr>
            <a:r>
              <a:rPr sz="1100" b="0" lang="nl-NL">
                <a:solidFill>
                  <a:srgbClr val="5F5F5F"/>
                </a:solidFill>
                <a:latin typeface="Roboto"/>
              </a:rPr>
              <a:t>Zijbalk of tabs onderin. Geen native app</a:t>
            </a:r>
          </a:p>
        </p:txBody>
      </p:sp>
      <p:cxnSp>
        <p:nvCxnSpPr>
          <p:cNvPr id="10" name="Connector 9"/>
          <p:cNvCxnSpPr/>
          <p:nvPr/>
        </p:nvCxnSpPr>
        <p:spPr>
          <a:xfrm>
            <a:off x="1479316" y="3017520"/>
            <a:ext cx="0" cy="411480"/>
          </a:xfrm>
          <a:prstGeom prst="line">
            <a:avLst/>
          </a:prstGeom>
          <a:ln w="12700">
            <a:solidFill>
              <a:srgbClr val="5F5F5F"/>
            </a:solidFill>
          </a:ln>
        </p:spPr>
      </p:cxnSp>
      <p:sp>
        <p:nvSpPr>
          <p:cNvPr id="11" name="Rounded Rectangle 10"/>
          <p:cNvSpPr/>
          <p:nvPr/>
        </p:nvSpPr>
        <p:spPr>
          <a:xfrm>
            <a:off x="3046388" y="1783080"/>
            <a:ext cx="2219742" cy="1234440"/>
          </a:xfrm>
          <a:prstGeom prst="roundRect">
            <a:avLst>
              <a:gd name="adj" fmla="val 14964"/>
            </a:avLst>
          </a:prstGeom>
          <a:noFill/>
          <a:ln w="19050">
            <a:solidFill>
              <a:srgbClr val="C514B4"/>
            </a:solidFill>
          </a:ln>
        </p:spPr>
        <p:txBody>
          <a:bodyPr rtlCol="0" anchor="ctr"/>
          <a:lstStyle/>
          <a:p>
            <a:pPr algn="ctr"/>
          </a:p>
        </p:txBody>
      </p:sp>
      <p:sp>
        <p:nvSpPr>
          <p:cNvPr id="12" name="TextBox 11"/>
          <p:cNvSpPr txBox="1"/>
          <p:nvPr/>
        </p:nvSpPr>
        <p:spPr>
          <a:xfrm>
            <a:off x="3192692" y="1900123"/>
            <a:ext cx="1927134" cy="100035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Dataverse</a:t>
            </a:r>
          </a:p>
          <a:p>
            <a:pPr algn="l">
              <a:lnSpc>
                <a:spcPct val="112000"/>
              </a:lnSpc>
              <a:spcBef>
                <a:spcPts val="300"/>
              </a:spcBef>
            </a:pPr>
            <a:r>
              <a:rPr sz="1150" b="0" lang="nl-NL">
                <a:solidFill>
                  <a:srgbClr val="5F5F5F"/>
                </a:solidFill>
                <a:latin typeface="Roboto"/>
              </a:rPr>
              <a:t>Account en Contact standaard, eigen tabellen met prefix vibe_</a:t>
            </a:r>
          </a:p>
        </p:txBody>
      </p:sp>
      <p:sp>
        <p:nvSpPr>
          <p:cNvPr id="13" name="Rounded Rectangle 12"/>
          <p:cNvSpPr/>
          <p:nvPr/>
        </p:nvSpPr>
        <p:spPr>
          <a:xfrm>
            <a:off x="3046388" y="3429000"/>
            <a:ext cx="2219742" cy="960120"/>
          </a:xfrm>
          <a:prstGeom prst="roundRect">
            <a:avLst>
              <a:gd name="adj" fmla="val 19239"/>
            </a:avLst>
          </a:prstGeom>
          <a:noFill/>
          <a:ln w="12700">
            <a:solidFill>
              <a:srgbClr val="1F1F1F"/>
            </a:solidFill>
          </a:ln>
        </p:spPr>
        <p:txBody>
          <a:bodyPr rtlCol="0" anchor="ctr"/>
          <a:lstStyle/>
          <a:p>
            <a:pPr algn="ctr"/>
          </a:p>
        </p:txBody>
      </p:sp>
      <p:sp>
        <p:nvSpPr>
          <p:cNvPr id="14" name="TextBox 13"/>
          <p:cNvSpPr txBox="1"/>
          <p:nvPr/>
        </p:nvSpPr>
        <p:spPr>
          <a:xfrm>
            <a:off x="3192692" y="3546043"/>
            <a:ext cx="1927134" cy="72603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Beveiliging</a:t>
            </a:r>
          </a:p>
          <a:p>
            <a:pPr algn="l">
              <a:lnSpc>
                <a:spcPct val="112000"/>
              </a:lnSpc>
              <a:spcBef>
                <a:spcPts val="300"/>
              </a:spcBef>
            </a:pPr>
            <a:r>
              <a:rPr sz="1100" b="0" lang="nl-NL">
                <a:solidFill>
                  <a:srgbClr val="5F5F5F"/>
                </a:solidFill>
                <a:latin typeface="Roboto"/>
              </a:rPr>
              <a:t>Rol plus manager-hiërarchie</a:t>
            </a:r>
          </a:p>
        </p:txBody>
      </p:sp>
      <p:cxnSp>
        <p:nvCxnSpPr>
          <p:cNvPr id="15" name="Connector 14"/>
          <p:cNvCxnSpPr/>
          <p:nvPr/>
        </p:nvCxnSpPr>
        <p:spPr>
          <a:xfrm>
            <a:off x="4156259" y="3017520"/>
            <a:ext cx="0" cy="411480"/>
          </a:xfrm>
          <a:prstGeom prst="line">
            <a:avLst/>
          </a:prstGeom>
          <a:ln w="12700">
            <a:solidFill>
              <a:srgbClr val="5F5F5F"/>
            </a:solidFill>
          </a:ln>
        </p:spPr>
      </p:cxnSp>
      <p:sp>
        <p:nvSpPr>
          <p:cNvPr id="16" name="Rounded Rectangle 15"/>
          <p:cNvSpPr/>
          <p:nvPr/>
        </p:nvSpPr>
        <p:spPr>
          <a:xfrm>
            <a:off x="5723331" y="1783080"/>
            <a:ext cx="2219742" cy="1234440"/>
          </a:xfrm>
          <a:prstGeom prst="roundRect">
            <a:avLst>
              <a:gd name="adj" fmla="val 14964"/>
            </a:avLst>
          </a:prstGeom>
          <a:noFill/>
          <a:ln w="12700">
            <a:solidFill>
              <a:srgbClr val="1F1F1F"/>
            </a:solidFill>
          </a:ln>
        </p:spPr>
        <p:txBody>
          <a:bodyPr rtlCol="0" anchor="ctr"/>
          <a:lstStyle/>
          <a:p>
            <a:pPr algn="ctr"/>
          </a:p>
        </p:txBody>
      </p:sp>
      <p:sp>
        <p:nvSpPr>
          <p:cNvPr id="17" name="TextBox 16"/>
          <p:cNvSpPr txBox="1"/>
          <p:nvPr/>
        </p:nvSpPr>
        <p:spPr>
          <a:xfrm>
            <a:off x="5869635" y="1900123"/>
            <a:ext cx="1927134" cy="100035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Plug-in (C#)</a:t>
            </a:r>
          </a:p>
          <a:p>
            <a:pPr algn="l">
              <a:lnSpc>
                <a:spcPct val="112000"/>
              </a:lnSpc>
              <a:spcBef>
                <a:spcPts val="300"/>
              </a:spcBef>
            </a:pPr>
            <a:r>
              <a:rPr sz="1150" b="0" lang="nl-NL">
                <a:solidFill>
                  <a:srgbClr val="5F5F5F"/>
                </a:solidFill>
                <a:latin typeface="Roboto"/>
              </a:rPr>
              <a:t>Eén generieke engine voor processen en business rules</a:t>
            </a:r>
          </a:p>
        </p:txBody>
      </p:sp>
      <p:sp>
        <p:nvSpPr>
          <p:cNvPr id="18" name="Rounded Rectangle 17"/>
          <p:cNvSpPr/>
          <p:nvPr/>
        </p:nvSpPr>
        <p:spPr>
          <a:xfrm>
            <a:off x="5723331" y="3429000"/>
            <a:ext cx="2219742" cy="960120"/>
          </a:xfrm>
          <a:prstGeom prst="roundRect">
            <a:avLst>
              <a:gd name="adj" fmla="val 19239"/>
            </a:avLst>
          </a:prstGeom>
          <a:noFill/>
          <a:ln w="12700">
            <a:solidFill>
              <a:srgbClr val="1F1F1F"/>
            </a:solidFill>
          </a:ln>
        </p:spPr>
        <p:txBody>
          <a:bodyPr rtlCol="0" anchor="ctr"/>
          <a:lstStyle/>
          <a:p>
            <a:pPr algn="ctr"/>
          </a:p>
        </p:txBody>
      </p:sp>
      <p:sp>
        <p:nvSpPr>
          <p:cNvPr id="19" name="TextBox 18"/>
          <p:cNvSpPr txBox="1"/>
          <p:nvPr/>
        </p:nvSpPr>
        <p:spPr>
          <a:xfrm>
            <a:off x="5869635" y="3546043"/>
            <a:ext cx="1927134" cy="726033"/>
          </a:xfrm>
          <a:prstGeom prst="rect">
            <a:avLst/>
          </a:prstGeom>
          <a:noFill/>
        </p:spPr>
        <p:txBody>
          <a:bodyPr wrap="square" lIns="0" rIns="0" tIns="0" bIns="0" anchor="t">
            <a:spAutoFit/>
          </a:bodyPr>
          <a:lstStyle/>
          <a:p>
            <a:pPr algn="l">
              <a:lnSpc>
                <a:spcPct val="112000"/>
              </a:lnSpc>
            </a:pPr>
            <a:r>
              <a:rPr sz="1300" b="0" lang="nl-NL">
                <a:solidFill>
                  <a:srgbClr val="1F1F1F"/>
                </a:solidFill>
                <a:latin typeface="Montserrat SemiBold"/>
              </a:rPr>
              <a:t>Solution</a:t>
            </a:r>
          </a:p>
          <a:p>
            <a:pPr algn="l">
              <a:lnSpc>
                <a:spcPct val="112000"/>
              </a:lnSpc>
              <a:spcBef>
                <a:spcPts val="300"/>
              </a:spcBef>
            </a:pPr>
            <a:r>
              <a:rPr sz="1100" b="0" lang="nl-NL">
                <a:solidFill>
                  <a:srgbClr val="5F5F5F"/>
                </a:solidFill>
                <a:latin typeface="Roboto"/>
              </a:rPr>
              <a:t>Eén unmanaged solution: SalesApp</a:t>
            </a:r>
          </a:p>
        </p:txBody>
      </p:sp>
      <p:cxnSp>
        <p:nvCxnSpPr>
          <p:cNvPr id="20" name="Connector 19"/>
          <p:cNvCxnSpPr/>
          <p:nvPr/>
        </p:nvCxnSpPr>
        <p:spPr>
          <a:xfrm>
            <a:off x="6833202" y="3017520"/>
            <a:ext cx="0" cy="411480"/>
          </a:xfrm>
          <a:prstGeom prst="line">
            <a:avLst/>
          </a:prstGeom>
          <a:ln w="12700">
            <a:solidFill>
              <a:srgbClr val="5F5F5F"/>
            </a:solidFill>
          </a:ln>
        </p:spPr>
      </p:cxnSp>
      <p:cxnSp>
        <p:nvCxnSpPr>
          <p:cNvPr id="21" name="Connector 20"/>
          <p:cNvCxnSpPr/>
          <p:nvPr/>
        </p:nvCxnSpPr>
        <p:spPr>
          <a:xfrm>
            <a:off x="2644052" y="2400300"/>
            <a:ext cx="347472" cy="0"/>
          </a:xfrm>
          <a:prstGeom prst="line">
            <a:avLst/>
          </a:prstGeom>
          <a:ln w="12700">
            <a:solidFill>
              <a:srgbClr val="5F5F5F"/>
            </a:solidFill>
            <a:tailEnd type="triangle" w="med" len="med"/>
          </a:ln>
        </p:spPr>
      </p:cxnSp>
      <p:cxnSp>
        <p:nvCxnSpPr>
          <p:cNvPr id="22" name="Connector 21"/>
          <p:cNvCxnSpPr/>
          <p:nvPr/>
        </p:nvCxnSpPr>
        <p:spPr>
          <a:xfrm>
            <a:off x="5320995" y="2400300"/>
            <a:ext cx="347472" cy="0"/>
          </a:xfrm>
          <a:prstGeom prst="line">
            <a:avLst/>
          </a:prstGeom>
          <a:ln w="12700">
            <a:solidFill>
              <a:srgbClr val="5F5F5F"/>
            </a:solidFill>
            <a:tailEnd type="triangle" w="med" len="med"/>
          </a:ln>
        </p:spPr>
      </p:cxnSp>
      <p:cxnSp>
        <p:nvCxnSpPr>
          <p:cNvPr id="23" name="Connector 22"/>
          <p:cNvCxnSpPr/>
          <p:nvPr/>
        </p:nvCxnSpPr>
        <p:spPr>
          <a:xfrm>
            <a:off x="369445" y="4800600"/>
            <a:ext cx="7573629" cy="0"/>
          </a:xfrm>
          <a:prstGeom prst="line">
            <a:avLst/>
          </a:prstGeom>
          <a:ln w="9525">
            <a:solidFill>
              <a:srgbClr val="1F1F1F"/>
            </a:solidFill>
          </a:ln>
        </p:spPr>
      </p:cxnSp>
      <p:sp>
        <p:nvSpPr>
          <p:cNvPr id="24" name="TextBox 23"/>
          <p:cNvSpPr txBox="1"/>
          <p:nvPr/>
        </p:nvSpPr>
        <p:spPr>
          <a:xfrm>
            <a:off x="369445" y="4928616"/>
            <a:ext cx="7573628" cy="91440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Let op: licenties</a:t>
            </a:r>
          </a:p>
          <a:p>
            <a:pPr algn="l">
              <a:lnSpc>
                <a:spcPct val="112000"/>
              </a:lnSpc>
              <a:spcBef>
                <a:spcPts val="300"/>
              </a:spcBef>
            </a:pPr>
            <a:r>
              <a:rPr sz="1300" b="0" lang="nl-NL">
                <a:solidFill>
                  <a:srgbClr val="5F5F5F"/>
                </a:solidFill>
                <a:latin typeface="Roboto"/>
              </a:rPr>
              <a:t>Elke gebruiker heeft Power Apps Premium of een per-app-licentie nodig. Niet gratis, wel zonder D365 Sales-licentie.</a:t>
            </a:r>
          </a:p>
        </p:txBody>
      </p:sp>
      <p:pic>
        <p:nvPicPr>
          <p:cNvPr id="25" name="Picture 24" descr="10-phone-pipeline.png"/>
          <p:cNvPicPr>
            <a:picLocks noChangeAspect="1"/>
          </p:cNvPicPr>
          <p:nvPr/>
        </p:nvPicPr>
        <p:blipFill>
          <a:blip r:embed="rId2"/>
          <a:stretch>
            <a:fillRect/>
          </a:stretch>
        </p:blipFill>
        <p:spPr>
          <a:xfrm>
            <a:off x="9158873" y="1783080"/>
            <a:ext cx="1815179" cy="3928234"/>
          </a:xfrm>
          <a:prstGeom prst="roundRect">
            <a:avLst>
              <a:gd name="adj" fmla="val 10176"/>
            </a:avLst>
          </a:prstGeom>
          <a:ln w="9525">
            <a:solidFill>
              <a:srgbClr val="D6D6D6"/>
            </a:solidFill>
          </a:ln>
        </p:spPr>
      </p:pic>
      <p:sp>
        <p:nvSpPr>
          <p:cNvPr id="26" name="TextBox 25"/>
          <p:cNvSpPr txBox="1"/>
          <p:nvPr/>
        </p:nvSpPr>
        <p:spPr>
          <a:xfrm>
            <a:off x="9158873" y="5802754"/>
            <a:ext cx="1815179"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De pipeline op een telefoon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DE APP</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Wat is er gebouwd: v1 en v2</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17</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3694453" cy="0"/>
          </a:xfrm>
          <a:prstGeom prst="line">
            <a:avLst/>
          </a:prstGeom>
          <a:ln w="9525">
            <a:solidFill>
              <a:srgbClr val="1F1F1F"/>
            </a:solidFill>
          </a:ln>
        </p:spPr>
      </p:cxnSp>
      <p:sp>
        <p:nvSpPr>
          <p:cNvPr id="7" name="TextBox 6"/>
          <p:cNvSpPr txBox="1"/>
          <p:nvPr/>
        </p:nvSpPr>
        <p:spPr>
          <a:xfrm>
            <a:off x="369445" y="1911095"/>
            <a:ext cx="3694453" cy="36576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SemiBold"/>
              </a:rPr>
              <a:t>v1: de basis</a:t>
            </a:r>
          </a:p>
        </p:txBody>
      </p:sp>
      <p:sp>
        <p:nvSpPr>
          <p:cNvPr id="8" name="TextBox 7"/>
          <p:cNvSpPr txBox="1"/>
          <p:nvPr/>
        </p:nvSpPr>
        <p:spPr>
          <a:xfrm>
            <a:off x="369445" y="2286000"/>
            <a:ext cx="3694453" cy="274320"/>
          </a:xfrm>
          <a:prstGeom prst="rect">
            <a:avLst/>
          </a:prstGeom>
          <a:noFill/>
        </p:spPr>
        <p:txBody>
          <a:bodyPr wrap="square" lIns="0" rIns="0" tIns="0" bIns="0" anchor="t">
            <a:spAutoFit/>
          </a:bodyPr>
          <a:lstStyle/>
          <a:p>
            <a:pPr algn="l">
              <a:lnSpc>
                <a:spcPct val="112000"/>
              </a:lnSpc>
            </a:pPr>
            <a:r>
              <a:rPr sz="950" b="0" lang="nl-NL">
                <a:solidFill>
                  <a:srgbClr val="C514B4"/>
                </a:solidFill>
                <a:latin typeface="Montserrat SemiBold"/>
              </a:rPr>
              <a:t>GEBOUWD  ·  12 TICKETS  ·  SPEC #23</a:t>
            </a:r>
          </a:p>
        </p:txBody>
      </p:sp>
      <p:cxnSp>
        <p:nvCxnSpPr>
          <p:cNvPr id="9" name="Connector 8"/>
          <p:cNvCxnSpPr/>
          <p:nvPr/>
        </p:nvCxnSpPr>
        <p:spPr>
          <a:xfrm>
            <a:off x="369445" y="2651760"/>
            <a:ext cx="3694453" cy="0"/>
          </a:xfrm>
          <a:prstGeom prst="line">
            <a:avLst/>
          </a:prstGeom>
          <a:ln w="9525">
            <a:solidFill>
              <a:srgbClr val="D6D6D6"/>
            </a:solidFill>
          </a:ln>
        </p:spPr>
      </p:cxnSp>
      <p:sp>
        <p:nvSpPr>
          <p:cNvPr id="10" name="TextBox 9"/>
          <p:cNvSpPr txBox="1"/>
          <p:nvPr/>
        </p:nvSpPr>
        <p:spPr>
          <a:xfrm>
            <a:off x="369445" y="27523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Accounts en Contacts</a:t>
            </a:r>
          </a:p>
        </p:txBody>
      </p:sp>
      <p:cxnSp>
        <p:nvCxnSpPr>
          <p:cNvPr id="11" name="Connector 10"/>
          <p:cNvCxnSpPr/>
          <p:nvPr/>
        </p:nvCxnSpPr>
        <p:spPr>
          <a:xfrm>
            <a:off x="369445" y="3108960"/>
            <a:ext cx="3694453" cy="0"/>
          </a:xfrm>
          <a:prstGeom prst="line">
            <a:avLst/>
          </a:prstGeom>
          <a:ln w="9525">
            <a:solidFill>
              <a:srgbClr val="D6D6D6"/>
            </a:solidFill>
          </a:ln>
        </p:spPr>
      </p:cxnSp>
      <p:sp>
        <p:nvSpPr>
          <p:cNvPr id="12" name="TextBox 11"/>
          <p:cNvSpPr txBox="1"/>
          <p:nvPr/>
        </p:nvSpPr>
        <p:spPr>
          <a:xfrm>
            <a:off x="369445" y="32095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Leads met Disqualify</a:t>
            </a:r>
          </a:p>
        </p:txBody>
      </p:sp>
      <p:cxnSp>
        <p:nvCxnSpPr>
          <p:cNvPr id="13" name="Connector 12"/>
          <p:cNvCxnSpPr/>
          <p:nvPr/>
        </p:nvCxnSpPr>
        <p:spPr>
          <a:xfrm>
            <a:off x="369445" y="3566160"/>
            <a:ext cx="3694453" cy="0"/>
          </a:xfrm>
          <a:prstGeom prst="line">
            <a:avLst/>
          </a:prstGeom>
          <a:ln w="9525">
            <a:solidFill>
              <a:srgbClr val="D6D6D6"/>
            </a:solidFill>
          </a:ln>
        </p:spPr>
      </p:cxnSp>
      <p:sp>
        <p:nvSpPr>
          <p:cNvPr id="14" name="TextBox 13"/>
          <p:cNvSpPr txBox="1"/>
          <p:nvPr/>
        </p:nvSpPr>
        <p:spPr>
          <a:xfrm>
            <a:off x="369445" y="36667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Opportunities en Qualify</a:t>
            </a:r>
          </a:p>
        </p:txBody>
      </p:sp>
      <p:cxnSp>
        <p:nvCxnSpPr>
          <p:cNvPr id="15" name="Connector 14"/>
          <p:cNvCxnSpPr/>
          <p:nvPr/>
        </p:nvCxnSpPr>
        <p:spPr>
          <a:xfrm>
            <a:off x="369445" y="4023360"/>
            <a:ext cx="3694453" cy="0"/>
          </a:xfrm>
          <a:prstGeom prst="line">
            <a:avLst/>
          </a:prstGeom>
          <a:ln w="9525">
            <a:solidFill>
              <a:srgbClr val="D6D6D6"/>
            </a:solidFill>
          </a:ln>
        </p:spPr>
      </p:cxnSp>
      <p:sp>
        <p:nvSpPr>
          <p:cNvPr id="16" name="TextBox 15"/>
          <p:cNvSpPr txBox="1"/>
          <p:nvPr/>
        </p:nvSpPr>
        <p:spPr>
          <a:xfrm>
            <a:off x="369445" y="41239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Pipeline-bord en Funnel</a:t>
            </a:r>
          </a:p>
        </p:txBody>
      </p:sp>
      <p:cxnSp>
        <p:nvCxnSpPr>
          <p:cNvPr id="17" name="Connector 16"/>
          <p:cNvCxnSpPr/>
          <p:nvPr/>
        </p:nvCxnSpPr>
        <p:spPr>
          <a:xfrm>
            <a:off x="369445" y="4480560"/>
            <a:ext cx="3694453" cy="0"/>
          </a:xfrm>
          <a:prstGeom prst="line">
            <a:avLst/>
          </a:prstGeom>
          <a:ln w="9525">
            <a:solidFill>
              <a:srgbClr val="D6D6D6"/>
            </a:solidFill>
          </a:ln>
        </p:spPr>
      </p:cxnSp>
      <p:sp>
        <p:nvSpPr>
          <p:cNvPr id="18" name="TextBox 17"/>
          <p:cNvSpPr txBox="1"/>
          <p:nvPr/>
        </p:nvSpPr>
        <p:spPr>
          <a:xfrm>
            <a:off x="369445" y="45811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Activiteiten en Home</a:t>
            </a:r>
          </a:p>
        </p:txBody>
      </p:sp>
      <p:cxnSp>
        <p:nvCxnSpPr>
          <p:cNvPr id="19" name="Connector 18"/>
          <p:cNvCxnSpPr/>
          <p:nvPr/>
        </p:nvCxnSpPr>
        <p:spPr>
          <a:xfrm>
            <a:off x="369445" y="4937760"/>
            <a:ext cx="3694453" cy="0"/>
          </a:xfrm>
          <a:prstGeom prst="line">
            <a:avLst/>
          </a:prstGeom>
          <a:ln w="9525">
            <a:solidFill>
              <a:srgbClr val="D6D6D6"/>
            </a:solidFill>
          </a:ln>
        </p:spPr>
      </p:cxnSp>
      <p:sp>
        <p:nvSpPr>
          <p:cNvPr id="20" name="TextBox 19"/>
          <p:cNvSpPr txBox="1"/>
          <p:nvPr/>
        </p:nvSpPr>
        <p:spPr>
          <a:xfrm>
            <a:off x="369445" y="50383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Beveiligingsrol en manager-hiërarchie</a:t>
            </a:r>
          </a:p>
        </p:txBody>
      </p:sp>
      <p:cxnSp>
        <p:nvCxnSpPr>
          <p:cNvPr id="21" name="Connector 20"/>
          <p:cNvCxnSpPr/>
          <p:nvPr/>
        </p:nvCxnSpPr>
        <p:spPr>
          <a:xfrm>
            <a:off x="369445" y="5394960"/>
            <a:ext cx="3694453" cy="0"/>
          </a:xfrm>
          <a:prstGeom prst="line">
            <a:avLst/>
          </a:prstGeom>
          <a:ln w="9525">
            <a:solidFill>
              <a:srgbClr val="D6D6D6"/>
            </a:solidFill>
          </a:ln>
        </p:spPr>
      </p:cxnSp>
      <p:sp>
        <p:nvSpPr>
          <p:cNvPr id="22" name="TextBox 21"/>
          <p:cNvSpPr txBox="1"/>
          <p:nvPr/>
        </p:nvSpPr>
        <p:spPr>
          <a:xfrm>
            <a:off x="369445" y="54955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Voorbeelddata</a:t>
            </a:r>
          </a:p>
        </p:txBody>
      </p:sp>
      <p:cxnSp>
        <p:nvCxnSpPr>
          <p:cNvPr id="23" name="Connector 22"/>
          <p:cNvCxnSpPr/>
          <p:nvPr/>
        </p:nvCxnSpPr>
        <p:spPr>
          <a:xfrm>
            <a:off x="4248621" y="1783080"/>
            <a:ext cx="3694453" cy="0"/>
          </a:xfrm>
          <a:prstGeom prst="line">
            <a:avLst/>
          </a:prstGeom>
          <a:ln w="9525">
            <a:solidFill>
              <a:srgbClr val="1F1F1F"/>
            </a:solidFill>
          </a:ln>
        </p:spPr>
      </p:cxnSp>
      <p:sp>
        <p:nvSpPr>
          <p:cNvPr id="24" name="TextBox 23"/>
          <p:cNvSpPr txBox="1"/>
          <p:nvPr/>
        </p:nvSpPr>
        <p:spPr>
          <a:xfrm>
            <a:off x="4248621" y="1911095"/>
            <a:ext cx="3694453" cy="36576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SemiBold"/>
              </a:rPr>
              <a:t>v2: de motor</a:t>
            </a:r>
          </a:p>
        </p:txBody>
      </p:sp>
      <p:sp>
        <p:nvSpPr>
          <p:cNvPr id="25" name="TextBox 24"/>
          <p:cNvSpPr txBox="1"/>
          <p:nvPr/>
        </p:nvSpPr>
        <p:spPr>
          <a:xfrm>
            <a:off x="4248621" y="2286000"/>
            <a:ext cx="3694453" cy="274320"/>
          </a:xfrm>
          <a:prstGeom prst="rect">
            <a:avLst/>
          </a:prstGeom>
          <a:noFill/>
        </p:spPr>
        <p:txBody>
          <a:bodyPr wrap="square" lIns="0" rIns="0" tIns="0" bIns="0" anchor="t">
            <a:spAutoFit/>
          </a:bodyPr>
          <a:lstStyle/>
          <a:p>
            <a:pPr algn="l">
              <a:lnSpc>
                <a:spcPct val="112000"/>
              </a:lnSpc>
            </a:pPr>
            <a:r>
              <a:rPr sz="950" b="0" lang="nl-NL">
                <a:solidFill>
                  <a:srgbClr val="C514B4"/>
                </a:solidFill>
                <a:latin typeface="Montserrat SemiBold"/>
              </a:rPr>
              <a:t>GEBOUWD  ·  16 TICKETS  ·  SPEC #91</a:t>
            </a:r>
          </a:p>
        </p:txBody>
      </p:sp>
      <p:cxnSp>
        <p:nvCxnSpPr>
          <p:cNvPr id="26" name="Connector 25"/>
          <p:cNvCxnSpPr/>
          <p:nvPr/>
        </p:nvCxnSpPr>
        <p:spPr>
          <a:xfrm>
            <a:off x="4248621" y="2651760"/>
            <a:ext cx="3694453" cy="0"/>
          </a:xfrm>
          <a:prstGeom prst="line">
            <a:avLst/>
          </a:prstGeom>
          <a:ln w="9525">
            <a:solidFill>
              <a:srgbClr val="D6D6D6"/>
            </a:solidFill>
          </a:ln>
        </p:spPr>
      </p:cxnSp>
      <p:sp>
        <p:nvSpPr>
          <p:cNvPr id="27" name="TextBox 26"/>
          <p:cNvSpPr txBox="1"/>
          <p:nvPr/>
        </p:nvSpPr>
        <p:spPr>
          <a:xfrm>
            <a:off x="4248621" y="27523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Proces-engine: stappen en checks</a:t>
            </a:r>
          </a:p>
        </p:txBody>
      </p:sp>
      <p:cxnSp>
        <p:nvCxnSpPr>
          <p:cNvPr id="28" name="Connector 27"/>
          <p:cNvCxnSpPr/>
          <p:nvPr/>
        </p:nvCxnSpPr>
        <p:spPr>
          <a:xfrm>
            <a:off x="4248621" y="3108960"/>
            <a:ext cx="3694453" cy="0"/>
          </a:xfrm>
          <a:prstGeom prst="line">
            <a:avLst/>
          </a:prstGeom>
          <a:ln w="9525">
            <a:solidFill>
              <a:srgbClr val="D6D6D6"/>
            </a:solidFill>
          </a:ln>
        </p:spPr>
      </p:cxnSp>
      <p:sp>
        <p:nvSpPr>
          <p:cNvPr id="29" name="TextBox 28"/>
          <p:cNvSpPr txBox="1"/>
          <p:nvPr/>
        </p:nvSpPr>
        <p:spPr>
          <a:xfrm>
            <a:off x="4248621" y="32095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Business rules builder</a:t>
            </a:r>
          </a:p>
        </p:txBody>
      </p:sp>
      <p:cxnSp>
        <p:nvCxnSpPr>
          <p:cNvPr id="30" name="Connector 29"/>
          <p:cNvCxnSpPr/>
          <p:nvPr/>
        </p:nvCxnSpPr>
        <p:spPr>
          <a:xfrm>
            <a:off x="4248621" y="3566160"/>
            <a:ext cx="3694453" cy="0"/>
          </a:xfrm>
          <a:prstGeom prst="line">
            <a:avLst/>
          </a:prstGeom>
          <a:ln w="9525">
            <a:solidFill>
              <a:srgbClr val="D6D6D6"/>
            </a:solidFill>
          </a:ln>
        </p:spPr>
      </p:cxnSp>
      <p:sp>
        <p:nvSpPr>
          <p:cNvPr id="31" name="TextBox 30"/>
          <p:cNvSpPr txBox="1"/>
          <p:nvPr/>
        </p:nvSpPr>
        <p:spPr>
          <a:xfrm>
            <a:off x="4248621" y="36667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Activiteiten-rollup op Account</a:t>
            </a:r>
          </a:p>
        </p:txBody>
      </p:sp>
      <p:cxnSp>
        <p:nvCxnSpPr>
          <p:cNvPr id="32" name="Connector 31"/>
          <p:cNvCxnSpPr/>
          <p:nvPr/>
        </p:nvCxnSpPr>
        <p:spPr>
          <a:xfrm>
            <a:off x="4248621" y="4023360"/>
            <a:ext cx="3694453" cy="0"/>
          </a:xfrm>
          <a:prstGeom prst="line">
            <a:avLst/>
          </a:prstGeom>
          <a:ln w="9525">
            <a:solidFill>
              <a:srgbClr val="D6D6D6"/>
            </a:solidFill>
          </a:ln>
        </p:spPr>
      </p:cxnSp>
      <p:sp>
        <p:nvSpPr>
          <p:cNvPr id="33" name="TextBox 32"/>
          <p:cNvSpPr txBox="1"/>
          <p:nvPr/>
        </p:nvSpPr>
        <p:spPr>
          <a:xfrm>
            <a:off x="4248621" y="41239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Producten en offertes (PDF)</a:t>
            </a:r>
          </a:p>
        </p:txBody>
      </p:sp>
      <p:cxnSp>
        <p:nvCxnSpPr>
          <p:cNvPr id="34" name="Connector 33"/>
          <p:cNvCxnSpPr/>
          <p:nvPr/>
        </p:nvCxnSpPr>
        <p:spPr>
          <a:xfrm>
            <a:off x="4248621" y="4480560"/>
            <a:ext cx="3694453" cy="0"/>
          </a:xfrm>
          <a:prstGeom prst="line">
            <a:avLst/>
          </a:prstGeom>
          <a:ln w="9525">
            <a:solidFill>
              <a:srgbClr val="D6D6D6"/>
            </a:solidFill>
          </a:ln>
        </p:spPr>
      </p:cxnSp>
      <p:sp>
        <p:nvSpPr>
          <p:cNvPr id="35" name="TextBox 34"/>
          <p:cNvSpPr txBox="1"/>
          <p:nvPr/>
        </p:nvSpPr>
        <p:spPr>
          <a:xfrm>
            <a:off x="4248621" y="45811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Dashboards en forecast</a:t>
            </a:r>
          </a:p>
        </p:txBody>
      </p:sp>
      <p:cxnSp>
        <p:nvCxnSpPr>
          <p:cNvPr id="36" name="Connector 35"/>
          <p:cNvCxnSpPr/>
          <p:nvPr/>
        </p:nvCxnSpPr>
        <p:spPr>
          <a:xfrm>
            <a:off x="4248621" y="4937760"/>
            <a:ext cx="3694453" cy="0"/>
          </a:xfrm>
          <a:prstGeom prst="line">
            <a:avLst/>
          </a:prstGeom>
          <a:ln w="9525">
            <a:solidFill>
              <a:srgbClr val="D6D6D6"/>
            </a:solidFill>
          </a:ln>
        </p:spPr>
      </p:cxnSp>
      <p:sp>
        <p:nvSpPr>
          <p:cNvPr id="37" name="TextBox 36"/>
          <p:cNvSpPr txBox="1"/>
          <p:nvPr/>
        </p:nvSpPr>
        <p:spPr>
          <a:xfrm>
            <a:off x="4248621" y="5038344"/>
            <a:ext cx="3694453" cy="365760"/>
          </a:xfrm>
          <a:prstGeom prst="rect">
            <a:avLst/>
          </a:prstGeom>
          <a:noFill/>
        </p:spPr>
        <p:txBody>
          <a:bodyPr wrap="square" lIns="0" rIns="0" tIns="0" bIns="0" anchor="t">
            <a:spAutoFit/>
          </a:bodyPr>
          <a:lstStyle/>
          <a:p>
            <a:pPr algn="l">
              <a:lnSpc>
                <a:spcPct val="112000"/>
              </a:lnSpc>
            </a:pPr>
            <a:r>
              <a:rPr sz="1350" b="0" lang="nl-NL">
                <a:solidFill>
                  <a:srgbClr val="1F1F1F"/>
                </a:solidFill>
                <a:latin typeface="Roboto"/>
              </a:rPr>
              <a:t>Quota per verkoper</a:t>
            </a:r>
          </a:p>
        </p:txBody>
      </p:sp>
      <p:pic>
        <p:nvPicPr>
          <p:cNvPr id="38" name="Picture 37" descr="08-automation.png"/>
          <p:cNvPicPr>
            <a:picLocks noChangeAspect="1"/>
          </p:cNvPicPr>
          <p:nvPr/>
        </p:nvPicPr>
        <p:blipFill>
          <a:blip r:embed="rId2"/>
          <a:stretch>
            <a:fillRect/>
          </a:stretch>
        </p:blipFill>
        <p:spPr>
          <a:xfrm>
            <a:off x="8310676" y="1783080"/>
            <a:ext cx="3511573" cy="2194733"/>
          </a:xfrm>
          <a:prstGeom prst="roundRect">
            <a:avLst>
              <a:gd name="adj" fmla="val 8416"/>
            </a:avLst>
          </a:prstGeom>
          <a:ln w="9525">
            <a:solidFill>
              <a:srgbClr val="D6D6D6"/>
            </a:solidFill>
          </a:ln>
        </p:spPr>
      </p:pic>
      <p:sp>
        <p:nvSpPr>
          <p:cNvPr id="39" name="TextBox 38"/>
          <p:cNvSpPr txBox="1"/>
          <p:nvPr/>
        </p:nvSpPr>
        <p:spPr>
          <a:xfrm>
            <a:off x="8310676" y="4114973"/>
            <a:ext cx="3511573" cy="1097280"/>
          </a:xfrm>
          <a:prstGeom prst="rect">
            <a:avLst/>
          </a:prstGeom>
          <a:noFill/>
        </p:spPr>
        <p:txBody>
          <a:bodyPr wrap="square" lIns="0" rIns="0" tIns="0" bIns="0" anchor="t">
            <a:spAutoFit/>
          </a:bodyPr>
          <a:lstStyle/>
          <a:p>
            <a:pPr algn="l">
              <a:lnSpc>
                <a:spcPct val="112000"/>
              </a:lnSpc>
            </a:pPr>
            <a:r>
              <a:rPr sz="1200" b="0" lang="nl-NL">
                <a:solidFill>
                  <a:srgbClr val="5F5F5F"/>
                </a:solidFill>
                <a:latin typeface="Roboto"/>
              </a:rPr>
              <a:t>Automation: hier bouwt de manager processen en business rules.</a:t>
            </a:r>
          </a:p>
          <a:p>
            <a:pPr algn="l">
              <a:lnSpc>
                <a:spcPct val="112000"/>
              </a:lnSpc>
              <a:spcBef>
                <a:spcPts val="600"/>
              </a:spcBef>
            </a:pPr>
            <a:r>
              <a:rPr sz="1200" b="0" lang="nl-NL">
                <a:solidFill>
                  <a:srgbClr val="5F5F5F"/>
                </a:solidFill>
                <a:latin typeface="Roboto"/>
              </a:rPr>
              <a:t>Beide versies draaien in dev-salesapp, alles bijgehouden in GitHub Issues.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GEPLAND</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Gepland: v3, met Jev en Mistral</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18</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6280570" cy="0"/>
          </a:xfrm>
          <a:prstGeom prst="line">
            <a:avLst/>
          </a:prstGeom>
          <a:ln w="9525">
            <a:solidFill>
              <a:srgbClr val="1F1F1F"/>
            </a:solidFill>
          </a:ln>
        </p:spPr>
      </p:cxnSp>
      <p:sp>
        <p:nvSpPr>
          <p:cNvPr id="7" name="TextBox 6"/>
          <p:cNvSpPr txBox="1"/>
          <p:nvPr/>
        </p:nvSpPr>
        <p:spPr>
          <a:xfrm>
            <a:off x="369445" y="1892807"/>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Outlook en Teams</a:t>
            </a:r>
          </a:p>
          <a:p>
            <a:pPr algn="l">
              <a:lnSpc>
                <a:spcPct val="112000"/>
              </a:lnSpc>
              <a:spcBef>
                <a:spcPts val="200"/>
              </a:spcBef>
            </a:pPr>
            <a:r>
              <a:rPr sz="1200" b="0" lang="nl-NL">
                <a:solidFill>
                  <a:srgbClr val="5F5F5F"/>
                </a:solidFill>
                <a:latin typeface="Roboto"/>
              </a:rPr>
              <a:t>Mail, afspraken en notificaties</a:t>
            </a:r>
          </a:p>
        </p:txBody>
      </p:sp>
      <p:cxnSp>
        <p:nvCxnSpPr>
          <p:cNvPr id="8" name="Connector 7"/>
          <p:cNvCxnSpPr/>
          <p:nvPr/>
        </p:nvCxnSpPr>
        <p:spPr>
          <a:xfrm>
            <a:off x="369445" y="2423160"/>
            <a:ext cx="6280570" cy="0"/>
          </a:xfrm>
          <a:prstGeom prst="line">
            <a:avLst/>
          </a:prstGeom>
          <a:ln w="9525">
            <a:solidFill>
              <a:srgbClr val="D6D6D6"/>
            </a:solidFill>
          </a:ln>
        </p:spPr>
      </p:cxnSp>
      <p:sp>
        <p:nvSpPr>
          <p:cNvPr id="9" name="TextBox 8"/>
          <p:cNvSpPr txBox="1"/>
          <p:nvPr/>
        </p:nvSpPr>
        <p:spPr>
          <a:xfrm>
            <a:off x="369445" y="2532888"/>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Gebruiksgemak</a:t>
            </a:r>
          </a:p>
          <a:p>
            <a:pPr algn="l">
              <a:lnSpc>
                <a:spcPct val="112000"/>
              </a:lnSpc>
              <a:spcBef>
                <a:spcPts val="200"/>
              </a:spcBef>
            </a:pPr>
            <a:r>
              <a:rPr sz="1200" b="0" lang="nl-NL">
                <a:solidFill>
                  <a:srgbClr val="5F5F5F"/>
                </a:solidFill>
                <a:latin typeface="Roboto"/>
              </a:rPr>
              <a:t>Opgeslagen views, import, verwijderen, duplicaten</a:t>
            </a:r>
          </a:p>
        </p:txBody>
      </p:sp>
      <p:cxnSp>
        <p:nvCxnSpPr>
          <p:cNvPr id="10" name="Connector 9"/>
          <p:cNvCxnSpPr/>
          <p:nvPr/>
        </p:nvCxnSpPr>
        <p:spPr>
          <a:xfrm>
            <a:off x="369445" y="3063239"/>
            <a:ext cx="6280570" cy="0"/>
          </a:xfrm>
          <a:prstGeom prst="line">
            <a:avLst/>
          </a:prstGeom>
          <a:ln w="9525">
            <a:solidFill>
              <a:srgbClr val="D6D6D6"/>
            </a:solidFill>
          </a:ln>
        </p:spPr>
      </p:cxnSp>
      <p:sp>
        <p:nvSpPr>
          <p:cNvPr id="11" name="TextBox 10"/>
          <p:cNvSpPr txBox="1"/>
          <p:nvPr/>
        </p:nvSpPr>
        <p:spPr>
          <a:xfrm>
            <a:off x="369445" y="3172968"/>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Proces-engine ronde 2</a:t>
            </a:r>
          </a:p>
          <a:p>
            <a:pPr algn="l">
              <a:lnSpc>
                <a:spcPct val="112000"/>
              </a:lnSpc>
              <a:spcBef>
                <a:spcPts val="200"/>
              </a:spcBef>
            </a:pPr>
            <a:r>
              <a:rPr sz="1200" b="0" lang="nl-NL">
                <a:solidFill>
                  <a:srgbClr val="5F5F5F"/>
                </a:solidFill>
                <a:latin typeface="Roboto"/>
              </a:rPr>
              <a:t>Approvals en Decision rules met Jev</a:t>
            </a:r>
          </a:p>
        </p:txBody>
      </p:sp>
      <p:cxnSp>
        <p:nvCxnSpPr>
          <p:cNvPr id="12" name="Connector 11"/>
          <p:cNvCxnSpPr/>
          <p:nvPr/>
        </p:nvCxnSpPr>
        <p:spPr>
          <a:xfrm>
            <a:off x="369445" y="3703320"/>
            <a:ext cx="6280570" cy="0"/>
          </a:xfrm>
          <a:prstGeom prst="line">
            <a:avLst/>
          </a:prstGeom>
          <a:ln w="9525">
            <a:solidFill>
              <a:srgbClr val="D6D6D6"/>
            </a:solidFill>
          </a:ln>
        </p:spPr>
      </p:cxnSp>
      <p:sp>
        <p:nvSpPr>
          <p:cNvPr id="13" name="TextBox 12"/>
          <p:cNvSpPr txBox="1"/>
          <p:nvPr/>
        </p:nvSpPr>
        <p:spPr>
          <a:xfrm>
            <a:off x="369445" y="3813048"/>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Forecast-diepgang, web lead capture</a:t>
            </a:r>
          </a:p>
          <a:p>
            <a:pPr algn="l">
              <a:lnSpc>
                <a:spcPct val="112000"/>
              </a:lnSpc>
              <a:spcBef>
                <a:spcPts val="200"/>
              </a:spcBef>
            </a:pPr>
            <a:r>
              <a:rPr sz="1200" b="0" lang="nl-NL">
                <a:solidFill>
                  <a:srgbClr val="5F5F5F"/>
                </a:solidFill>
                <a:latin typeface="Roboto"/>
              </a:rPr>
              <a:t>Kortingen en Orders</a:t>
            </a:r>
          </a:p>
        </p:txBody>
      </p:sp>
      <p:cxnSp>
        <p:nvCxnSpPr>
          <p:cNvPr id="14" name="Connector 13"/>
          <p:cNvCxnSpPr/>
          <p:nvPr/>
        </p:nvCxnSpPr>
        <p:spPr>
          <a:xfrm>
            <a:off x="369445" y="4343400"/>
            <a:ext cx="6280570" cy="0"/>
          </a:xfrm>
          <a:prstGeom prst="line">
            <a:avLst/>
          </a:prstGeom>
          <a:ln w="9525">
            <a:solidFill>
              <a:srgbClr val="D6D6D6"/>
            </a:solidFill>
          </a:ln>
        </p:spPr>
      </p:cxnSp>
      <p:sp>
        <p:nvSpPr>
          <p:cNvPr id="15" name="TextBox 14"/>
          <p:cNvSpPr txBox="1"/>
          <p:nvPr/>
        </p:nvSpPr>
        <p:spPr>
          <a:xfrm>
            <a:off x="369445" y="4453128"/>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AI-assist met Mistral</a:t>
            </a:r>
          </a:p>
          <a:p>
            <a:pPr algn="l">
              <a:lnSpc>
                <a:spcPct val="112000"/>
              </a:lnSpc>
              <a:spcBef>
                <a:spcPts val="200"/>
              </a:spcBef>
            </a:pPr>
            <a:r>
              <a:rPr sz="1200" b="0" lang="nl-NL">
                <a:solidFill>
                  <a:srgbClr val="5F5F5F"/>
                </a:solidFill>
                <a:latin typeface="Roboto"/>
              </a:rPr>
              <a:t>Samenvattingen en conceptmails</a:t>
            </a:r>
          </a:p>
        </p:txBody>
      </p:sp>
      <p:cxnSp>
        <p:nvCxnSpPr>
          <p:cNvPr id="16" name="Connector 15"/>
          <p:cNvCxnSpPr/>
          <p:nvPr/>
        </p:nvCxnSpPr>
        <p:spPr>
          <a:xfrm>
            <a:off x="369445" y="4983480"/>
            <a:ext cx="6280570" cy="0"/>
          </a:xfrm>
          <a:prstGeom prst="line">
            <a:avLst/>
          </a:prstGeom>
          <a:ln w="9525">
            <a:solidFill>
              <a:srgbClr val="D6D6D6"/>
            </a:solidFill>
          </a:ln>
        </p:spPr>
      </p:cxnSp>
      <p:sp>
        <p:nvSpPr>
          <p:cNvPr id="17" name="TextBox 16"/>
          <p:cNvSpPr txBox="1"/>
          <p:nvPr/>
        </p:nvSpPr>
        <p:spPr>
          <a:xfrm>
            <a:off x="369445" y="5093208"/>
            <a:ext cx="6280570" cy="512063"/>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Geen betaalde Azure</a:t>
            </a:r>
          </a:p>
          <a:p>
            <a:pPr algn="l">
              <a:lnSpc>
                <a:spcPct val="112000"/>
              </a:lnSpc>
              <a:spcBef>
                <a:spcPts val="200"/>
              </a:spcBef>
            </a:pPr>
            <a:r>
              <a:rPr sz="1200" b="0" lang="nl-NL">
                <a:solidFill>
                  <a:srgbClr val="5F5F5F"/>
                </a:solidFill>
                <a:latin typeface="Roboto"/>
              </a:rPr>
              <a:t>De dev-tenant heeft geen krediet</a:t>
            </a:r>
          </a:p>
        </p:txBody>
      </p:sp>
      <p:sp>
        <p:nvSpPr>
          <p:cNvPr id="18" name="TextBox 17"/>
          <p:cNvSpPr txBox="1"/>
          <p:nvPr/>
        </p:nvSpPr>
        <p:spPr>
          <a:xfrm>
            <a:off x="369445" y="5714999"/>
            <a:ext cx="6280570"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Spec #168  ·  32 bouwtickets (#169 t/m #200)  ·  Test/Prod-pipeline bewust niet in v3</a:t>
            </a:r>
          </a:p>
        </p:txBody>
      </p:sp>
      <p:sp>
        <p:nvSpPr>
          <p:cNvPr id="19" name="Rounded Rectangle 18"/>
          <p:cNvSpPr/>
          <p:nvPr/>
        </p:nvSpPr>
        <p:spPr>
          <a:xfrm>
            <a:off x="7017618" y="1783080"/>
            <a:ext cx="4804631" cy="2055557"/>
          </a:xfrm>
          <a:prstGeom prst="roundRect">
            <a:avLst>
              <a:gd name="adj" fmla="val 8986"/>
            </a:avLst>
          </a:prstGeom>
          <a:solidFill>
            <a:srgbClr val="F8F8F8"/>
          </a:solidFill>
          <a:ln>
            <a:noFill/>
          </a:ln>
        </p:spPr>
        <p:txBody>
          <a:bodyPr rtlCol="0" anchor="ctr"/>
          <a:lstStyle/>
          <a:p>
            <a:pPr algn="ctr"/>
          </a:p>
        </p:txBody>
      </p:sp>
      <p:sp>
        <p:nvSpPr>
          <p:cNvPr id="20" name="TextBox 19"/>
          <p:cNvSpPr txBox="1"/>
          <p:nvPr/>
        </p:nvSpPr>
        <p:spPr>
          <a:xfrm>
            <a:off x="7246218" y="1965960"/>
            <a:ext cx="4347431"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JEV  ·  BESLIST  ·  PER CALL</a:t>
            </a:r>
          </a:p>
        </p:txBody>
      </p:sp>
      <p:sp>
        <p:nvSpPr>
          <p:cNvPr id="21" name="TextBox 20"/>
          <p:cNvSpPr txBox="1"/>
          <p:nvPr/>
        </p:nvSpPr>
        <p:spPr>
          <a:xfrm>
            <a:off x="7246218" y="2240280"/>
            <a:ext cx="4347431" cy="640080"/>
          </a:xfrm>
          <a:prstGeom prst="rect">
            <a:avLst/>
          </a:prstGeom>
          <a:noFill/>
        </p:spPr>
        <p:txBody>
          <a:bodyPr wrap="square" lIns="0" rIns="0" tIns="0" bIns="0" anchor="t">
            <a:spAutoFit/>
          </a:bodyPr>
          <a:lstStyle/>
          <a:p>
            <a:pPr algn="l">
              <a:lnSpc>
                <a:spcPct val="112000"/>
              </a:lnSpc>
            </a:pPr>
            <a:r>
              <a:rPr sz="3400" b="0" lang="nl-NL">
                <a:solidFill>
                  <a:srgbClr val="000000"/>
                </a:solidFill>
                <a:latin typeface="Montserrat"/>
              </a:rPr>
              <a:t>ca. $0,00006</a:t>
            </a:r>
          </a:p>
        </p:txBody>
      </p:sp>
      <p:sp>
        <p:nvSpPr>
          <p:cNvPr id="22" name="TextBox 21"/>
          <p:cNvSpPr txBox="1"/>
          <p:nvPr/>
        </p:nvSpPr>
        <p:spPr>
          <a:xfrm>
            <a:off x="7246218" y="2926080"/>
            <a:ext cx="4347431" cy="821117"/>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"Hoe heet is deze webshop-lead?" Ca. 1.500 tokens à $0,042 per miljoen. Een mens kijkt mee als het onzeker is.</a:t>
            </a:r>
          </a:p>
        </p:txBody>
      </p:sp>
      <p:sp>
        <p:nvSpPr>
          <p:cNvPr id="23" name="Rounded Rectangle 22"/>
          <p:cNvSpPr/>
          <p:nvPr/>
        </p:nvSpPr>
        <p:spPr>
          <a:xfrm>
            <a:off x="7017618" y="4021517"/>
            <a:ext cx="4804631" cy="2055557"/>
          </a:xfrm>
          <a:prstGeom prst="roundRect">
            <a:avLst>
              <a:gd name="adj" fmla="val 8986"/>
            </a:avLst>
          </a:prstGeom>
          <a:solidFill>
            <a:srgbClr val="F8F8F8"/>
          </a:solidFill>
          <a:ln>
            <a:noFill/>
          </a:ln>
        </p:spPr>
        <p:txBody>
          <a:bodyPr rtlCol="0" anchor="ctr"/>
          <a:lstStyle/>
          <a:p>
            <a:pPr algn="ctr"/>
          </a:p>
        </p:txBody>
      </p:sp>
      <p:sp>
        <p:nvSpPr>
          <p:cNvPr id="24" name="TextBox 23"/>
          <p:cNvSpPr txBox="1"/>
          <p:nvPr/>
        </p:nvSpPr>
        <p:spPr>
          <a:xfrm>
            <a:off x="7246218" y="4204397"/>
            <a:ext cx="4347431" cy="274320"/>
          </a:xfrm>
          <a:prstGeom prst="rect">
            <a:avLst/>
          </a:prstGeom>
          <a:noFill/>
        </p:spPr>
        <p:txBody>
          <a:bodyPr wrap="square" lIns="0" rIns="0" tIns="0" bIns="0" anchor="t">
            <a:spAutoFit/>
          </a:bodyPr>
          <a:lstStyle/>
          <a:p>
            <a:pPr algn="l">
              <a:lnSpc>
                <a:spcPct val="112000"/>
              </a:lnSpc>
            </a:pPr>
            <a:r>
              <a:rPr sz="1000" b="0" lang="nl-NL">
                <a:solidFill>
                  <a:srgbClr val="C514B4"/>
                </a:solidFill>
                <a:latin typeface="Montserrat SemiBold"/>
              </a:rPr>
              <a:t>MISTRAL  ·  SCHRIJFT</a:t>
            </a:r>
          </a:p>
        </p:txBody>
      </p:sp>
      <p:sp>
        <p:nvSpPr>
          <p:cNvPr id="25" name="TextBox 24"/>
          <p:cNvSpPr txBox="1"/>
          <p:nvPr/>
        </p:nvSpPr>
        <p:spPr>
          <a:xfrm>
            <a:off x="7246218" y="4478717"/>
            <a:ext cx="4347431" cy="640080"/>
          </a:xfrm>
          <a:prstGeom prst="rect">
            <a:avLst/>
          </a:prstGeom>
          <a:noFill/>
        </p:spPr>
        <p:txBody>
          <a:bodyPr wrap="square" lIns="0" rIns="0" tIns="0" bIns="0" anchor="t">
            <a:spAutoFit/>
          </a:bodyPr>
          <a:lstStyle/>
          <a:p>
            <a:pPr algn="l">
              <a:lnSpc>
                <a:spcPct val="112000"/>
              </a:lnSpc>
            </a:pPr>
            <a:r>
              <a:rPr sz="3400" b="0" lang="nl-NL">
                <a:solidFill>
                  <a:srgbClr val="000000"/>
                </a:solidFill>
                <a:latin typeface="Montserrat"/>
              </a:rPr>
              <a:t>Gratis</a:t>
            </a:r>
          </a:p>
        </p:txBody>
      </p:sp>
      <p:sp>
        <p:nvSpPr>
          <p:cNvPr id="26" name="TextBox 25"/>
          <p:cNvSpPr txBox="1"/>
          <p:nvPr/>
        </p:nvSpPr>
        <p:spPr>
          <a:xfrm>
            <a:off x="7246218" y="5164517"/>
            <a:ext cx="4347431" cy="821117"/>
          </a:xfrm>
          <a:prstGeom prst="rect">
            <a:avLst/>
          </a:prstGeom>
          <a:noFill/>
        </p:spPr>
        <p:txBody>
          <a:bodyPr wrap="square" lIns="0" rIns="0" tIns="0" bIns="0" anchor="t">
            <a:spAutoFit/>
          </a:bodyPr>
          <a:lstStyle/>
          <a:p>
            <a:pPr algn="l">
              <a:lnSpc>
                <a:spcPct val="112000"/>
              </a:lnSpc>
            </a:pPr>
            <a:r>
              <a:rPr sz="1250" b="0" lang="nl-NL">
                <a:solidFill>
                  <a:srgbClr val="1F1F1F"/>
                </a:solidFill>
                <a:latin typeface="Roboto"/>
              </a:rPr>
              <a:t>Gratis API-key, zonder creditcard. Samenvatting, conceptmail, volgende stap. Alleen op verzoek en alleen met testdata.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WAT DIT BETEKENT</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Zo kan het ook als functioneel consultant</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19</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sp>
        <p:nvSpPr>
          <p:cNvPr id="6" name="TextBox 5"/>
          <p:cNvSpPr txBox="1"/>
          <p:nvPr/>
        </p:nvSpPr>
        <p:spPr>
          <a:xfrm>
            <a:off x="369445" y="1783080"/>
            <a:ext cx="11452804" cy="548640"/>
          </a:xfrm>
          <a:prstGeom prst="rect">
            <a:avLst/>
          </a:prstGeom>
          <a:noFill/>
        </p:spPr>
        <p:txBody>
          <a:bodyPr wrap="square" lIns="0" rIns="0" tIns="0" bIns="0" anchor="t">
            <a:spAutoFit/>
          </a:bodyPr>
          <a:lstStyle/>
          <a:p>
            <a:pPr algn="l">
              <a:lnSpc>
                <a:spcPct val="112000"/>
              </a:lnSpc>
            </a:pPr>
            <a:r>
              <a:rPr sz="2600" b="0" lang="nl-NL">
                <a:solidFill>
                  <a:srgbClr val="1F1F1F"/>
                </a:solidFill>
                <a:latin typeface="Montserrat"/>
              </a:rPr>
              <a:t>Ik schrijf geen code. Ik neem beslissingen.</a:t>
            </a:r>
          </a:p>
        </p:txBody>
      </p:sp>
      <p:cxnSp>
        <p:nvCxnSpPr>
          <p:cNvPr id="7" name="Connector 6"/>
          <p:cNvCxnSpPr/>
          <p:nvPr/>
        </p:nvCxnSpPr>
        <p:spPr>
          <a:xfrm>
            <a:off x="369445" y="2651760"/>
            <a:ext cx="3694453" cy="0"/>
          </a:xfrm>
          <a:prstGeom prst="line">
            <a:avLst/>
          </a:prstGeom>
          <a:ln w="9525">
            <a:solidFill>
              <a:srgbClr val="1F1F1F"/>
            </a:solidFill>
          </a:ln>
        </p:spPr>
      </p:cxnSp>
      <p:sp>
        <p:nvSpPr>
          <p:cNvPr id="8" name="TextBox 7"/>
          <p:cNvSpPr txBox="1"/>
          <p:nvPr/>
        </p:nvSpPr>
        <p:spPr>
          <a:xfrm>
            <a:off x="369445" y="2761488"/>
            <a:ext cx="3694453" cy="365760"/>
          </a:xfrm>
          <a:prstGeom prst="rect">
            <a:avLst/>
          </a:prstGeom>
          <a:noFill/>
        </p:spPr>
        <p:txBody>
          <a:bodyPr wrap="square" lIns="0" rIns="0" tIns="0" bIns="0" anchor="t">
            <a:spAutoFit/>
          </a:bodyPr>
          <a:lstStyle/>
          <a:p>
            <a:pPr algn="l">
              <a:lnSpc>
                <a:spcPct val="112000"/>
              </a:lnSpc>
            </a:pPr>
            <a:r>
              <a:rPr sz="1700" b="0" lang="nl-NL">
                <a:solidFill>
                  <a:srgbClr val="C514B4"/>
                </a:solidFill>
                <a:latin typeface="Montserrat SemiBold"/>
              </a:rPr>
              <a:t>Ik</a:t>
            </a:r>
          </a:p>
        </p:txBody>
      </p:sp>
      <p:cxnSp>
        <p:nvCxnSpPr>
          <p:cNvPr id="9" name="Connector 8"/>
          <p:cNvCxnSpPr/>
          <p:nvPr/>
        </p:nvCxnSpPr>
        <p:spPr>
          <a:xfrm>
            <a:off x="369445" y="3200400"/>
            <a:ext cx="3694453" cy="0"/>
          </a:xfrm>
          <a:prstGeom prst="line">
            <a:avLst/>
          </a:prstGeom>
          <a:ln w="9525">
            <a:solidFill>
              <a:srgbClr val="D6D6D6"/>
            </a:solidFill>
          </a:ln>
        </p:spPr>
      </p:cxnSp>
      <p:sp>
        <p:nvSpPr>
          <p:cNvPr id="10" name="TextBox 9"/>
          <p:cNvSpPr txBox="1"/>
          <p:nvPr/>
        </p:nvSpPr>
        <p:spPr>
          <a:xfrm>
            <a:off x="369445" y="331927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Doel en scope</a:t>
            </a:r>
          </a:p>
        </p:txBody>
      </p:sp>
      <p:cxnSp>
        <p:nvCxnSpPr>
          <p:cNvPr id="11" name="Connector 10"/>
          <p:cNvCxnSpPr/>
          <p:nvPr/>
        </p:nvCxnSpPr>
        <p:spPr>
          <a:xfrm>
            <a:off x="369445" y="3703320"/>
            <a:ext cx="3694453" cy="0"/>
          </a:xfrm>
          <a:prstGeom prst="line">
            <a:avLst/>
          </a:prstGeom>
          <a:ln w="9525">
            <a:solidFill>
              <a:srgbClr val="D6D6D6"/>
            </a:solidFill>
          </a:ln>
        </p:spPr>
      </p:cxnSp>
      <p:sp>
        <p:nvSpPr>
          <p:cNvPr id="12" name="TextBox 11"/>
          <p:cNvSpPr txBox="1"/>
          <p:nvPr/>
        </p:nvSpPr>
        <p:spPr>
          <a:xfrm>
            <a:off x="369445" y="3822191"/>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Kiezen uit varianten</a:t>
            </a:r>
          </a:p>
        </p:txBody>
      </p:sp>
      <p:cxnSp>
        <p:nvCxnSpPr>
          <p:cNvPr id="13" name="Connector 12"/>
          <p:cNvCxnSpPr/>
          <p:nvPr/>
        </p:nvCxnSpPr>
        <p:spPr>
          <a:xfrm>
            <a:off x="369445" y="4206240"/>
            <a:ext cx="3694453" cy="0"/>
          </a:xfrm>
          <a:prstGeom prst="line">
            <a:avLst/>
          </a:prstGeom>
          <a:ln w="9525">
            <a:solidFill>
              <a:srgbClr val="D6D6D6"/>
            </a:solidFill>
          </a:ln>
        </p:spPr>
      </p:cxnSp>
      <p:sp>
        <p:nvSpPr>
          <p:cNvPr id="14" name="TextBox 13"/>
          <p:cNvSpPr txBox="1"/>
          <p:nvPr/>
        </p:nvSpPr>
        <p:spPr>
          <a:xfrm>
            <a:off x="369445" y="432511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Acceptatie</a:t>
            </a:r>
          </a:p>
        </p:txBody>
      </p:sp>
      <p:cxnSp>
        <p:nvCxnSpPr>
          <p:cNvPr id="15" name="Connector 14"/>
          <p:cNvCxnSpPr/>
          <p:nvPr/>
        </p:nvCxnSpPr>
        <p:spPr>
          <a:xfrm>
            <a:off x="4248621" y="2651760"/>
            <a:ext cx="3694453" cy="0"/>
          </a:xfrm>
          <a:prstGeom prst="line">
            <a:avLst/>
          </a:prstGeom>
          <a:ln w="9525">
            <a:solidFill>
              <a:srgbClr val="1F1F1F"/>
            </a:solidFill>
          </a:ln>
        </p:spPr>
      </p:cxnSp>
      <p:sp>
        <p:nvSpPr>
          <p:cNvPr id="16" name="TextBox 15"/>
          <p:cNvSpPr txBox="1"/>
          <p:nvPr/>
        </p:nvSpPr>
        <p:spPr>
          <a:xfrm>
            <a:off x="4248621" y="2761488"/>
            <a:ext cx="3694453" cy="365760"/>
          </a:xfrm>
          <a:prstGeom prst="rect">
            <a:avLst/>
          </a:prstGeom>
          <a:noFill/>
        </p:spPr>
        <p:txBody>
          <a:bodyPr wrap="square" lIns="0" rIns="0" tIns="0" bIns="0" anchor="t">
            <a:spAutoFit/>
          </a:bodyPr>
          <a:lstStyle/>
          <a:p>
            <a:pPr algn="l">
              <a:lnSpc>
                <a:spcPct val="112000"/>
              </a:lnSpc>
            </a:pPr>
            <a:r>
              <a:rPr sz="1700" b="0" lang="nl-NL">
                <a:solidFill>
                  <a:srgbClr val="000000"/>
                </a:solidFill>
                <a:latin typeface="Montserrat SemiBold"/>
              </a:rPr>
              <a:t>Claude</a:t>
            </a:r>
          </a:p>
        </p:txBody>
      </p:sp>
      <p:cxnSp>
        <p:nvCxnSpPr>
          <p:cNvPr id="17" name="Connector 16"/>
          <p:cNvCxnSpPr/>
          <p:nvPr/>
        </p:nvCxnSpPr>
        <p:spPr>
          <a:xfrm>
            <a:off x="4248621" y="3200400"/>
            <a:ext cx="3694453" cy="0"/>
          </a:xfrm>
          <a:prstGeom prst="line">
            <a:avLst/>
          </a:prstGeom>
          <a:ln w="9525">
            <a:solidFill>
              <a:srgbClr val="D6D6D6"/>
            </a:solidFill>
          </a:ln>
        </p:spPr>
      </p:cxnSp>
      <p:sp>
        <p:nvSpPr>
          <p:cNvPr id="18" name="TextBox 17"/>
          <p:cNvSpPr txBox="1"/>
          <p:nvPr/>
        </p:nvSpPr>
        <p:spPr>
          <a:xfrm>
            <a:off x="4248621" y="331927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Onderzoek en alternatieven</a:t>
            </a:r>
          </a:p>
        </p:txBody>
      </p:sp>
      <p:cxnSp>
        <p:nvCxnSpPr>
          <p:cNvPr id="19" name="Connector 18"/>
          <p:cNvCxnSpPr/>
          <p:nvPr/>
        </p:nvCxnSpPr>
        <p:spPr>
          <a:xfrm>
            <a:off x="4248621" y="3703320"/>
            <a:ext cx="3694453" cy="0"/>
          </a:xfrm>
          <a:prstGeom prst="line">
            <a:avLst/>
          </a:prstGeom>
          <a:ln w="9525">
            <a:solidFill>
              <a:srgbClr val="D6D6D6"/>
            </a:solidFill>
          </a:ln>
        </p:spPr>
      </p:cxnSp>
      <p:sp>
        <p:nvSpPr>
          <p:cNvPr id="20" name="TextBox 19"/>
          <p:cNvSpPr txBox="1"/>
          <p:nvPr/>
        </p:nvSpPr>
        <p:spPr>
          <a:xfrm>
            <a:off x="4248621" y="3822191"/>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Prototypes en code</a:t>
            </a:r>
          </a:p>
        </p:txBody>
      </p:sp>
      <p:cxnSp>
        <p:nvCxnSpPr>
          <p:cNvPr id="21" name="Connector 20"/>
          <p:cNvCxnSpPr/>
          <p:nvPr/>
        </p:nvCxnSpPr>
        <p:spPr>
          <a:xfrm>
            <a:off x="4248621" y="4206240"/>
            <a:ext cx="3694453" cy="0"/>
          </a:xfrm>
          <a:prstGeom prst="line">
            <a:avLst/>
          </a:prstGeom>
          <a:ln w="9525">
            <a:solidFill>
              <a:srgbClr val="D6D6D6"/>
            </a:solidFill>
          </a:ln>
        </p:spPr>
      </p:cxnSp>
      <p:sp>
        <p:nvSpPr>
          <p:cNvPr id="22" name="TextBox 21"/>
          <p:cNvSpPr txBox="1"/>
          <p:nvPr/>
        </p:nvSpPr>
        <p:spPr>
          <a:xfrm>
            <a:off x="4248621" y="432511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Tests en deploy</a:t>
            </a:r>
          </a:p>
        </p:txBody>
      </p:sp>
      <p:cxnSp>
        <p:nvCxnSpPr>
          <p:cNvPr id="23" name="Connector 22"/>
          <p:cNvCxnSpPr/>
          <p:nvPr/>
        </p:nvCxnSpPr>
        <p:spPr>
          <a:xfrm>
            <a:off x="8127796" y="2651760"/>
            <a:ext cx="3694453" cy="0"/>
          </a:xfrm>
          <a:prstGeom prst="line">
            <a:avLst/>
          </a:prstGeom>
          <a:ln w="9525">
            <a:solidFill>
              <a:srgbClr val="1F1F1F"/>
            </a:solidFill>
          </a:ln>
        </p:spPr>
      </p:cxnSp>
      <p:sp>
        <p:nvSpPr>
          <p:cNvPr id="24" name="TextBox 23"/>
          <p:cNvSpPr txBox="1"/>
          <p:nvPr/>
        </p:nvSpPr>
        <p:spPr>
          <a:xfrm>
            <a:off x="8127796" y="2761488"/>
            <a:ext cx="3694453" cy="365760"/>
          </a:xfrm>
          <a:prstGeom prst="rect">
            <a:avLst/>
          </a:prstGeom>
          <a:noFill/>
        </p:spPr>
        <p:txBody>
          <a:bodyPr wrap="square" lIns="0" rIns="0" tIns="0" bIns="0" anchor="t">
            <a:spAutoFit/>
          </a:bodyPr>
          <a:lstStyle/>
          <a:p>
            <a:pPr algn="l">
              <a:lnSpc>
                <a:spcPct val="112000"/>
              </a:lnSpc>
            </a:pPr>
            <a:r>
              <a:rPr sz="1700" b="0" lang="nl-NL">
                <a:solidFill>
                  <a:srgbClr val="000000"/>
                </a:solidFill>
                <a:latin typeface="Montserrat SemiBold"/>
              </a:rPr>
              <a:t>Samen</a:t>
            </a:r>
          </a:p>
        </p:txBody>
      </p:sp>
      <p:cxnSp>
        <p:nvCxnSpPr>
          <p:cNvPr id="25" name="Connector 24"/>
          <p:cNvCxnSpPr/>
          <p:nvPr/>
        </p:nvCxnSpPr>
        <p:spPr>
          <a:xfrm>
            <a:off x="8127796" y="3200400"/>
            <a:ext cx="3694453" cy="0"/>
          </a:xfrm>
          <a:prstGeom prst="line">
            <a:avLst/>
          </a:prstGeom>
          <a:ln w="9525">
            <a:solidFill>
              <a:srgbClr val="D6D6D6"/>
            </a:solidFill>
          </a:ln>
        </p:spPr>
      </p:cxnSp>
      <p:sp>
        <p:nvSpPr>
          <p:cNvPr id="26" name="TextBox 25"/>
          <p:cNvSpPr txBox="1"/>
          <p:nvPr/>
        </p:nvSpPr>
        <p:spPr>
          <a:xfrm>
            <a:off x="8127796" y="331927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Spec</a:t>
            </a:r>
          </a:p>
        </p:txBody>
      </p:sp>
      <p:cxnSp>
        <p:nvCxnSpPr>
          <p:cNvPr id="27" name="Connector 26"/>
          <p:cNvCxnSpPr/>
          <p:nvPr/>
        </p:nvCxnSpPr>
        <p:spPr>
          <a:xfrm>
            <a:off x="8127796" y="3703320"/>
            <a:ext cx="3694453" cy="0"/>
          </a:xfrm>
          <a:prstGeom prst="line">
            <a:avLst/>
          </a:prstGeom>
          <a:ln w="9525">
            <a:solidFill>
              <a:srgbClr val="D6D6D6"/>
            </a:solidFill>
          </a:ln>
        </p:spPr>
      </p:cxnSp>
      <p:sp>
        <p:nvSpPr>
          <p:cNvPr id="28" name="TextBox 27"/>
          <p:cNvSpPr txBox="1"/>
          <p:nvPr/>
        </p:nvSpPr>
        <p:spPr>
          <a:xfrm>
            <a:off x="8127796" y="3822191"/>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Review</a:t>
            </a:r>
          </a:p>
        </p:txBody>
      </p:sp>
      <p:cxnSp>
        <p:nvCxnSpPr>
          <p:cNvPr id="29" name="Connector 28"/>
          <p:cNvCxnSpPr/>
          <p:nvPr/>
        </p:nvCxnSpPr>
        <p:spPr>
          <a:xfrm>
            <a:off x="8127796" y="4206240"/>
            <a:ext cx="3694453" cy="0"/>
          </a:xfrm>
          <a:prstGeom prst="line">
            <a:avLst/>
          </a:prstGeom>
          <a:ln w="9525">
            <a:solidFill>
              <a:srgbClr val="D6D6D6"/>
            </a:solidFill>
          </a:ln>
        </p:spPr>
      </p:cxnSp>
      <p:sp>
        <p:nvSpPr>
          <p:cNvPr id="30" name="TextBox 29"/>
          <p:cNvSpPr txBox="1"/>
          <p:nvPr/>
        </p:nvSpPr>
        <p:spPr>
          <a:xfrm>
            <a:off x="8127796" y="4325112"/>
            <a:ext cx="3694453" cy="36576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Roboto"/>
              </a:rPr>
              <a:t>Demo en bijsturen</a:t>
            </a:r>
          </a:p>
        </p:txBody>
      </p:sp>
      <p:cxnSp>
        <p:nvCxnSpPr>
          <p:cNvPr id="31" name="Connector 30"/>
          <p:cNvCxnSpPr/>
          <p:nvPr/>
        </p:nvCxnSpPr>
        <p:spPr>
          <a:xfrm>
            <a:off x="369445" y="5029200"/>
            <a:ext cx="3694453" cy="0"/>
          </a:xfrm>
          <a:prstGeom prst="line">
            <a:avLst/>
          </a:prstGeom>
          <a:ln w="9525">
            <a:solidFill>
              <a:srgbClr val="1F1F1F"/>
            </a:solidFill>
          </a:ln>
        </p:spPr>
      </p:cxnSp>
      <p:sp>
        <p:nvSpPr>
          <p:cNvPr id="32" name="TextBox 31"/>
          <p:cNvSpPr txBox="1"/>
          <p:nvPr/>
        </p:nvSpPr>
        <p:spPr>
          <a:xfrm>
            <a:off x="369445" y="5157216"/>
            <a:ext cx="3694453" cy="7315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Mijn gereedschap: vragen beantwoorden, schermen kiezen, specs lezen.</a:t>
            </a:r>
          </a:p>
        </p:txBody>
      </p:sp>
      <p:cxnSp>
        <p:nvCxnSpPr>
          <p:cNvPr id="33" name="Connector 32"/>
          <p:cNvCxnSpPr/>
          <p:nvPr/>
        </p:nvCxnSpPr>
        <p:spPr>
          <a:xfrm>
            <a:off x="4248621" y="5029200"/>
            <a:ext cx="3694453" cy="0"/>
          </a:xfrm>
          <a:prstGeom prst="line">
            <a:avLst/>
          </a:prstGeom>
          <a:ln w="9525">
            <a:solidFill>
              <a:srgbClr val="1F1F1F"/>
            </a:solidFill>
          </a:ln>
        </p:spPr>
      </p:cxnSp>
      <p:sp>
        <p:nvSpPr>
          <p:cNvPr id="34" name="TextBox 33"/>
          <p:cNvSpPr txBox="1"/>
          <p:nvPr/>
        </p:nvSpPr>
        <p:spPr>
          <a:xfrm>
            <a:off x="4248621" y="5157216"/>
            <a:ext cx="3694453" cy="7315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Eigen domeinkennis is de bottleneck, niet de techniek.</a:t>
            </a:r>
          </a:p>
        </p:txBody>
      </p:sp>
      <p:cxnSp>
        <p:nvCxnSpPr>
          <p:cNvPr id="35" name="Connector 34"/>
          <p:cNvCxnSpPr/>
          <p:nvPr/>
        </p:nvCxnSpPr>
        <p:spPr>
          <a:xfrm>
            <a:off x="8127796" y="5029200"/>
            <a:ext cx="3694453" cy="0"/>
          </a:xfrm>
          <a:prstGeom prst="line">
            <a:avLst/>
          </a:prstGeom>
          <a:ln w="9525">
            <a:solidFill>
              <a:srgbClr val="1F1F1F"/>
            </a:solidFill>
          </a:ln>
        </p:spPr>
      </p:cxnSp>
      <p:sp>
        <p:nvSpPr>
          <p:cNvPr id="36" name="TextBox 35"/>
          <p:cNvSpPr txBox="1"/>
          <p:nvPr/>
        </p:nvSpPr>
        <p:spPr>
          <a:xfrm>
            <a:off x="8127796" y="5157216"/>
            <a:ext cx="3694453" cy="731520"/>
          </a:xfrm>
          <a:prstGeom prst="rect">
            <a:avLst/>
          </a:prstGeom>
          <a:noFill/>
        </p:spPr>
        <p:txBody>
          <a:bodyPr wrap="square" lIns="0" rIns="0" tIns="0" bIns="0" anchor="t">
            <a:spAutoFit/>
          </a:bodyPr>
          <a:lstStyle/>
          <a:p>
            <a:pPr algn="l">
              <a:lnSpc>
                <a:spcPct val="112000"/>
              </a:lnSpc>
            </a:pPr>
            <a:r>
              <a:rPr sz="1300" b="0" lang="nl-NL">
                <a:solidFill>
                  <a:srgbClr val="5F5F5F"/>
                </a:solidFill>
                <a:latin typeface="Roboto"/>
              </a:rPr>
              <a:t>Review blijft mijn werk: klopt dit met hoe sales werkt?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WAT DIT BETEKENT</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Eerlijk: grenzen, kosten en risico's</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20</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7573629" cy="0"/>
          </a:xfrm>
          <a:prstGeom prst="line">
            <a:avLst/>
          </a:prstGeom>
          <a:ln w="9525">
            <a:solidFill>
              <a:srgbClr val="1F1F1F"/>
            </a:solidFill>
          </a:ln>
        </p:spPr>
      </p:cxnSp>
      <p:sp>
        <p:nvSpPr>
          <p:cNvPr id="7" name="TextBox 6"/>
          <p:cNvSpPr txBox="1"/>
          <p:nvPr/>
        </p:nvSpPr>
        <p:spPr>
          <a:xfrm>
            <a:off x="369445" y="1892807"/>
            <a:ext cx="757362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Claude kan fout zitten</a:t>
            </a:r>
          </a:p>
          <a:p>
            <a:pPr algn="l">
              <a:lnSpc>
                <a:spcPct val="112000"/>
              </a:lnSpc>
              <a:spcBef>
                <a:spcPts val="200"/>
              </a:spcBef>
            </a:pPr>
            <a:r>
              <a:rPr sz="1250" b="0" lang="nl-NL">
                <a:solidFill>
                  <a:srgbClr val="5F5F5F"/>
                </a:solidFill>
                <a:latin typeface="Roboto"/>
              </a:rPr>
              <a:t>Tests en review blijven nodig</a:t>
            </a:r>
          </a:p>
        </p:txBody>
      </p:sp>
      <p:cxnSp>
        <p:nvCxnSpPr>
          <p:cNvPr id="8" name="Connector 7"/>
          <p:cNvCxnSpPr/>
          <p:nvPr/>
        </p:nvCxnSpPr>
        <p:spPr>
          <a:xfrm>
            <a:off x="369445" y="2569464"/>
            <a:ext cx="7573629" cy="0"/>
          </a:xfrm>
          <a:prstGeom prst="line">
            <a:avLst/>
          </a:prstGeom>
          <a:ln w="9525">
            <a:solidFill>
              <a:srgbClr val="D6D6D6"/>
            </a:solidFill>
          </a:ln>
        </p:spPr>
      </p:cxnSp>
      <p:sp>
        <p:nvSpPr>
          <p:cNvPr id="9" name="TextBox 8"/>
          <p:cNvSpPr txBox="1"/>
          <p:nvPr/>
        </p:nvSpPr>
        <p:spPr>
          <a:xfrm>
            <a:off x="369445" y="2679192"/>
            <a:ext cx="757362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Alleen een dev-tenant</a:t>
            </a:r>
          </a:p>
          <a:p>
            <a:pPr algn="l">
              <a:lnSpc>
                <a:spcPct val="112000"/>
              </a:lnSpc>
              <a:spcBef>
                <a:spcPts val="200"/>
              </a:spcBef>
            </a:pPr>
            <a:r>
              <a:rPr sz="1250" b="0" lang="nl-NL">
                <a:solidFill>
                  <a:srgbClr val="5F5F5F"/>
                </a:solidFill>
                <a:latin typeface="Roboto"/>
              </a:rPr>
              <a:t>Geen Test/Prod of pipeline, bewust voor deze fase</a:t>
            </a:r>
          </a:p>
        </p:txBody>
      </p:sp>
      <p:cxnSp>
        <p:nvCxnSpPr>
          <p:cNvPr id="10" name="Connector 9"/>
          <p:cNvCxnSpPr/>
          <p:nvPr/>
        </p:nvCxnSpPr>
        <p:spPr>
          <a:xfrm>
            <a:off x="369445" y="3355848"/>
            <a:ext cx="7573629" cy="0"/>
          </a:xfrm>
          <a:prstGeom prst="line">
            <a:avLst/>
          </a:prstGeom>
          <a:ln w="9525">
            <a:solidFill>
              <a:srgbClr val="D6D6D6"/>
            </a:solidFill>
          </a:ln>
        </p:spPr>
      </p:cxnSp>
      <p:sp>
        <p:nvSpPr>
          <p:cNvPr id="11" name="TextBox 10"/>
          <p:cNvSpPr txBox="1"/>
          <p:nvPr/>
        </p:nvSpPr>
        <p:spPr>
          <a:xfrm>
            <a:off x="369445" y="3465576"/>
            <a:ext cx="757362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Licenties</a:t>
            </a:r>
          </a:p>
          <a:p>
            <a:pPr algn="l">
              <a:lnSpc>
                <a:spcPct val="112000"/>
              </a:lnSpc>
              <a:spcBef>
                <a:spcPts val="200"/>
              </a:spcBef>
            </a:pPr>
            <a:r>
              <a:rPr sz="1250" b="0" lang="nl-NL">
                <a:solidFill>
                  <a:srgbClr val="5F5F5F"/>
                </a:solidFill>
                <a:latin typeface="Roboto"/>
              </a:rPr>
              <a:t>Gebruikers hebben Power Apps Premium nodig</a:t>
            </a:r>
          </a:p>
        </p:txBody>
      </p:sp>
      <p:cxnSp>
        <p:nvCxnSpPr>
          <p:cNvPr id="12" name="Connector 11"/>
          <p:cNvCxnSpPr/>
          <p:nvPr/>
        </p:nvCxnSpPr>
        <p:spPr>
          <a:xfrm>
            <a:off x="369445" y="4142232"/>
            <a:ext cx="7573629" cy="0"/>
          </a:xfrm>
          <a:prstGeom prst="line">
            <a:avLst/>
          </a:prstGeom>
          <a:ln w="9525">
            <a:solidFill>
              <a:srgbClr val="D6D6D6"/>
            </a:solidFill>
          </a:ln>
        </p:spPr>
      </p:cxnSp>
      <p:sp>
        <p:nvSpPr>
          <p:cNvPr id="13" name="TextBox 12"/>
          <p:cNvSpPr txBox="1"/>
          <p:nvPr/>
        </p:nvSpPr>
        <p:spPr>
          <a:xfrm>
            <a:off x="369445" y="4251960"/>
            <a:ext cx="757362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AI-kosten</a:t>
            </a:r>
          </a:p>
          <a:p>
            <a:pPr algn="l">
              <a:lnSpc>
                <a:spcPct val="112000"/>
              </a:lnSpc>
              <a:spcBef>
                <a:spcPts val="200"/>
              </a:spcBef>
            </a:pPr>
            <a:r>
              <a:rPr sz="1250" b="0" lang="nl-NL">
                <a:solidFill>
                  <a:srgbClr val="5F5F5F"/>
                </a:solidFill>
                <a:latin typeface="Roboto"/>
              </a:rPr>
              <a:t>Jev een fractie van een cent per call, Mistral gratis met limieten</a:t>
            </a:r>
          </a:p>
        </p:txBody>
      </p:sp>
      <p:cxnSp>
        <p:nvCxnSpPr>
          <p:cNvPr id="14" name="Connector 13"/>
          <p:cNvCxnSpPr/>
          <p:nvPr/>
        </p:nvCxnSpPr>
        <p:spPr>
          <a:xfrm>
            <a:off x="369445" y="4928616"/>
            <a:ext cx="7573629" cy="0"/>
          </a:xfrm>
          <a:prstGeom prst="line">
            <a:avLst/>
          </a:prstGeom>
          <a:ln w="9525">
            <a:solidFill>
              <a:srgbClr val="D6D6D6"/>
            </a:solidFill>
          </a:ln>
        </p:spPr>
      </p:cxnSp>
      <p:sp>
        <p:nvSpPr>
          <p:cNvPr id="15" name="TextBox 14"/>
          <p:cNvSpPr txBox="1"/>
          <p:nvPr/>
        </p:nvSpPr>
        <p:spPr>
          <a:xfrm>
            <a:off x="369445" y="5038344"/>
            <a:ext cx="757362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Montserrat SemiBold"/>
              </a:rPr>
              <a:t>Data</a:t>
            </a:r>
          </a:p>
          <a:p>
            <a:pPr algn="l">
              <a:lnSpc>
                <a:spcPct val="112000"/>
              </a:lnSpc>
              <a:spcBef>
                <a:spcPts val="200"/>
              </a:spcBef>
            </a:pPr>
            <a:r>
              <a:rPr sz="1250" b="0" lang="nl-NL">
                <a:solidFill>
                  <a:srgbClr val="5F5F5F"/>
                </a:solidFill>
                <a:latin typeface="Roboto"/>
              </a:rPr>
              <a:t>Geen echte klantdata in dit project</a:t>
            </a:r>
          </a:p>
        </p:txBody>
      </p:sp>
      <p:cxnSp>
        <p:nvCxnSpPr>
          <p:cNvPr id="16" name="Connector 15"/>
          <p:cNvCxnSpPr/>
          <p:nvPr/>
        </p:nvCxnSpPr>
        <p:spPr>
          <a:xfrm>
            <a:off x="8310676" y="1783080"/>
            <a:ext cx="3511573" cy="0"/>
          </a:xfrm>
          <a:prstGeom prst="line">
            <a:avLst/>
          </a:prstGeom>
          <a:ln w="25400">
            <a:solidFill>
              <a:srgbClr val="C514B4"/>
            </a:solidFill>
          </a:ln>
        </p:spPr>
      </p:cxnSp>
      <p:sp>
        <p:nvSpPr>
          <p:cNvPr id="17" name="TextBox 16"/>
          <p:cNvSpPr txBox="1"/>
          <p:nvPr/>
        </p:nvSpPr>
        <p:spPr>
          <a:xfrm>
            <a:off x="8310676" y="2011680"/>
            <a:ext cx="3511573" cy="2743200"/>
          </a:xfrm>
          <a:prstGeom prst="rect">
            <a:avLst/>
          </a:prstGeom>
          <a:noFill/>
        </p:spPr>
        <p:txBody>
          <a:bodyPr wrap="square" lIns="0" rIns="0" tIns="0" bIns="0" anchor="t">
            <a:spAutoFit/>
          </a:bodyPr>
          <a:lstStyle/>
          <a:p>
            <a:pPr algn="l">
              <a:lnSpc>
                <a:spcPct val="115000"/>
              </a:lnSpc>
            </a:pPr>
            <a:r>
              <a:rPr sz="2000" b="0" lang="nl-NL">
                <a:solidFill>
                  <a:srgbClr val="1F1F1F"/>
                </a:solidFill>
                <a:latin typeface="Montserrat"/>
              </a:rPr>
              <a:t>Zonder duidelijke spec bouwt Claude iets plausibels maar onjuists. Met een spec en tests werkt het verrassend goed.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DEMO</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Nu de app zelf</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21</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4987511" cy="0"/>
          </a:xfrm>
          <a:prstGeom prst="line">
            <a:avLst/>
          </a:prstGeom>
          <a:ln w="9525">
            <a:solidFill>
              <a:srgbClr val="1F1F1F"/>
            </a:solidFill>
          </a:ln>
        </p:spPr>
      </p:cxnSp>
      <p:sp>
        <p:nvSpPr>
          <p:cNvPr id="7" name="TextBox 6"/>
          <p:cNvSpPr txBox="1"/>
          <p:nvPr/>
        </p:nvSpPr>
        <p:spPr>
          <a:xfrm>
            <a:off x="369445" y="1892807"/>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Demo van ongeveer 10 minuten</a:t>
            </a:r>
          </a:p>
        </p:txBody>
      </p:sp>
      <p:cxnSp>
        <p:nvCxnSpPr>
          <p:cNvPr id="8" name="Connector 7"/>
          <p:cNvCxnSpPr/>
          <p:nvPr/>
        </p:nvCxnSpPr>
        <p:spPr>
          <a:xfrm>
            <a:off x="369445" y="2651760"/>
            <a:ext cx="4987511" cy="0"/>
          </a:xfrm>
          <a:prstGeom prst="line">
            <a:avLst/>
          </a:prstGeom>
          <a:ln w="9525">
            <a:solidFill>
              <a:srgbClr val="D6D6D6"/>
            </a:solidFill>
          </a:ln>
        </p:spPr>
      </p:cxnSp>
      <p:sp>
        <p:nvSpPr>
          <p:cNvPr id="9" name="TextBox 8"/>
          <p:cNvSpPr txBox="1"/>
          <p:nvPr/>
        </p:nvSpPr>
        <p:spPr>
          <a:xfrm>
            <a:off x="369445" y="276148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Ingelogd als systeembeheerder</a:t>
            </a:r>
          </a:p>
          <a:p>
            <a:pPr algn="l">
              <a:lnSpc>
                <a:spcPct val="112000"/>
              </a:lnSpc>
              <a:spcBef>
                <a:spcPts val="200"/>
              </a:spcBef>
            </a:pPr>
            <a:r>
              <a:rPr sz="1250" b="0" lang="nl-NL">
                <a:solidFill>
                  <a:srgbClr val="5F5F5F"/>
                </a:solidFill>
                <a:latin typeface="Roboto"/>
              </a:rPr>
              <a:t>In de live app op dev-salesapp</a:t>
            </a:r>
          </a:p>
        </p:txBody>
      </p:sp>
      <p:cxnSp>
        <p:nvCxnSpPr>
          <p:cNvPr id="10" name="Connector 9"/>
          <p:cNvCxnSpPr/>
          <p:nvPr/>
        </p:nvCxnSpPr>
        <p:spPr>
          <a:xfrm>
            <a:off x="369445" y="3520439"/>
            <a:ext cx="4987511" cy="0"/>
          </a:xfrm>
          <a:prstGeom prst="line">
            <a:avLst/>
          </a:prstGeom>
          <a:ln w="9525">
            <a:solidFill>
              <a:srgbClr val="D6D6D6"/>
            </a:solidFill>
          </a:ln>
        </p:spPr>
      </p:cxnSp>
      <p:sp>
        <p:nvSpPr>
          <p:cNvPr id="11" name="TextBox 10"/>
          <p:cNvSpPr txBox="1"/>
          <p:nvPr/>
        </p:nvSpPr>
        <p:spPr>
          <a:xfrm>
            <a:off x="369445" y="363016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Alle voorbeelddata is fictief</a:t>
            </a:r>
          </a:p>
        </p:txBody>
      </p:sp>
      <p:cxnSp>
        <p:nvCxnSpPr>
          <p:cNvPr id="12" name="Connector 11"/>
          <p:cNvCxnSpPr/>
          <p:nvPr/>
        </p:nvCxnSpPr>
        <p:spPr>
          <a:xfrm>
            <a:off x="369445" y="4389120"/>
            <a:ext cx="4987511" cy="0"/>
          </a:xfrm>
          <a:prstGeom prst="line">
            <a:avLst/>
          </a:prstGeom>
          <a:ln w="9525">
            <a:solidFill>
              <a:srgbClr val="D6D6D6"/>
            </a:solidFill>
          </a:ln>
        </p:spPr>
      </p:cxnSp>
      <p:sp>
        <p:nvSpPr>
          <p:cNvPr id="13" name="TextBox 12"/>
          <p:cNvSpPr txBox="1"/>
          <p:nvPr/>
        </p:nvSpPr>
        <p:spPr>
          <a:xfrm>
            <a:off x="369445" y="4498848"/>
            <a:ext cx="4987511" cy="740664"/>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Plan B</a:t>
            </a:r>
          </a:p>
          <a:p>
            <a:pPr algn="l">
              <a:lnSpc>
                <a:spcPct val="112000"/>
              </a:lnSpc>
              <a:spcBef>
                <a:spcPts val="200"/>
              </a:spcBef>
            </a:pPr>
            <a:r>
              <a:rPr sz="1250" b="0" lang="nl-NL">
                <a:solidFill>
                  <a:srgbClr val="5F5F5F"/>
                </a:solidFill>
                <a:latin typeface="Roboto"/>
              </a:rPr>
              <a:t>Dezelfde app in geheugenmodus, of de opgenomen video op de volgende dia</a:t>
            </a:r>
          </a:p>
        </p:txBody>
      </p:sp>
      <p:pic>
        <p:nvPicPr>
          <p:cNvPr id="14" name="Picture 13" descr="01-home.png"/>
          <p:cNvPicPr>
            <a:picLocks noChangeAspect="1"/>
          </p:cNvPicPr>
          <p:nvPr/>
        </p:nvPicPr>
        <p:blipFill>
          <a:blip r:embed="rId2"/>
          <a:stretch>
            <a:fillRect/>
          </a:stretch>
        </p:blipFill>
        <p:spPr>
          <a:xfrm>
            <a:off x="5724559" y="1783080"/>
            <a:ext cx="6097690" cy="3811056"/>
          </a:xfrm>
          <a:prstGeom prst="roundRect">
            <a:avLst>
              <a:gd name="adj" fmla="val 4847"/>
            </a:avLst>
          </a:prstGeom>
          <a:ln w="9525">
            <a:solidFill>
              <a:srgbClr val="D6D6D6"/>
            </a:solidFill>
          </a:ln>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DEMO</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De app in twee minuten</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22</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pic>
        <p:nvPicPr>
          <p:cNvPr id="6" name="Demovideo sales-app">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369445" y="1691639"/>
            <a:ext cx="7573628" cy="4260166"/>
          </a:xfrm>
          <a:prstGeom prst="roundRect">
            <a:avLst>
              <a:gd name="adj" fmla="val 4336"/>
            </a:avLst>
          </a:prstGeom>
        </p:spPr>
      </p:pic>
      <p:sp>
        <p:nvSpPr>
          <p:cNvPr id="7" name="TextBox 6"/>
          <p:cNvSpPr txBox="1"/>
          <p:nvPr/>
        </p:nvSpPr>
        <p:spPr>
          <a:xfrm>
            <a:off x="369445" y="6024958"/>
            <a:ext cx="7573628" cy="274320"/>
          </a:xfrm>
          <a:prstGeom prst="rect">
            <a:avLst/>
          </a:prstGeom>
          <a:noFill/>
        </p:spPr>
        <p:txBody>
          <a:bodyPr wrap="square" lIns="0" rIns="0" tIns="0" bIns="0" anchor="t">
            <a:spAutoFit/>
          </a:bodyPr>
          <a:lstStyle/>
          <a:p>
            <a:pPr algn="l">
              <a:lnSpc>
                <a:spcPct val="112000"/>
              </a:lnSpc>
            </a:pPr>
            <a:r>
              <a:rPr sz="1000" b="0" lang="nl-NL">
                <a:solidFill>
                  <a:srgbClr val="5F5F5F"/>
                </a:solidFill>
                <a:latin typeface="Roboto"/>
              </a:rPr>
              <a:t>Opgenomen in geheugenmodus met fictieve data, ca. 1:50. Klik om af te spelen.</a:t>
            </a:r>
          </a:p>
        </p:txBody>
      </p:sp>
      <p:sp>
        <p:nvSpPr>
          <p:cNvPr id="8" name="TextBox 7"/>
          <p:cNvSpPr txBox="1"/>
          <p:nvPr/>
        </p:nvSpPr>
        <p:spPr>
          <a:xfrm>
            <a:off x="8310676" y="1691639"/>
            <a:ext cx="3511573" cy="3200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Wat je ziet</a:t>
            </a:r>
          </a:p>
        </p:txBody>
      </p:sp>
      <p:cxnSp>
        <p:nvCxnSpPr>
          <p:cNvPr id="9" name="Connector 8"/>
          <p:cNvCxnSpPr/>
          <p:nvPr/>
        </p:nvCxnSpPr>
        <p:spPr>
          <a:xfrm>
            <a:off x="8310676" y="2103120"/>
            <a:ext cx="3511573" cy="0"/>
          </a:xfrm>
          <a:prstGeom prst="line">
            <a:avLst/>
          </a:prstGeom>
          <a:ln w="6350">
            <a:solidFill>
              <a:srgbClr val="1F1F1F"/>
            </a:solidFill>
          </a:ln>
        </p:spPr>
      </p:cxnSp>
      <p:sp>
        <p:nvSpPr>
          <p:cNvPr id="10" name="TextBox 9"/>
          <p:cNvSpPr txBox="1"/>
          <p:nvPr/>
        </p:nvSpPr>
        <p:spPr>
          <a:xfrm>
            <a:off x="8310676" y="2167127"/>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01  </a:t>
            </a:r>
            <a:r>
              <a:rPr sz="1150" b="0" lang="nl-NL">
                <a:solidFill>
                  <a:srgbClr val="1F1F1F"/>
                </a:solidFill>
                <a:latin typeface="Roboto"/>
              </a:rPr>
              <a:t>Home: "Mijn werk"</a:t>
            </a:r>
          </a:p>
        </p:txBody>
      </p:sp>
      <p:cxnSp>
        <p:nvCxnSpPr>
          <p:cNvPr id="11" name="Connector 10"/>
          <p:cNvCxnSpPr/>
          <p:nvPr/>
        </p:nvCxnSpPr>
        <p:spPr>
          <a:xfrm>
            <a:off x="8310676" y="2487988"/>
            <a:ext cx="3511573" cy="0"/>
          </a:xfrm>
          <a:prstGeom prst="line">
            <a:avLst/>
          </a:prstGeom>
          <a:ln w="6350">
            <a:solidFill>
              <a:srgbClr val="D6D6D6"/>
            </a:solidFill>
          </a:ln>
        </p:spPr>
      </p:cxnSp>
      <p:sp>
        <p:nvSpPr>
          <p:cNvPr id="12" name="TextBox 11"/>
          <p:cNvSpPr txBox="1"/>
          <p:nvPr/>
        </p:nvSpPr>
        <p:spPr>
          <a:xfrm>
            <a:off x="8310676" y="2551996"/>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02  </a:t>
            </a:r>
            <a:r>
              <a:rPr sz="1150" b="0" lang="nl-NL">
                <a:solidFill>
                  <a:srgbClr val="1F1F1F"/>
                </a:solidFill>
                <a:latin typeface="Roboto"/>
              </a:rPr>
              <a:t>Pipeline: bord en Funnel</a:t>
            </a:r>
          </a:p>
        </p:txBody>
      </p:sp>
      <p:cxnSp>
        <p:nvCxnSpPr>
          <p:cNvPr id="13" name="Connector 12"/>
          <p:cNvCxnSpPr/>
          <p:nvPr/>
        </p:nvCxnSpPr>
        <p:spPr>
          <a:xfrm>
            <a:off x="8310676" y="2872857"/>
            <a:ext cx="3511573" cy="0"/>
          </a:xfrm>
          <a:prstGeom prst="line">
            <a:avLst/>
          </a:prstGeom>
          <a:ln w="6350">
            <a:solidFill>
              <a:srgbClr val="D6D6D6"/>
            </a:solidFill>
          </a:ln>
        </p:spPr>
      </p:cxnSp>
      <p:sp>
        <p:nvSpPr>
          <p:cNvPr id="14" name="TextBox 13"/>
          <p:cNvSpPr txBox="1"/>
          <p:nvPr/>
        </p:nvSpPr>
        <p:spPr>
          <a:xfrm>
            <a:off x="8310676" y="2936865"/>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03  </a:t>
            </a:r>
            <a:r>
              <a:rPr sz="1150" b="0" lang="nl-NL">
                <a:solidFill>
                  <a:srgbClr val="1F1F1F"/>
                </a:solidFill>
                <a:latin typeface="Roboto"/>
              </a:rPr>
              <a:t>Opportunity met procesbalk</a:t>
            </a:r>
          </a:p>
        </p:txBody>
      </p:sp>
      <p:cxnSp>
        <p:nvCxnSpPr>
          <p:cNvPr id="15" name="Connector 14"/>
          <p:cNvCxnSpPr/>
          <p:nvPr/>
        </p:nvCxnSpPr>
        <p:spPr>
          <a:xfrm>
            <a:off x="8310676" y="3257725"/>
            <a:ext cx="3511573" cy="0"/>
          </a:xfrm>
          <a:prstGeom prst="line">
            <a:avLst/>
          </a:prstGeom>
          <a:ln w="6350">
            <a:solidFill>
              <a:srgbClr val="D6D6D6"/>
            </a:solidFill>
          </a:ln>
        </p:spPr>
      </p:cxnSp>
      <p:sp>
        <p:nvSpPr>
          <p:cNvPr id="16" name="TextBox 15"/>
          <p:cNvSpPr txBox="1"/>
          <p:nvPr/>
        </p:nvSpPr>
        <p:spPr>
          <a:xfrm>
            <a:off x="8310676" y="3321733"/>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04  </a:t>
            </a:r>
            <a:r>
              <a:rPr sz="1150" b="0" lang="nl-NL">
                <a:solidFill>
                  <a:srgbClr val="1F1F1F"/>
                </a:solidFill>
                <a:latin typeface="Roboto"/>
              </a:rPr>
              <a:t>Business rule: waarschuwing</a:t>
            </a:r>
          </a:p>
        </p:txBody>
      </p:sp>
      <p:cxnSp>
        <p:nvCxnSpPr>
          <p:cNvPr id="17" name="Connector 16"/>
          <p:cNvCxnSpPr/>
          <p:nvPr/>
        </p:nvCxnSpPr>
        <p:spPr>
          <a:xfrm>
            <a:off x="8310676" y="3642594"/>
            <a:ext cx="3511573" cy="0"/>
          </a:xfrm>
          <a:prstGeom prst="line">
            <a:avLst/>
          </a:prstGeom>
          <a:ln w="6350">
            <a:solidFill>
              <a:srgbClr val="D6D6D6"/>
            </a:solidFill>
          </a:ln>
        </p:spPr>
      </p:cxnSp>
      <p:sp>
        <p:nvSpPr>
          <p:cNvPr id="18" name="TextBox 17"/>
          <p:cNvSpPr txBox="1"/>
          <p:nvPr/>
        </p:nvSpPr>
        <p:spPr>
          <a:xfrm>
            <a:off x="8310676" y="3706602"/>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05  </a:t>
            </a:r>
            <a:r>
              <a:rPr sz="1150" b="0" lang="nl-NL">
                <a:solidFill>
                  <a:srgbClr val="1F1F1F"/>
                </a:solidFill>
                <a:latin typeface="Roboto"/>
              </a:rPr>
              <a:t>Activiteiten op de deal</a:t>
            </a:r>
          </a:p>
        </p:txBody>
      </p:sp>
      <p:cxnSp>
        <p:nvCxnSpPr>
          <p:cNvPr id="19" name="Connector 18"/>
          <p:cNvCxnSpPr/>
          <p:nvPr/>
        </p:nvCxnSpPr>
        <p:spPr>
          <a:xfrm>
            <a:off x="8310676" y="4027463"/>
            <a:ext cx="3511573" cy="0"/>
          </a:xfrm>
          <a:prstGeom prst="line">
            <a:avLst/>
          </a:prstGeom>
          <a:ln w="6350">
            <a:solidFill>
              <a:srgbClr val="D6D6D6"/>
            </a:solidFill>
          </a:ln>
        </p:spPr>
      </p:cxnSp>
      <p:sp>
        <p:nvSpPr>
          <p:cNvPr id="20" name="TextBox 19"/>
          <p:cNvSpPr txBox="1"/>
          <p:nvPr/>
        </p:nvSpPr>
        <p:spPr>
          <a:xfrm>
            <a:off x="8310676" y="4091471"/>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06  </a:t>
            </a:r>
            <a:r>
              <a:rPr sz="1150" b="0" lang="nl-NL">
                <a:solidFill>
                  <a:srgbClr val="1F1F1F"/>
                </a:solidFill>
                <a:latin typeface="Roboto"/>
              </a:rPr>
              <a:t>Forecast: team en quota</a:t>
            </a:r>
          </a:p>
        </p:txBody>
      </p:sp>
      <p:cxnSp>
        <p:nvCxnSpPr>
          <p:cNvPr id="21" name="Connector 20"/>
          <p:cNvCxnSpPr/>
          <p:nvPr/>
        </p:nvCxnSpPr>
        <p:spPr>
          <a:xfrm>
            <a:off x="8310676" y="4412331"/>
            <a:ext cx="3511573" cy="0"/>
          </a:xfrm>
          <a:prstGeom prst="line">
            <a:avLst/>
          </a:prstGeom>
          <a:ln w="6350">
            <a:solidFill>
              <a:srgbClr val="D6D6D6"/>
            </a:solidFill>
          </a:ln>
        </p:spPr>
      </p:cxnSp>
      <p:sp>
        <p:nvSpPr>
          <p:cNvPr id="22" name="TextBox 21"/>
          <p:cNvSpPr txBox="1"/>
          <p:nvPr/>
        </p:nvSpPr>
        <p:spPr>
          <a:xfrm>
            <a:off x="8310676" y="4476339"/>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07  </a:t>
            </a:r>
            <a:r>
              <a:rPr sz="1150" b="0" lang="nl-NL">
                <a:solidFill>
                  <a:srgbClr val="1F1F1F"/>
                </a:solidFill>
                <a:latin typeface="Roboto"/>
              </a:rPr>
              <a:t>Producten en offertes</a:t>
            </a:r>
          </a:p>
        </p:txBody>
      </p:sp>
      <p:cxnSp>
        <p:nvCxnSpPr>
          <p:cNvPr id="23" name="Connector 22"/>
          <p:cNvCxnSpPr/>
          <p:nvPr/>
        </p:nvCxnSpPr>
        <p:spPr>
          <a:xfrm>
            <a:off x="8310676" y="4797200"/>
            <a:ext cx="3511573" cy="0"/>
          </a:xfrm>
          <a:prstGeom prst="line">
            <a:avLst/>
          </a:prstGeom>
          <a:ln w="6350">
            <a:solidFill>
              <a:srgbClr val="D6D6D6"/>
            </a:solidFill>
          </a:ln>
        </p:spPr>
      </p:cxnSp>
      <p:sp>
        <p:nvSpPr>
          <p:cNvPr id="24" name="TextBox 23"/>
          <p:cNvSpPr txBox="1"/>
          <p:nvPr/>
        </p:nvSpPr>
        <p:spPr>
          <a:xfrm>
            <a:off x="8310676" y="4861208"/>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08  </a:t>
            </a:r>
            <a:r>
              <a:rPr sz="1150" b="0" lang="nl-NL">
                <a:solidFill>
                  <a:srgbClr val="1F1F1F"/>
                </a:solidFill>
                <a:latin typeface="Roboto"/>
              </a:rPr>
              <a:t>Automation: processen en regels</a:t>
            </a:r>
          </a:p>
        </p:txBody>
      </p:sp>
      <p:cxnSp>
        <p:nvCxnSpPr>
          <p:cNvPr id="25" name="Connector 24"/>
          <p:cNvCxnSpPr/>
          <p:nvPr/>
        </p:nvCxnSpPr>
        <p:spPr>
          <a:xfrm>
            <a:off x="8310676" y="5182068"/>
            <a:ext cx="3511573" cy="0"/>
          </a:xfrm>
          <a:prstGeom prst="line">
            <a:avLst/>
          </a:prstGeom>
          <a:ln w="6350">
            <a:solidFill>
              <a:srgbClr val="D6D6D6"/>
            </a:solidFill>
          </a:ln>
        </p:spPr>
      </p:cxnSp>
      <p:sp>
        <p:nvSpPr>
          <p:cNvPr id="26" name="TextBox 25"/>
          <p:cNvSpPr txBox="1"/>
          <p:nvPr/>
        </p:nvSpPr>
        <p:spPr>
          <a:xfrm>
            <a:off x="8310676" y="5246076"/>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09  </a:t>
            </a:r>
            <a:r>
              <a:rPr sz="1150" b="0" lang="nl-NL">
                <a:solidFill>
                  <a:srgbClr val="1F1F1F"/>
                </a:solidFill>
                <a:latin typeface="Roboto"/>
              </a:rPr>
              <a:t>Nieuwe lead en Qualify</a:t>
            </a:r>
          </a:p>
        </p:txBody>
      </p:sp>
      <p:cxnSp>
        <p:nvCxnSpPr>
          <p:cNvPr id="27" name="Connector 26"/>
          <p:cNvCxnSpPr/>
          <p:nvPr/>
        </p:nvCxnSpPr>
        <p:spPr>
          <a:xfrm>
            <a:off x="8310676" y="5566937"/>
            <a:ext cx="3511573" cy="0"/>
          </a:xfrm>
          <a:prstGeom prst="line">
            <a:avLst/>
          </a:prstGeom>
          <a:ln w="6350">
            <a:solidFill>
              <a:srgbClr val="D6D6D6"/>
            </a:solidFill>
          </a:ln>
        </p:spPr>
      </p:cxnSp>
      <p:sp>
        <p:nvSpPr>
          <p:cNvPr id="28" name="TextBox 27"/>
          <p:cNvSpPr txBox="1"/>
          <p:nvPr/>
        </p:nvSpPr>
        <p:spPr>
          <a:xfrm>
            <a:off x="8310676" y="5630945"/>
            <a:ext cx="3511573" cy="384868"/>
          </a:xfrm>
          <a:prstGeom prst="rect">
            <a:avLst/>
          </a:prstGeom>
          <a:noFill/>
        </p:spPr>
        <p:txBody>
          <a:bodyPr wrap="square" lIns="0" rIns="0" tIns="0" bIns="0" anchor="t">
            <a:spAutoFit/>
          </a:bodyPr>
          <a:lstStyle/>
          <a:p>
            <a:pPr algn="l">
              <a:lnSpc>
                <a:spcPct val="112000"/>
              </a:lnSpc>
            </a:pPr>
            <a:r>
              <a:rPr sz="1150" b="0" lang="nl-NL">
                <a:solidFill>
                  <a:srgbClr val="C514B4"/>
                </a:solidFill>
                <a:latin typeface="Montserrat Medium"/>
              </a:rPr>
              <a:t>10  </a:t>
            </a:r>
            <a:r>
              <a:rPr sz="1150" b="0" lang="nl-NL">
                <a:solidFill>
                  <a:srgbClr val="1F1F1F"/>
                </a:solidFill>
                <a:latin typeface="Roboto"/>
              </a:rPr>
              <a:t>Vooruitblik op v3</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6"/>
                </p:tgtEl>
              </p:cMediaNode>
            </p:video>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PROBEER HET ZELF</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Wat nu? Probeer het zelf</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23</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7573629" cy="0"/>
          </a:xfrm>
          <a:prstGeom prst="line">
            <a:avLst/>
          </a:prstGeom>
          <a:ln w="9525">
            <a:solidFill>
              <a:srgbClr val="1F1F1F"/>
            </a:solidFill>
          </a:ln>
        </p:spPr>
      </p:cxnSp>
      <p:sp>
        <p:nvSpPr>
          <p:cNvPr id="7" name="TextBox 6"/>
          <p:cNvSpPr txBox="1"/>
          <p:nvPr/>
        </p:nvSpPr>
        <p:spPr>
          <a:xfrm>
            <a:off x="369445" y="1892807"/>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01</a:t>
            </a:r>
          </a:p>
        </p:txBody>
      </p:sp>
      <p:sp>
        <p:nvSpPr>
          <p:cNvPr id="8" name="TextBox 7"/>
          <p:cNvSpPr txBox="1"/>
          <p:nvPr/>
        </p:nvSpPr>
        <p:spPr>
          <a:xfrm>
            <a:off x="963805" y="1892807"/>
            <a:ext cx="697926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Kies een klein probleem uit je eigen werk</a:t>
            </a:r>
          </a:p>
        </p:txBody>
      </p:sp>
      <p:cxnSp>
        <p:nvCxnSpPr>
          <p:cNvPr id="9" name="Connector 8"/>
          <p:cNvCxnSpPr/>
          <p:nvPr/>
        </p:nvCxnSpPr>
        <p:spPr>
          <a:xfrm>
            <a:off x="369445" y="2569464"/>
            <a:ext cx="7573629" cy="0"/>
          </a:xfrm>
          <a:prstGeom prst="line">
            <a:avLst/>
          </a:prstGeom>
          <a:ln w="9525">
            <a:solidFill>
              <a:srgbClr val="D6D6D6"/>
            </a:solidFill>
          </a:ln>
        </p:spPr>
      </p:cxnSp>
      <p:sp>
        <p:nvSpPr>
          <p:cNvPr id="10" name="TextBox 9"/>
          <p:cNvSpPr txBox="1"/>
          <p:nvPr/>
        </p:nvSpPr>
        <p:spPr>
          <a:xfrm>
            <a:off x="369445" y="2679192"/>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02</a:t>
            </a:r>
          </a:p>
        </p:txBody>
      </p:sp>
      <p:sp>
        <p:nvSpPr>
          <p:cNvPr id="11" name="TextBox 10"/>
          <p:cNvSpPr txBox="1"/>
          <p:nvPr/>
        </p:nvSpPr>
        <p:spPr>
          <a:xfrm>
            <a:off x="963805" y="2679192"/>
            <a:ext cx="697926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Laat Claude je uitvragen</a:t>
            </a:r>
          </a:p>
          <a:p>
            <a:pPr algn="l">
              <a:lnSpc>
                <a:spcPct val="112000"/>
              </a:lnSpc>
              <a:spcBef>
                <a:spcPts val="200"/>
              </a:spcBef>
            </a:pPr>
            <a:r>
              <a:rPr sz="1250" b="0" lang="nl-NL">
                <a:solidFill>
                  <a:srgbClr val="5F5F5F"/>
                </a:solidFill>
                <a:latin typeface="Roboto"/>
              </a:rPr>
              <a:t>Grilling, nog zonder te bouwen</a:t>
            </a:r>
          </a:p>
        </p:txBody>
      </p:sp>
      <p:cxnSp>
        <p:nvCxnSpPr>
          <p:cNvPr id="12" name="Connector 11"/>
          <p:cNvCxnSpPr/>
          <p:nvPr/>
        </p:nvCxnSpPr>
        <p:spPr>
          <a:xfrm>
            <a:off x="369445" y="3355848"/>
            <a:ext cx="7573629" cy="0"/>
          </a:xfrm>
          <a:prstGeom prst="line">
            <a:avLst/>
          </a:prstGeom>
          <a:ln w="9525">
            <a:solidFill>
              <a:srgbClr val="D6D6D6"/>
            </a:solidFill>
          </a:ln>
        </p:spPr>
      </p:cxnSp>
      <p:sp>
        <p:nvSpPr>
          <p:cNvPr id="13" name="TextBox 12"/>
          <p:cNvSpPr txBox="1"/>
          <p:nvPr/>
        </p:nvSpPr>
        <p:spPr>
          <a:xfrm>
            <a:off x="369445" y="3465576"/>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03</a:t>
            </a:r>
          </a:p>
        </p:txBody>
      </p:sp>
      <p:sp>
        <p:nvSpPr>
          <p:cNvPr id="14" name="TextBox 13"/>
          <p:cNvSpPr txBox="1"/>
          <p:nvPr/>
        </p:nvSpPr>
        <p:spPr>
          <a:xfrm>
            <a:off x="963805" y="3465576"/>
            <a:ext cx="697926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Laat een prototype maken en kies</a:t>
            </a:r>
          </a:p>
        </p:txBody>
      </p:sp>
      <p:cxnSp>
        <p:nvCxnSpPr>
          <p:cNvPr id="15" name="Connector 14"/>
          <p:cNvCxnSpPr/>
          <p:nvPr/>
        </p:nvCxnSpPr>
        <p:spPr>
          <a:xfrm>
            <a:off x="369445" y="4142232"/>
            <a:ext cx="7573629" cy="0"/>
          </a:xfrm>
          <a:prstGeom prst="line">
            <a:avLst/>
          </a:prstGeom>
          <a:ln w="9525">
            <a:solidFill>
              <a:srgbClr val="D6D6D6"/>
            </a:solidFill>
          </a:ln>
        </p:spPr>
      </p:cxnSp>
      <p:sp>
        <p:nvSpPr>
          <p:cNvPr id="16" name="TextBox 15"/>
          <p:cNvSpPr txBox="1"/>
          <p:nvPr/>
        </p:nvSpPr>
        <p:spPr>
          <a:xfrm>
            <a:off x="369445" y="4251960"/>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04</a:t>
            </a:r>
          </a:p>
        </p:txBody>
      </p:sp>
      <p:sp>
        <p:nvSpPr>
          <p:cNvPr id="17" name="TextBox 16"/>
          <p:cNvSpPr txBox="1"/>
          <p:nvPr/>
        </p:nvSpPr>
        <p:spPr>
          <a:xfrm>
            <a:off x="963805" y="4251960"/>
            <a:ext cx="697926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Schrijf de spec, bouw per ticket</a:t>
            </a:r>
          </a:p>
        </p:txBody>
      </p:sp>
      <p:cxnSp>
        <p:nvCxnSpPr>
          <p:cNvPr id="18" name="Connector 17"/>
          <p:cNvCxnSpPr/>
          <p:nvPr/>
        </p:nvCxnSpPr>
        <p:spPr>
          <a:xfrm>
            <a:off x="369445" y="4928616"/>
            <a:ext cx="7573629" cy="0"/>
          </a:xfrm>
          <a:prstGeom prst="line">
            <a:avLst/>
          </a:prstGeom>
          <a:ln w="9525">
            <a:solidFill>
              <a:srgbClr val="D6D6D6"/>
            </a:solidFill>
          </a:ln>
        </p:spPr>
      </p:cxnSp>
      <p:sp>
        <p:nvSpPr>
          <p:cNvPr id="19" name="TextBox 18"/>
          <p:cNvSpPr txBox="1"/>
          <p:nvPr/>
        </p:nvSpPr>
        <p:spPr>
          <a:xfrm>
            <a:off x="369445" y="5038344"/>
            <a:ext cx="502920" cy="365760"/>
          </a:xfrm>
          <a:prstGeom prst="rect">
            <a:avLst/>
          </a:prstGeom>
          <a:noFill/>
        </p:spPr>
        <p:txBody>
          <a:bodyPr wrap="square" lIns="0" rIns="0" tIns="0" bIns="0" anchor="t">
            <a:spAutoFit/>
          </a:bodyPr>
          <a:lstStyle/>
          <a:p>
            <a:pPr algn="l">
              <a:lnSpc>
                <a:spcPct val="112000"/>
              </a:lnSpc>
            </a:pPr>
            <a:r>
              <a:rPr sz="1600" b="0" lang="nl-NL">
                <a:solidFill>
                  <a:srgbClr val="C514B4"/>
                </a:solidFill>
                <a:latin typeface="Montserrat"/>
              </a:rPr>
              <a:t>05</a:t>
            </a:r>
          </a:p>
        </p:txBody>
      </p:sp>
      <p:sp>
        <p:nvSpPr>
          <p:cNvPr id="20" name="TextBox 19"/>
          <p:cNvSpPr txBox="1"/>
          <p:nvPr/>
        </p:nvSpPr>
        <p:spPr>
          <a:xfrm>
            <a:off x="963805" y="5038344"/>
            <a:ext cx="6979268" cy="658368"/>
          </a:xfrm>
          <a:prstGeom prst="rect">
            <a:avLst/>
          </a:prstGeom>
          <a:noFill/>
        </p:spPr>
        <p:txBody>
          <a:bodyPr wrap="square" lIns="0" rIns="0" tIns="0" bIns="0" anchor="t">
            <a:spAutoFit/>
          </a:bodyPr>
          <a:lstStyle/>
          <a:p>
            <a:pPr algn="l">
              <a:lnSpc>
                <a:spcPct val="112000"/>
              </a:lnSpc>
            </a:pPr>
            <a:r>
              <a:rPr sz="1600" b="0" lang="nl-NL">
                <a:solidFill>
                  <a:srgbClr val="1F1F1F"/>
                </a:solidFill>
                <a:latin typeface="Roboto"/>
              </a:rPr>
              <a:t>Controleer altijd zelf</a:t>
            </a:r>
          </a:p>
          <a:p>
            <a:pPr algn="l">
              <a:lnSpc>
                <a:spcPct val="112000"/>
              </a:lnSpc>
              <a:spcBef>
                <a:spcPts val="200"/>
              </a:spcBef>
            </a:pPr>
            <a:r>
              <a:rPr sz="1250" b="0" lang="nl-NL">
                <a:solidFill>
                  <a:srgbClr val="5F5F5F"/>
                </a:solidFill>
                <a:latin typeface="Roboto"/>
              </a:rPr>
              <a:t>Met testgebruikers</a:t>
            </a:r>
          </a:p>
        </p:txBody>
      </p:sp>
      <p:sp>
        <p:nvSpPr>
          <p:cNvPr id="21" name="Fellowmind slant"/>
          <p:cNvSpPr/>
          <p:nvPr/>
        </p:nvSpPr>
        <p:spPr>
          <a:xfrm>
            <a:off x="10356490" y="1783080"/>
            <a:ext cx="1465759" cy="2011680"/>
          </a:xfrm>
          <a:custGeom>
            <a:avLst/>
            <a:gdLst/>
            <a:ahLst/>
            <a:cxnLst/>
            <a:rect l="0" t="0" r="r" b="b"/>
            <a:pathLst>
              <a:path w="19600" h="26900">
                <a:moveTo>
                  <a:pt x="14300" y="0"/>
                </a:moveTo>
                <a:lnTo>
                  <a:pt x="19600" y="0"/>
                </a:lnTo>
                <a:lnTo>
                  <a:pt x="5300" y="26900"/>
                </a:lnTo>
                <a:lnTo>
                  <a:pt x="0" y="26900"/>
                </a:lnTo>
                <a:close/>
              </a:path>
            </a:pathLst>
          </a:custGeom>
          <a:gradFill rotWithShape="1">
            <a:gsLst>
              <a:gs pos="0">
                <a:srgbClr val="F05027"/>
              </a:gs>
              <a:gs pos="33333">
                <a:srgbClr val="FF455B"/>
              </a:gs>
              <a:gs pos="66667">
                <a:srgbClr val="D53B91"/>
              </a:gs>
              <a:gs pos="100000">
                <a:srgbClr val="C514B4"/>
              </a:gs>
            </a:gsLst>
            <a:lin ang="5400000" scaled="0"/>
          </a:gradFill>
          <a:ln>
            <a:noFill/>
          </a:ln>
        </p:spPr>
        <p:txBody>
          <a:bodyPr rtlCol="0" anchor="ctr"/>
          <a:lstStyle/>
          <a:p>
            <a:pPr algn="ctr"/>
          </a:p>
        </p:txBody>
      </p:sp>
      <p:sp>
        <p:nvSpPr>
          <p:cNvPr id="22" name="TextBox 21"/>
          <p:cNvSpPr txBox="1"/>
          <p:nvPr/>
        </p:nvSpPr>
        <p:spPr>
          <a:xfrm>
            <a:off x="8310676" y="4114800"/>
            <a:ext cx="3511573" cy="1828800"/>
          </a:xfrm>
          <a:prstGeom prst="rect">
            <a:avLst/>
          </a:prstGeom>
          <a:noFill/>
        </p:spPr>
        <p:txBody>
          <a:bodyPr wrap="square" lIns="0" rIns="0" tIns="0" bIns="0" anchor="t">
            <a:spAutoFit/>
          </a:bodyPr>
          <a:lstStyle/>
          <a:p>
            <a:pPr algn="l">
              <a:lnSpc>
                <a:spcPct val="112000"/>
              </a:lnSpc>
            </a:pPr>
            <a:r>
              <a:rPr sz="1800" b="0" lang="nl-NL">
                <a:solidFill>
                  <a:srgbClr val="1F1F1F"/>
                </a:solidFill>
                <a:latin typeface="Montserrat"/>
              </a:rPr>
              <a:t>Je hoeft geen code te kunnen, wel te weten wat je wilt.</a:t>
            </a:r>
          </a:p>
          <a:p>
            <a:pPr algn="l">
              <a:lnSpc>
                <a:spcPct val="112000"/>
              </a:lnSpc>
              <a:spcBef>
                <a:spcPts val="1200"/>
              </a:spcBef>
            </a:pPr>
            <a:r>
              <a:rPr sz="1200" b="0" lang="nl-NL">
                <a:solidFill>
                  <a:srgbClr val="C514B4"/>
                </a:solidFill>
                <a:latin typeface="Roboto"/>
                <a:hlinkClick r:id="rId2"/>
              </a:rPr>
              <a:t>github.com/Bramvdw94/power-platform-sales-app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9445" y="415165"/>
            <a:ext cx="11452804" cy="228600"/>
          </a:xfrm>
          <a:prstGeom prst="rect">
            <a:avLst/>
          </a:prstGeom>
          <a:noFill/>
        </p:spPr>
        <p:txBody>
          <a:bodyPr wrap="square" lIns="0" rIns="0" tIns="0" bIns="0" anchor="t">
            <a:spAutoFit/>
          </a:bodyPr>
          <a:lstStyle/>
          <a:p>
            <a:pPr algn="l">
              <a:lnSpc>
                <a:spcPct val="112000"/>
              </a:lnSpc>
            </a:pPr>
            <a:r>
              <a:rPr sz="1100" b="0" lang="nl-NL">
                <a:solidFill>
                  <a:srgbClr val="C514B4"/>
                </a:solidFill>
                <a:latin typeface="Montserrat SemiBold"/>
              </a:rPr>
              <a:t>VRAGEN</a:t>
            </a:r>
          </a:p>
        </p:txBody>
      </p:sp>
      <p:sp>
        <p:nvSpPr>
          <p:cNvPr id="3" name="TextBox 2"/>
          <p:cNvSpPr txBox="1"/>
          <p:nvPr/>
        </p:nvSpPr>
        <p:spPr>
          <a:xfrm>
            <a:off x="369445" y="716917"/>
            <a:ext cx="11452804" cy="822960"/>
          </a:xfrm>
          <a:prstGeom prst="rect">
            <a:avLst/>
          </a:prstGeom>
          <a:noFill/>
        </p:spPr>
        <p:txBody>
          <a:bodyPr wrap="square" lIns="0" rIns="0" tIns="0" bIns="0" anchor="t">
            <a:spAutoFit/>
          </a:bodyPr>
          <a:lstStyle/>
          <a:p>
            <a:pPr algn="l">
              <a:lnSpc>
                <a:spcPct val="100000"/>
              </a:lnSpc>
            </a:pPr>
            <a:r>
              <a:rPr sz="3000" b="0" lang="nl-NL">
                <a:solidFill>
                  <a:srgbClr val="000000"/>
                </a:solidFill>
                <a:latin typeface="Montserrat"/>
              </a:rPr>
              <a:t>Vragen?</a:t>
            </a:r>
          </a:p>
        </p:txBody>
      </p:sp>
      <p:sp>
        <p:nvSpPr>
          <p:cNvPr id="4" name="TextBox 3"/>
          <p:cNvSpPr txBox="1"/>
          <p:nvPr/>
        </p:nvSpPr>
        <p:spPr>
          <a:xfrm>
            <a:off x="369445" y="6333106"/>
            <a:ext cx="6280570" cy="182880"/>
          </a:xfrm>
          <a:prstGeom prst="rect">
            <a:avLst/>
          </a:prstGeom>
          <a:noFill/>
        </p:spPr>
        <p:txBody>
          <a:bodyPr wrap="square" lIns="0" rIns="0" tIns="0" bIns="0" anchor="t">
            <a:spAutoFit/>
          </a:bodyPr>
          <a:lstStyle/>
          <a:p>
            <a:pPr algn="l">
              <a:lnSpc>
                <a:spcPct val="112000"/>
              </a:lnSpc>
            </a:pPr>
            <a:r>
              <a:rPr sz="900" b="0" lang="nl-NL">
                <a:solidFill>
                  <a:srgbClr val="5F5F5F"/>
                </a:solidFill>
                <a:latin typeface="Montserrat Medium"/>
              </a:rPr>
              <a:t>24</a:t>
            </a:r>
            <a:r>
              <a:rPr sz="900" b="0" lang="nl-NL">
                <a:solidFill>
                  <a:srgbClr val="5F5F5F"/>
                </a:solidFill>
                <a:latin typeface="Roboto"/>
              </a:rPr>
              <a:t>    Een CRM bouwen als functioneel consultant</a:t>
            </a:r>
          </a:p>
        </p:txBody>
      </p:sp>
      <p:sp>
        <p:nvSpPr>
          <p:cNvPr id="5" name="Fellowmind logo"/>
          <p:cNvSpPr/>
          <p:nvPr/>
        </p:nvSpPr>
        <p:spPr>
          <a:xfrm>
            <a:off x="10770689" y="6316997"/>
            <a:ext cx="1051560" cy="171557"/>
          </a:xfrm>
          <a:custGeom>
            <a:avLst/>
            <a:gdLst/>
            <a:ahLst/>
            <a:cxnLst/>
            <a:rect l="0" t="0" r="r" b="b"/>
            <a:pathLst>
              <a:path w="48000" h="7831">
                <a:moveTo>
                  <a:pt x="36622" y="837"/>
                </a:moveTo>
                <a:cubicBezTo>
                  <a:pt x="36622" y="1299"/>
                  <a:pt x="36249" y="1674"/>
                  <a:pt x="35789" y="1674"/>
                </a:cubicBezTo>
                <a:cubicBezTo>
                  <a:pt x="35330" y="1674"/>
                  <a:pt x="34957" y="1299"/>
                  <a:pt x="34957" y="837"/>
                </a:cubicBezTo>
                <a:cubicBezTo>
                  <a:pt x="34957" y="375"/>
                  <a:pt x="35330" y="0"/>
                  <a:pt x="35789" y="0"/>
                </a:cubicBezTo>
                <a:cubicBezTo>
                  <a:pt x="36249" y="0"/>
                  <a:pt x="36622" y="375"/>
                  <a:pt x="36622" y="837"/>
                </a:cubicBezTo>
                <a:close/>
                <a:moveTo>
                  <a:pt x="46552" y="159"/>
                </a:moveTo>
                <a:lnTo>
                  <a:pt x="46552" y="159"/>
                </a:lnTo>
                <a:lnTo>
                  <a:pt x="48000" y="157"/>
                </a:lnTo>
                <a:lnTo>
                  <a:pt x="48000" y="7520"/>
                </a:lnTo>
                <a:lnTo>
                  <a:pt x="46552" y="7515"/>
                </a:lnTo>
                <a:lnTo>
                  <a:pt x="46552" y="159"/>
                </a:lnTo>
                <a:close/>
                <a:moveTo>
                  <a:pt x="37873" y="2692"/>
                </a:moveTo>
                <a:lnTo>
                  <a:pt x="37873" y="2692"/>
                </a:lnTo>
                <a:lnTo>
                  <a:pt x="39321" y="2689"/>
                </a:lnTo>
                <a:lnTo>
                  <a:pt x="39321" y="7515"/>
                </a:lnTo>
                <a:lnTo>
                  <a:pt x="37873" y="7515"/>
                </a:lnTo>
                <a:lnTo>
                  <a:pt x="37873" y="2692"/>
                </a:lnTo>
                <a:close/>
                <a:moveTo>
                  <a:pt x="35065" y="2692"/>
                </a:moveTo>
                <a:lnTo>
                  <a:pt x="35065" y="2692"/>
                </a:lnTo>
                <a:lnTo>
                  <a:pt x="36513" y="2689"/>
                </a:lnTo>
                <a:lnTo>
                  <a:pt x="36513" y="7515"/>
                </a:lnTo>
                <a:lnTo>
                  <a:pt x="35065" y="7515"/>
                </a:lnTo>
                <a:lnTo>
                  <a:pt x="35065" y="2692"/>
                </a:lnTo>
                <a:close/>
                <a:moveTo>
                  <a:pt x="7547" y="4529"/>
                </a:moveTo>
                <a:cubicBezTo>
                  <a:pt x="7569" y="3347"/>
                  <a:pt x="7321" y="2872"/>
                  <a:pt x="6964" y="2692"/>
                </a:cubicBezTo>
                <a:cubicBezTo>
                  <a:pt x="8165" y="2647"/>
                  <a:pt x="8992" y="3390"/>
                  <a:pt x="8992" y="4529"/>
                </a:cubicBezTo>
                <a:lnTo>
                  <a:pt x="7547" y="4529"/>
                </a:lnTo>
                <a:close/>
                <a:moveTo>
                  <a:pt x="45914" y="7395"/>
                </a:moveTo>
                <a:cubicBezTo>
                  <a:pt x="45116" y="6957"/>
                  <a:pt x="44858" y="6183"/>
                  <a:pt x="44858" y="5012"/>
                </a:cubicBezTo>
                <a:cubicBezTo>
                  <a:pt x="44858" y="3938"/>
                  <a:pt x="45210" y="3003"/>
                  <a:pt x="45770" y="2689"/>
                </a:cubicBezTo>
                <a:cubicBezTo>
                  <a:pt x="44245" y="2597"/>
                  <a:pt x="43303" y="3641"/>
                  <a:pt x="43303" y="5102"/>
                </a:cubicBezTo>
                <a:cubicBezTo>
                  <a:pt x="43303" y="6991"/>
                  <a:pt x="44669" y="7831"/>
                  <a:pt x="45914" y="7395"/>
                </a:cubicBezTo>
                <a:close/>
                <a:moveTo>
                  <a:pt x="6963" y="7555"/>
                </a:moveTo>
                <a:cubicBezTo>
                  <a:pt x="7614" y="7555"/>
                  <a:pt x="8181" y="7334"/>
                  <a:pt x="8529" y="6921"/>
                </a:cubicBezTo>
                <a:cubicBezTo>
                  <a:pt x="7182" y="6945"/>
                  <a:pt x="5926" y="6300"/>
                  <a:pt x="5926" y="4529"/>
                </a:cubicBezTo>
                <a:cubicBezTo>
                  <a:pt x="5926" y="3731"/>
                  <a:pt x="6179" y="3059"/>
                  <a:pt x="6510" y="2689"/>
                </a:cubicBezTo>
                <a:cubicBezTo>
                  <a:pt x="5410" y="2788"/>
                  <a:pt x="4491" y="3624"/>
                  <a:pt x="4491" y="5023"/>
                </a:cubicBezTo>
                <a:cubicBezTo>
                  <a:pt x="4491" y="6555"/>
                  <a:pt x="5610" y="7555"/>
                  <a:pt x="6963" y="7555"/>
                </a:cubicBezTo>
                <a:close/>
                <a:moveTo>
                  <a:pt x="40813" y="4177"/>
                </a:moveTo>
                <a:cubicBezTo>
                  <a:pt x="40813" y="3477"/>
                  <a:pt x="40600" y="2911"/>
                  <a:pt x="39992" y="2829"/>
                </a:cubicBezTo>
                <a:cubicBezTo>
                  <a:pt x="40189" y="2708"/>
                  <a:pt x="40503" y="2634"/>
                  <a:pt x="40835" y="2634"/>
                </a:cubicBezTo>
                <a:cubicBezTo>
                  <a:pt x="41719" y="2634"/>
                  <a:pt x="42261" y="3134"/>
                  <a:pt x="42261" y="4100"/>
                </a:cubicBezTo>
                <a:lnTo>
                  <a:pt x="42261" y="7515"/>
                </a:lnTo>
                <a:lnTo>
                  <a:pt x="40813" y="7515"/>
                </a:lnTo>
                <a:lnTo>
                  <a:pt x="40813" y="4177"/>
                </a:lnTo>
                <a:close/>
                <a:moveTo>
                  <a:pt x="27828" y="4396"/>
                </a:moveTo>
                <a:lnTo>
                  <a:pt x="28818" y="2524"/>
                </a:lnTo>
                <a:lnTo>
                  <a:pt x="31358" y="7515"/>
                </a:lnTo>
                <a:lnTo>
                  <a:pt x="29697" y="7515"/>
                </a:lnTo>
                <a:cubicBezTo>
                  <a:pt x="29697" y="7515"/>
                  <a:pt x="28480" y="5092"/>
                  <a:pt x="28353" y="4857"/>
                </a:cubicBezTo>
                <a:cubicBezTo>
                  <a:pt x="28178" y="4530"/>
                  <a:pt x="28035" y="4366"/>
                  <a:pt x="27828" y="4396"/>
                </a:cubicBezTo>
                <a:close/>
                <a:moveTo>
                  <a:pt x="12719" y="2692"/>
                </a:moveTo>
                <a:lnTo>
                  <a:pt x="12719" y="159"/>
                </a:lnTo>
                <a:lnTo>
                  <a:pt x="14167" y="157"/>
                </a:lnTo>
                <a:lnTo>
                  <a:pt x="14167" y="7515"/>
                </a:lnTo>
                <a:lnTo>
                  <a:pt x="12719" y="7515"/>
                </a:lnTo>
                <a:lnTo>
                  <a:pt x="12719" y="2692"/>
                </a:lnTo>
                <a:close/>
                <a:moveTo>
                  <a:pt x="9911" y="2692"/>
                </a:moveTo>
                <a:lnTo>
                  <a:pt x="9911" y="159"/>
                </a:lnTo>
                <a:lnTo>
                  <a:pt x="11359" y="157"/>
                </a:lnTo>
                <a:lnTo>
                  <a:pt x="11359" y="7515"/>
                </a:lnTo>
                <a:lnTo>
                  <a:pt x="9911" y="7515"/>
                </a:lnTo>
                <a:lnTo>
                  <a:pt x="9911" y="2692"/>
                </a:lnTo>
                <a:close/>
                <a:moveTo>
                  <a:pt x="20053" y="5111"/>
                </a:moveTo>
                <a:cubicBezTo>
                  <a:pt x="20053" y="3712"/>
                  <a:pt x="19190" y="2755"/>
                  <a:pt x="17968" y="2706"/>
                </a:cubicBezTo>
                <a:cubicBezTo>
                  <a:pt x="18388" y="3124"/>
                  <a:pt x="18550" y="3882"/>
                  <a:pt x="18550" y="5111"/>
                </a:cubicBezTo>
                <a:cubicBezTo>
                  <a:pt x="18550" y="6340"/>
                  <a:pt x="18388" y="7097"/>
                  <a:pt x="17968" y="7515"/>
                </a:cubicBezTo>
                <a:cubicBezTo>
                  <a:pt x="19190" y="7466"/>
                  <a:pt x="20053" y="6510"/>
                  <a:pt x="20053" y="5111"/>
                </a:cubicBezTo>
                <a:close/>
                <a:moveTo>
                  <a:pt x="15223" y="5111"/>
                </a:moveTo>
                <a:cubicBezTo>
                  <a:pt x="15223" y="3712"/>
                  <a:pt x="16086" y="2755"/>
                  <a:pt x="17308" y="2706"/>
                </a:cubicBezTo>
                <a:cubicBezTo>
                  <a:pt x="16888" y="3124"/>
                  <a:pt x="16726" y="3882"/>
                  <a:pt x="16726" y="5111"/>
                </a:cubicBezTo>
                <a:cubicBezTo>
                  <a:pt x="16726" y="6340"/>
                  <a:pt x="16888" y="7097"/>
                  <a:pt x="17308" y="7515"/>
                </a:cubicBezTo>
                <a:cubicBezTo>
                  <a:pt x="16086" y="7466"/>
                  <a:pt x="15223" y="6510"/>
                  <a:pt x="15223" y="5111"/>
                </a:cubicBezTo>
                <a:close/>
                <a:moveTo>
                  <a:pt x="30994" y="4396"/>
                </a:moveTo>
                <a:lnTo>
                  <a:pt x="31984" y="2524"/>
                </a:lnTo>
                <a:lnTo>
                  <a:pt x="34524" y="7515"/>
                </a:lnTo>
                <a:lnTo>
                  <a:pt x="32863" y="7515"/>
                </a:lnTo>
                <a:cubicBezTo>
                  <a:pt x="32863" y="7515"/>
                  <a:pt x="31646" y="5092"/>
                  <a:pt x="31519" y="4857"/>
                </a:cubicBezTo>
                <a:cubicBezTo>
                  <a:pt x="31344" y="4530"/>
                  <a:pt x="31201" y="4366"/>
                  <a:pt x="30994" y="4396"/>
                </a:cubicBezTo>
                <a:close/>
                <a:moveTo>
                  <a:pt x="27079" y="5808"/>
                </a:moveTo>
                <a:lnTo>
                  <a:pt x="26088" y="7680"/>
                </a:lnTo>
                <a:lnTo>
                  <a:pt x="23548" y="2689"/>
                </a:lnTo>
                <a:lnTo>
                  <a:pt x="25210" y="2689"/>
                </a:lnTo>
                <a:cubicBezTo>
                  <a:pt x="25210" y="2689"/>
                  <a:pt x="26427" y="5112"/>
                  <a:pt x="26553" y="5347"/>
                </a:cubicBezTo>
                <a:cubicBezTo>
                  <a:pt x="26729" y="5674"/>
                  <a:pt x="26872" y="5838"/>
                  <a:pt x="27079" y="5808"/>
                </a:cubicBezTo>
                <a:close/>
                <a:moveTo>
                  <a:pt x="23913" y="5808"/>
                </a:moveTo>
                <a:lnTo>
                  <a:pt x="22922" y="7680"/>
                </a:lnTo>
                <a:lnTo>
                  <a:pt x="20382" y="2689"/>
                </a:lnTo>
                <a:lnTo>
                  <a:pt x="22044" y="2689"/>
                </a:lnTo>
                <a:cubicBezTo>
                  <a:pt x="22044" y="2689"/>
                  <a:pt x="23261" y="5112"/>
                  <a:pt x="23387" y="5347"/>
                </a:cubicBezTo>
                <a:cubicBezTo>
                  <a:pt x="23563" y="5674"/>
                  <a:pt x="23706" y="5838"/>
                  <a:pt x="23913" y="5808"/>
                </a:cubicBezTo>
                <a:close/>
                <a:moveTo>
                  <a:pt x="0" y="159"/>
                </a:moveTo>
                <a:lnTo>
                  <a:pt x="1448" y="157"/>
                </a:lnTo>
                <a:lnTo>
                  <a:pt x="1448" y="7515"/>
                </a:lnTo>
                <a:lnTo>
                  <a:pt x="0" y="7515"/>
                </a:lnTo>
                <a:lnTo>
                  <a:pt x="0" y="159"/>
                </a:lnTo>
                <a:close/>
                <a:moveTo>
                  <a:pt x="3571" y="4713"/>
                </a:moveTo>
                <a:lnTo>
                  <a:pt x="3571" y="2731"/>
                </a:lnTo>
                <a:cubicBezTo>
                  <a:pt x="3280" y="3120"/>
                  <a:pt x="2775" y="3492"/>
                  <a:pt x="2018" y="3722"/>
                </a:cubicBezTo>
                <a:cubicBezTo>
                  <a:pt x="2770" y="3950"/>
                  <a:pt x="3292" y="4351"/>
                  <a:pt x="3571" y="4713"/>
                </a:cubicBezTo>
                <a:close/>
                <a:moveTo>
                  <a:pt x="4781" y="1984"/>
                </a:moveTo>
                <a:cubicBezTo>
                  <a:pt x="4248" y="1131"/>
                  <a:pt x="3587" y="536"/>
                  <a:pt x="2393" y="157"/>
                </a:cubicBezTo>
                <a:lnTo>
                  <a:pt x="4781" y="157"/>
                </a:lnTo>
                <a:lnTo>
                  <a:pt x="4781" y="1984"/>
                </a:lnTo>
                <a:close/>
              </a:path>
            </a:pathLst>
          </a:custGeom>
          <a:solidFill>
            <a:srgbClr val="000000"/>
          </a:solidFill>
          <a:ln>
            <a:noFill/>
          </a:ln>
        </p:spPr>
        <p:txBody>
          <a:bodyPr rtlCol="0" anchor="ctr"/>
          <a:lstStyle/>
          <a:p>
            <a:pPr algn="ctr"/>
          </a:p>
        </p:txBody>
      </p:sp>
      <p:cxnSp>
        <p:nvCxnSpPr>
          <p:cNvPr id="6" name="Connector 5"/>
          <p:cNvCxnSpPr/>
          <p:nvPr/>
        </p:nvCxnSpPr>
        <p:spPr>
          <a:xfrm>
            <a:off x="369445" y="1783080"/>
            <a:ext cx="11452804" cy="0"/>
          </a:xfrm>
          <a:prstGeom prst="line">
            <a:avLst/>
          </a:prstGeom>
          <a:ln w="9525">
            <a:solidFill>
              <a:srgbClr val="1F1F1F"/>
            </a:solidFill>
          </a:ln>
        </p:spPr>
      </p:cxnSp>
      <p:sp>
        <p:nvSpPr>
          <p:cNvPr id="7" name="TextBox 6"/>
          <p:cNvSpPr txBox="1"/>
          <p:nvPr/>
        </p:nvSpPr>
        <p:spPr>
          <a:xfrm>
            <a:off x="369445" y="1920240"/>
            <a:ext cx="3694453" cy="5486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Wat kost dit?</a:t>
            </a:r>
          </a:p>
        </p:txBody>
      </p:sp>
      <p:sp>
        <p:nvSpPr>
          <p:cNvPr id="8" name="TextBox 7"/>
          <p:cNvSpPr txBox="1"/>
          <p:nvPr/>
        </p:nvSpPr>
        <p:spPr>
          <a:xfrm>
            <a:off x="4248621" y="1920240"/>
            <a:ext cx="7573628" cy="640080"/>
          </a:xfrm>
          <a:prstGeom prst="rect">
            <a:avLst/>
          </a:prstGeom>
          <a:noFill/>
        </p:spPr>
        <p:txBody>
          <a:bodyPr wrap="square" lIns="0" rIns="0" tIns="0" bIns="0" anchor="t">
            <a:spAutoFit/>
          </a:bodyPr>
          <a:lstStyle/>
          <a:p>
            <a:pPr algn="l">
              <a:lnSpc>
                <a:spcPct val="112000"/>
              </a:lnSpc>
            </a:pPr>
            <a:r>
              <a:rPr sz="1350" b="0" lang="nl-NL">
                <a:solidFill>
                  <a:srgbClr val="5F5F5F"/>
                </a:solidFill>
                <a:latin typeface="Roboto"/>
              </a:rPr>
              <a:t>Claude-abonnement, Power Apps-licenties en bijna niets aan AI: Jev ca. $0,00006 per call, Mistral via een gratis API-key. Geen Azure-abonnement.</a:t>
            </a:r>
          </a:p>
        </p:txBody>
      </p:sp>
      <p:cxnSp>
        <p:nvCxnSpPr>
          <p:cNvPr id="9" name="Connector 8"/>
          <p:cNvCxnSpPr/>
          <p:nvPr/>
        </p:nvCxnSpPr>
        <p:spPr>
          <a:xfrm>
            <a:off x="369445" y="2569464"/>
            <a:ext cx="11452804" cy="0"/>
          </a:xfrm>
          <a:prstGeom prst="line">
            <a:avLst/>
          </a:prstGeom>
          <a:ln w="9525">
            <a:solidFill>
              <a:srgbClr val="D6D6D6"/>
            </a:solidFill>
          </a:ln>
        </p:spPr>
      </p:cxnSp>
      <p:sp>
        <p:nvSpPr>
          <p:cNvPr id="10" name="TextBox 9"/>
          <p:cNvSpPr txBox="1"/>
          <p:nvPr/>
        </p:nvSpPr>
        <p:spPr>
          <a:xfrm>
            <a:off x="369445" y="2706624"/>
            <a:ext cx="3694453" cy="5486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Is dit veilig voor klantdata?</a:t>
            </a:r>
          </a:p>
        </p:txBody>
      </p:sp>
      <p:sp>
        <p:nvSpPr>
          <p:cNvPr id="11" name="TextBox 10"/>
          <p:cNvSpPr txBox="1"/>
          <p:nvPr/>
        </p:nvSpPr>
        <p:spPr>
          <a:xfrm>
            <a:off x="4248621" y="2706624"/>
            <a:ext cx="7573628" cy="640080"/>
          </a:xfrm>
          <a:prstGeom prst="rect">
            <a:avLst/>
          </a:prstGeom>
          <a:noFill/>
        </p:spPr>
        <p:txBody>
          <a:bodyPr wrap="square" lIns="0" rIns="0" tIns="0" bIns="0" anchor="t">
            <a:spAutoFit/>
          </a:bodyPr>
          <a:lstStyle/>
          <a:p>
            <a:pPr algn="l">
              <a:lnSpc>
                <a:spcPct val="112000"/>
              </a:lnSpc>
            </a:pPr>
            <a:r>
              <a:rPr sz="1350" b="0" lang="nl-NL">
                <a:solidFill>
                  <a:srgbClr val="5F5F5F"/>
                </a:solidFill>
                <a:latin typeface="Roboto"/>
              </a:rPr>
              <a:t>Nu alleen fictieve data. Voor echte data: rechten in Dataverse, secrets in plug-in-configuratie, verwerkersovereenkomst voor AI.</a:t>
            </a:r>
          </a:p>
        </p:txBody>
      </p:sp>
      <p:cxnSp>
        <p:nvCxnSpPr>
          <p:cNvPr id="12" name="Connector 11"/>
          <p:cNvCxnSpPr/>
          <p:nvPr/>
        </p:nvCxnSpPr>
        <p:spPr>
          <a:xfrm>
            <a:off x="369445" y="3355848"/>
            <a:ext cx="11452804" cy="0"/>
          </a:xfrm>
          <a:prstGeom prst="line">
            <a:avLst/>
          </a:prstGeom>
          <a:ln w="9525">
            <a:solidFill>
              <a:srgbClr val="D6D6D6"/>
            </a:solidFill>
          </a:ln>
        </p:spPr>
      </p:cxnSp>
      <p:sp>
        <p:nvSpPr>
          <p:cNvPr id="13" name="TextBox 12"/>
          <p:cNvSpPr txBox="1"/>
          <p:nvPr/>
        </p:nvSpPr>
        <p:spPr>
          <a:xfrm>
            <a:off x="369445" y="3493008"/>
            <a:ext cx="3694453" cy="5486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Waarom geen D365 Sales?</a:t>
            </a:r>
          </a:p>
        </p:txBody>
      </p:sp>
      <p:sp>
        <p:nvSpPr>
          <p:cNvPr id="14" name="TextBox 13"/>
          <p:cNvSpPr txBox="1"/>
          <p:nvPr/>
        </p:nvSpPr>
        <p:spPr>
          <a:xfrm>
            <a:off x="4248621" y="3493008"/>
            <a:ext cx="7573628" cy="640080"/>
          </a:xfrm>
          <a:prstGeom prst="rect">
            <a:avLst/>
          </a:prstGeom>
          <a:noFill/>
        </p:spPr>
        <p:txBody>
          <a:bodyPr wrap="square" lIns="0" rIns="0" tIns="0" bIns="0" anchor="t">
            <a:spAutoFit/>
          </a:bodyPr>
          <a:lstStyle/>
          <a:p>
            <a:pPr algn="l">
              <a:lnSpc>
                <a:spcPct val="112000"/>
              </a:lnSpc>
            </a:pPr>
            <a:r>
              <a:rPr sz="1350" b="0" lang="nl-NL">
                <a:solidFill>
                  <a:srgbClr val="5F5F5F"/>
                </a:solidFill>
                <a:latin typeface="Roboto"/>
              </a:rPr>
              <a:t>Dit is een experiment. D365 Sales heeft veel meer.</a:t>
            </a:r>
          </a:p>
        </p:txBody>
      </p:sp>
      <p:cxnSp>
        <p:nvCxnSpPr>
          <p:cNvPr id="15" name="Connector 14"/>
          <p:cNvCxnSpPr/>
          <p:nvPr/>
        </p:nvCxnSpPr>
        <p:spPr>
          <a:xfrm>
            <a:off x="369445" y="4142232"/>
            <a:ext cx="11452804" cy="0"/>
          </a:xfrm>
          <a:prstGeom prst="line">
            <a:avLst/>
          </a:prstGeom>
          <a:ln w="9525">
            <a:solidFill>
              <a:srgbClr val="D6D6D6"/>
            </a:solidFill>
          </a:ln>
        </p:spPr>
      </p:cxnSp>
      <p:sp>
        <p:nvSpPr>
          <p:cNvPr id="16" name="TextBox 15"/>
          <p:cNvSpPr txBox="1"/>
          <p:nvPr/>
        </p:nvSpPr>
        <p:spPr>
          <a:xfrm>
            <a:off x="369445" y="4279392"/>
            <a:ext cx="3694453" cy="5486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Kan een klant dit gebruiken?</a:t>
            </a:r>
          </a:p>
        </p:txBody>
      </p:sp>
      <p:sp>
        <p:nvSpPr>
          <p:cNvPr id="17" name="TextBox 16"/>
          <p:cNvSpPr txBox="1"/>
          <p:nvPr/>
        </p:nvSpPr>
        <p:spPr>
          <a:xfrm>
            <a:off x="4248621" y="4279392"/>
            <a:ext cx="7573628" cy="640080"/>
          </a:xfrm>
          <a:prstGeom prst="rect">
            <a:avLst/>
          </a:prstGeom>
          <a:noFill/>
        </p:spPr>
        <p:txBody>
          <a:bodyPr wrap="square" lIns="0" rIns="0" tIns="0" bIns="0" anchor="t">
            <a:spAutoFit/>
          </a:bodyPr>
          <a:lstStyle/>
          <a:p>
            <a:pPr algn="l">
              <a:lnSpc>
                <a:spcPct val="112000"/>
              </a:lnSpc>
            </a:pPr>
            <a:r>
              <a:rPr sz="1350" b="0" lang="nl-NL">
                <a:solidFill>
                  <a:srgbClr val="5F5F5F"/>
                </a:solidFill>
                <a:latin typeface="Roboto"/>
              </a:rPr>
              <a:t>Mogelijk, maar zonder Test/Prod, ALM en support nog niet.</a:t>
            </a:r>
          </a:p>
        </p:txBody>
      </p:sp>
      <p:cxnSp>
        <p:nvCxnSpPr>
          <p:cNvPr id="18" name="Connector 17"/>
          <p:cNvCxnSpPr/>
          <p:nvPr/>
        </p:nvCxnSpPr>
        <p:spPr>
          <a:xfrm>
            <a:off x="369445" y="4928616"/>
            <a:ext cx="11452804" cy="0"/>
          </a:xfrm>
          <a:prstGeom prst="line">
            <a:avLst/>
          </a:prstGeom>
          <a:ln w="9525">
            <a:solidFill>
              <a:srgbClr val="D6D6D6"/>
            </a:solidFill>
          </a:ln>
        </p:spPr>
      </p:cxnSp>
      <p:sp>
        <p:nvSpPr>
          <p:cNvPr id="19" name="TextBox 18"/>
          <p:cNvSpPr txBox="1"/>
          <p:nvPr/>
        </p:nvSpPr>
        <p:spPr>
          <a:xfrm>
            <a:off x="369445" y="5065776"/>
            <a:ext cx="3694453" cy="548640"/>
          </a:xfrm>
          <a:prstGeom prst="rect">
            <a:avLst/>
          </a:prstGeom>
          <a:noFill/>
        </p:spPr>
        <p:txBody>
          <a:bodyPr wrap="square" lIns="0" rIns="0" tIns="0" bIns="0" anchor="t">
            <a:spAutoFit/>
          </a:bodyPr>
          <a:lstStyle/>
          <a:p>
            <a:pPr algn="l">
              <a:lnSpc>
                <a:spcPct val="112000"/>
              </a:lnSpc>
            </a:pPr>
            <a:r>
              <a:rPr sz="1500" b="0" lang="nl-NL">
                <a:solidFill>
                  <a:srgbClr val="1F1F1F"/>
                </a:solidFill>
                <a:latin typeface="Montserrat SemiBold"/>
              </a:rPr>
              <a:t>Hoeveel tijd kostte het?</a:t>
            </a:r>
          </a:p>
        </p:txBody>
      </p:sp>
      <p:sp>
        <p:nvSpPr>
          <p:cNvPr id="20" name="TextBox 19"/>
          <p:cNvSpPr txBox="1"/>
          <p:nvPr/>
        </p:nvSpPr>
        <p:spPr>
          <a:xfrm>
            <a:off x="4248621" y="5065776"/>
            <a:ext cx="7573628" cy="640080"/>
          </a:xfrm>
          <a:prstGeom prst="rect">
            <a:avLst/>
          </a:prstGeom>
          <a:noFill/>
        </p:spPr>
        <p:txBody>
          <a:bodyPr wrap="square" lIns="0" rIns="0" tIns="0" bIns="0" anchor="t">
            <a:spAutoFit/>
          </a:bodyPr>
          <a:lstStyle/>
          <a:p>
            <a:pPr algn="l">
              <a:lnSpc>
                <a:spcPct val="112000"/>
              </a:lnSpc>
            </a:pPr>
            <a:r>
              <a:rPr sz="1350" b="0" lang="nl-NL">
                <a:solidFill>
                  <a:srgbClr val="5F5F5F"/>
                </a:solidFill>
                <a:latin typeface="Roboto"/>
              </a:rPr>
              <a:t>Niet gemeten. Geef hier je eigen inschatting.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1F1F"/>
      </a:hlink>
      <a:folHlink>
        <a:srgbClr val="1F1F1F"/>
      </a:folHlink>
    </a:clrScheme>
    <a:fontScheme name="Office">
      <a:majorFont>
        <a:latin typeface="Montserra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boto"/>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